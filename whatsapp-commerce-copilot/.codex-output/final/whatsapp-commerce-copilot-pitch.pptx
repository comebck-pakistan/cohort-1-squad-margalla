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7bd7d00b3f4cc7" /><Relationship Type="http://schemas.openxmlformats.org/officeDocument/2006/relationships/extended-properties" Target="/docProps/app.xml" Id="Rd0b1fb8d342d4f2d" /><Relationship Type="http://schemas.openxmlformats.org/officeDocument/2006/relationships/officeDocument" Target="/ppt/presentation.xml" Id="R57fea0e7b02e468b" /></Relationships>
</file>

<file path=ppt/presentation.xml><?xml version="1.0" encoding="utf-8"?>
<p:presentation xmlns:p="http://schemas.openxmlformats.org/presentationml/2006/main">
  <p:sldMasterIdLst>
    <p:sldMasterId xmlns:r="http://schemas.openxmlformats.org/officeDocument/2006/relationships" id="2147483648" r:id="Reeb03b347e944de7"/>
  </p:sldMasterIdLst>
  <p:notesMasterIdLst>
    <p:notesMasterId xmlns:r="http://schemas.openxmlformats.org/officeDocument/2006/relationships" r:id="R674c8964c67e465c"/>
  </p:notesMasterIdLst>
  <p:sldIdLst>
    <p:sldId xmlns:r="http://schemas.openxmlformats.org/officeDocument/2006/relationships" id="256" r:id="Rb7517f032f924c14"/>
    <p:sldId xmlns:r="http://schemas.openxmlformats.org/officeDocument/2006/relationships" id="257" r:id="R85e6926e81834911"/>
    <p:sldId xmlns:r="http://schemas.openxmlformats.org/officeDocument/2006/relationships" id="258" r:id="R0789e3ba3fa14d79"/>
    <p:sldId xmlns:r="http://schemas.openxmlformats.org/officeDocument/2006/relationships" id="259" r:id="Re98330ee4c1a40e3"/>
    <p:sldId xmlns:r="http://schemas.openxmlformats.org/officeDocument/2006/relationships" id="260" r:id="R50a797c2fa8047f6"/>
    <p:sldId xmlns:r="http://schemas.openxmlformats.org/officeDocument/2006/relationships" id="261" r:id="R0b92e574840c4d69"/>
    <p:sldId xmlns:r="http://schemas.openxmlformats.org/officeDocument/2006/relationships" id="262" r:id="R31aabb930ca049c6"/>
    <p:sldId xmlns:r="http://schemas.openxmlformats.org/officeDocument/2006/relationships" id="263" r:id="R61ef86eb3bc946fa"/>
    <p:sldId xmlns:r="http://schemas.openxmlformats.org/officeDocument/2006/relationships" id="264" r:id="R9e77ffc09d3c4a3e"/>
    <p:sldId xmlns:r="http://schemas.openxmlformats.org/officeDocument/2006/relationships" id="265" r:id="Rfb0bcd3d5262407a"/>
    <p:sldId xmlns:r="http://schemas.openxmlformats.org/officeDocument/2006/relationships" id="266" r:id="Re881afd7301e48b1"/>
    <p:sldId xmlns:r="http://schemas.openxmlformats.org/officeDocument/2006/relationships" id="267" r:id="Ra081cb5266fa4f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3de60350484fb5" /><Relationship Type="http://schemas.openxmlformats.org/officeDocument/2006/relationships/slideMaster" Target="/ppt/slideMasters/slideMaster1.xml" Id="Reeb03b347e944de7" /><Relationship Type="http://schemas.openxmlformats.org/officeDocument/2006/relationships/notesMaster" Target="/ppt/notesMasters/notesMaster1.xml" Id="R674c8964c67e465c" /><Relationship Type="http://schemas.openxmlformats.org/officeDocument/2006/relationships/presProps" Target="/ppt/presProps.xml" Id="R2a5f390e69794364" /><Relationship Type="http://schemas.openxmlformats.org/officeDocument/2006/relationships/tableStyles" Target="/ppt/tableStyles.xml" Id="R6bfb339467f74397" /><Relationship Type="http://schemas.openxmlformats.org/officeDocument/2006/relationships/slide" Target="/ppt/slides/slide1.xml" Id="Rb7517f032f924c14" /><Relationship Type="http://schemas.openxmlformats.org/officeDocument/2006/relationships/slide" Target="/ppt/slides/slide2.xml" Id="R85e6926e81834911" /><Relationship Type="http://schemas.openxmlformats.org/officeDocument/2006/relationships/slide" Target="/ppt/slides/slide3.xml" Id="R0789e3ba3fa14d79" /><Relationship Type="http://schemas.openxmlformats.org/officeDocument/2006/relationships/slide" Target="/ppt/slides/slide4.xml" Id="Re98330ee4c1a40e3" /><Relationship Type="http://schemas.openxmlformats.org/officeDocument/2006/relationships/slide" Target="/ppt/slides/slide5.xml" Id="R50a797c2fa8047f6" /><Relationship Type="http://schemas.openxmlformats.org/officeDocument/2006/relationships/slide" Target="/ppt/slides/slide6.xml" Id="R0b92e574840c4d69" /><Relationship Type="http://schemas.openxmlformats.org/officeDocument/2006/relationships/slide" Target="/ppt/slides/slide7.xml" Id="R31aabb930ca049c6" /><Relationship Type="http://schemas.openxmlformats.org/officeDocument/2006/relationships/slide" Target="/ppt/slides/slide8.xml" Id="R61ef86eb3bc946fa" /><Relationship Type="http://schemas.openxmlformats.org/officeDocument/2006/relationships/slide" Target="/ppt/slides/slide9.xml" Id="R9e77ffc09d3c4a3e" /><Relationship Type="http://schemas.openxmlformats.org/officeDocument/2006/relationships/slide" Target="/ppt/slides/slide10.xml" Id="Rfb0bcd3d5262407a" /><Relationship Type="http://schemas.openxmlformats.org/officeDocument/2006/relationships/slide" Target="/ppt/slides/slide11.xml" Id="Re881afd7301e48b1" /><Relationship Type="http://schemas.openxmlformats.org/officeDocument/2006/relationships/slide" Target="/ppt/slides/slide12.xml" Id="Ra081cb5266fa4f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8f5804c1b041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fd34db0aea4c8c" /><Relationship Type="http://schemas.openxmlformats.org/officeDocument/2006/relationships/notesMaster" Target="/ppt/notesMasters/notesMaster1.xml" Id="Rbe876b72a36b4b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eaeab4583e4547" /><Relationship Type="http://schemas.openxmlformats.org/officeDocument/2006/relationships/notesMaster" Target="/ppt/notesMasters/notesMaster1.xml" Id="Rc1808c8baf5c42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3afbdb5f31442d" /><Relationship Type="http://schemas.openxmlformats.org/officeDocument/2006/relationships/notesMaster" Target="/ppt/notesMasters/notesMaster1.xml" Id="R0ed5efdaacbd4e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e426d598b4411e" /><Relationship Type="http://schemas.openxmlformats.org/officeDocument/2006/relationships/notesMaster" Target="/ppt/notesMasters/notesMaster1.xml" Id="Rfbda3d60fe104b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f0c045d64f49c2" /><Relationship Type="http://schemas.openxmlformats.org/officeDocument/2006/relationships/notesMaster" Target="/ppt/notesMasters/notesMaster1.xml" Id="R7902b524e05e49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6507408f5e4892" /><Relationship Type="http://schemas.openxmlformats.org/officeDocument/2006/relationships/notesMaster" Target="/ppt/notesMasters/notesMaster1.xml" Id="R7df1c37303ca47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64caf55f23456a" /><Relationship Type="http://schemas.openxmlformats.org/officeDocument/2006/relationships/notesMaster" Target="/ppt/notesMasters/notesMaster1.xml" Id="Rb6752521ea2943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3d5e9130cf4429" /><Relationship Type="http://schemas.openxmlformats.org/officeDocument/2006/relationships/notesMaster" Target="/ppt/notesMasters/notesMaster1.xml" Id="Reb97e9f9ac034c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1f74d4b58c4732" /><Relationship Type="http://schemas.openxmlformats.org/officeDocument/2006/relationships/notesMaster" Target="/ppt/notesMasters/notesMaster1.xml" Id="R568d904e32fa46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eb54345e604193" /><Relationship Type="http://schemas.openxmlformats.org/officeDocument/2006/relationships/notesMaster" Target="/ppt/notesMasters/notesMaster1.xml" Id="Rb2754078956e46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bcd7919bb44e5c" /><Relationship Type="http://schemas.openxmlformats.org/officeDocument/2006/relationships/notesMaster" Target="/ppt/notesMasters/notesMaster1.xml" Id="Raafe67bafab44c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88263cc2e746d2" /><Relationship Type="http://schemas.openxmlformats.org/officeDocument/2006/relationships/notesMaster" Target="/ppt/notesMasters/notesMaster1.xml" Id="Ref23b8af69724e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 ‘A customer asks for size 42 at 11:47 p.m. The sale should not depend on whether the shop owner is awake.’ We turn the WhatsApp account merchants already use into a guided, catalog-grounded sales channel.</a:t>
            </a:r>
          </a:p>
          <a:p xmlns:a="http://schemas.openxmlformats.org/drawingml/2006/main">
            <a:r>
              <a:t/>
            </a:r>
          </a:p>
          <a:p xmlns:a="http://schemas.openxmlformats.org/drawingml/2006/main">
            <a:r>
              <a:t>Transition: First, why this matters for the merchants we are building for.</a:t>
            </a:r>
          </a:p>
          <a:p xmlns:a="http://schemas.openxmlformats.org/drawingml/2006/main">
            <a:r>
              <a:t/>
            </a:r>
          </a:p>
          <a:p xmlns:a="http://schemas.openxmlformats.org/drawingml/2006/main">
            <a:r>
              <a:t>[Sources]</a:t>
            </a:r>
          </a:p>
          <a:p xmlns:a="http://schemas.openxmlformats.org/drawingml/2006/main">
            <a:r>
              <a:t>- Repository README.md</a:t>
            </a:r>
          </a:p>
          <a:p xmlns:a="http://schemas.openxmlformats.org/drawingml/2006/main">
            <a:r>
              <a:t>- docs/PROJECT_OVERVIEW.md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For WhatsApp-first SMEs, repetitive support and manual order-taking consume the same scarce owner time needed to run the business. The economic consequence is not abstract: delayed answers reduce the chance that buying intent becomes a recorded order.</a:t>
            </a:r>
          </a:p>
          <a:p xmlns:a="http://schemas.openxmlformats.org/drawingml/2006/main">
            <a:r>
              <a:t>Estimated time: 30 seconds.</a:t>
            </a:r>
          </a:p>
          <a:p xmlns:a="http://schemas.openxmlformats.org/drawingml/2006/main">
            <a:r>
              <a:t>Transition: If this pain is obvious, why have existing tools not solved it?</a:t>
            </a:r>
          </a:p>
          <a:p xmlns:a="http://schemas.openxmlformats.org/drawingml/2006/main">
            <a:r>
              <a:t/>
            </a:r>
          </a:p>
          <a:p xmlns:a="http://schemas.openxmlformats.org/drawingml/2006/main">
            <a:r>
              <a:t>[Sources]</a:t>
            </a:r>
          </a:p>
          <a:p xmlns:a="http://schemas.openxmlformats.org/drawingml/2006/main">
            <a:r>
              <a:t>- User-provided brief: target-customer pain framing</a:t>
            </a:r>
          </a:p>
          <a:p xmlns:a="http://schemas.openxmlformats.org/drawingml/2006/main">
            <a:r>
              <a:t>- Repository product scope; no external market statistics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The opportunity is between a chat interface customers already use and the structured data merchants need. We are not asking customers to learn a new storefront and we are not trusting a generic model with prices.</a:t>
            </a:r>
          </a:p>
          <a:p xmlns:a="http://schemas.openxmlformats.org/drawingml/2006/main">
            <a:r>
              <a:t>Estimated time: 25 seconds.</a:t>
            </a:r>
          </a:p>
          <a:p xmlns:a="http://schemas.openxmlformats.org/drawingml/2006/main">
            <a:r>
              <a:t>Transition: That gap defines the product.</a:t>
            </a:r>
          </a:p>
          <a:p xmlns:a="http://schemas.openxmlformats.org/drawingml/2006/main">
            <a:r>
              <a:t/>
            </a:r>
          </a:p>
          <a:p xmlns:a="http://schemas.openxmlformats.org/drawingml/2006/main">
            <a:r>
              <a:t>[Sources]</a:t>
            </a:r>
          </a:p>
          <a:p xmlns:a="http://schemas.openxmlformats.org/drawingml/2006/main">
            <a:r>
              <a:t>- docs/PROJECT_OVERVIEW.md</a:t>
            </a:r>
          </a:p>
          <a:p xmlns:a="http://schemas.openxmlformats.org/drawingml/2006/main">
            <a:r>
              <a:t>- docs/AI_PIPELINE.md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This is more than a chatbot. It understands the request, checks store-scoped data, guides an order, and lets the merchant see and take over the conversation.</a:t>
            </a:r>
          </a:p>
          <a:p xmlns:a="http://schemas.openxmlformats.org/drawingml/2006/main">
            <a:r>
              <a:t>Estimated time: 30 seconds.</a:t>
            </a:r>
          </a:p>
          <a:p xmlns:a="http://schemas.openxmlformats.org/drawingml/2006/main">
            <a:r>
              <a:t>Transition: Here is the full customer-to-merchant loop in one view.</a:t>
            </a:r>
          </a:p>
          <a:p xmlns:a="http://schemas.openxmlformats.org/drawingml/2006/main">
            <a:r>
              <a:t/>
            </a:r>
          </a:p>
          <a:p xmlns:a="http://schemas.openxmlformats.org/drawingml/2006/main">
            <a:r>
              <a:t>[Sources]</a:t>
            </a:r>
          </a:p>
          <a:p xmlns:a="http://schemas.openxmlformats.org/drawingml/2006/main">
            <a:r>
              <a:t>- dashboard/src/App.jsx</a:t>
            </a:r>
          </a:p>
          <a:p xmlns:a="http://schemas.openxmlformats.org/drawingml/2006/main">
            <a:r>
              <a:t>- dashboard/src/components/ConversationView.jsx</a:t>
            </a:r>
          </a:p>
          <a:p xmlns:a="http://schemas.openxmlformats.org/drawingml/2006/main">
            <a:r>
              <a:t>- dashboard/src/components/OrdersView.jsx</a:t>
            </a:r>
          </a:p>
          <a:p xmlns:a="http://schemas.openxmlformats.org/drawingml/2006/main">
            <a:r>
              <a:t>- dashboard/src/components/QRConnector.jsx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The deterministic pipeline and store-scoped retrieval stay authoritative. Gemini is optional and constrained to closed candidates for interpretation and phrasing. Voice and image require the configured Gemini gateway path.</a:t>
            </a:r>
          </a:p>
          <a:p xmlns:a="http://schemas.openxmlformats.org/drawingml/2006/main">
            <a:r>
              <a:t>Estimated time: 35 seconds.</a:t>
            </a:r>
          </a:p>
          <a:p xmlns:a="http://schemas.openxmlformats.org/drawingml/2006/main">
            <a:r>
              <a:t>Transition: Now let’s see what this feels like in a one-minute demo.</a:t>
            </a:r>
          </a:p>
          <a:p xmlns:a="http://schemas.openxmlformats.org/drawingml/2006/main">
            <a:r>
              <a:t/>
            </a:r>
          </a:p>
          <a:p xmlns:a="http://schemas.openxmlformats.org/drawingml/2006/main">
            <a:r>
              <a:t>[Sources]</a:t>
            </a:r>
          </a:p>
          <a:p xmlns:a="http://schemas.openxmlformats.org/drawingml/2006/main">
            <a:r>
              <a:t>- docs/ARCHITECTURE.md</a:t>
            </a:r>
          </a:p>
          <a:p xmlns:a="http://schemas.openxmlformats.org/drawingml/2006/main">
            <a:r>
              <a:t>- docs/AI_PIPELINE.md</a:t>
            </a:r>
          </a:p>
          <a:p xmlns:a="http://schemas.openxmlformats.org/drawingml/2006/main">
            <a:r>
              <a:t>- whatsapp-gateway/src/webhook-handler.js</a:t>
            </a:r>
          </a:p>
          <a:p xmlns:a="http://schemas.openxmlformats.org/drawingml/2006/main">
            <a:r>
              <a:t>- whatsapp-gateway/src/transcription-client.js</a:t>
            </a:r>
          </a:p>
          <a:p xmlns:a="http://schemas.openxmlformats.org/drawingml/2006/main">
            <a:r>
              <a:t>- whatsapp-gateway/src/vision-client.js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‘The customer asks in Roman Urdu for shoes. The Copilot searches this store’s catalog, not the open internet. If an image is sent, the gateway extracts attributes and still matches only against the catalog. The customer chooses size and quantity, confirms COD, and the order appears in the dashboard. At any point, the merchant can take over.’</a:t>
            </a:r>
          </a:p>
          <a:p xmlns:a="http://schemas.openxmlformats.org/drawingml/2006/main">
            <a:r>
              <a:t>Estimated time: 60 seconds.</a:t>
            </a:r>
          </a:p>
          <a:p xmlns:a="http://schemas.openxmlformats.org/drawingml/2006/main">
            <a:r>
              <a:t>Transition: The demo is backed by a deliberately scoped MVP.</a:t>
            </a:r>
          </a:p>
          <a:p xmlns:a="http://schemas.openxmlformats.org/drawingml/2006/main">
            <a:r>
              <a:t/>
            </a:r>
          </a:p>
          <a:p xmlns:a="http://schemas.openxmlformats.org/drawingml/2006/main">
            <a:r>
              <a:t>[Sources]</a:t>
            </a:r>
          </a:p>
          <a:p xmlns:a="http://schemas.openxmlformats.org/drawingml/2006/main">
            <a:r>
              <a:t>- backend/tests/test_shop_flow.py</a:t>
            </a:r>
          </a:p>
          <a:p xmlns:a="http://schemas.openxmlformats.org/drawingml/2006/main">
            <a:r>
              <a:t>- backend/tests/test_order_workflow.py</a:t>
            </a:r>
          </a:p>
          <a:p xmlns:a="http://schemas.openxmlformats.org/drawingml/2006/main">
            <a:r>
              <a:t>- backend/tests/test_image_flow.py</a:t>
            </a:r>
          </a:p>
          <a:p xmlns:a="http://schemas.openxmlformats.org/drawingml/2006/main">
            <a:r>
              <a:t>- backend/tests/test_multilingual.py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The MVP has a working, tested commerce core. Media features are implemented and tested at the gateway but depend on Gemini configuration; live Linked Devices behavior still needs real-device pilot hardening.</a:t>
            </a:r>
          </a:p>
          <a:p xmlns:a="http://schemas.openxmlformats.org/drawingml/2006/main">
            <a:r>
              <a:t>Estimated time: 35 seconds.</a:t>
            </a:r>
          </a:p>
          <a:p xmlns:a="http://schemas.openxmlformats.org/drawingml/2006/main">
            <a:r>
              <a:t>Transition: The differentiation comes from combining these capabilities inside one operational loop.</a:t>
            </a:r>
          </a:p>
          <a:p xmlns:a="http://schemas.openxmlformats.org/drawingml/2006/main">
            <a:r>
              <a:t/>
            </a:r>
          </a:p>
          <a:p xmlns:a="http://schemas.openxmlformats.org/drawingml/2006/main">
            <a:r>
              <a:t>[Sources]</a:t>
            </a:r>
          </a:p>
          <a:p xmlns:a="http://schemas.openxmlformats.org/drawingml/2006/main">
            <a:r>
              <a:t>- Test run performed 2026-08-20: backend 294 passed; gateway 85 passed</a:t>
            </a:r>
          </a:p>
          <a:p xmlns:a="http://schemas.openxmlformats.org/drawingml/2006/main">
            <a:r>
              <a:t>- docs/SECURITY_AND_LIMITATIONS.md</a:t>
            </a:r>
          </a:p>
          <a:p xmlns:a="http://schemas.openxmlformats.org/drawingml/2006/main">
            <a:r>
              <a:t>- dashboard/src/components/QRConnector.jsx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No single feature is the moat. The defensible product is the loop: existing WhatsApp, multilingual intent, merchant-data grounding, structured orders, and human control. Comparison is category-level and intentionally avoids named competitor claims.</a:t>
            </a:r>
          </a:p>
          <a:p xmlns:a="http://schemas.openxmlformats.org/drawingml/2006/main">
            <a:r>
              <a:t>Estimated time: 30 seconds.</a:t>
            </a:r>
          </a:p>
          <a:p xmlns:a="http://schemas.openxmlformats.org/drawingml/2006/main">
            <a:r>
              <a:t>Transition: We start where this loop is most valuable and easiest to prove.</a:t>
            </a:r>
          </a:p>
          <a:p xmlns:a="http://schemas.openxmlformats.org/drawingml/2006/main">
            <a:r>
              <a:t/>
            </a:r>
          </a:p>
          <a:p xmlns:a="http://schemas.openxmlformats.org/drawingml/2006/main">
            <a:r>
              <a:t>[Sources]</a:t>
            </a:r>
          </a:p>
          <a:p xmlns:a="http://schemas.openxmlformats.org/drawingml/2006/main">
            <a:r>
              <a:t>- Repository capability comparison; no external competitor claims</a:t>
            </a:r>
          </a:p>
          <a:p xmlns:a="http://schemas.openxmlformats.org/drawingml/2006/main">
            <a:r>
              <a:t>- docs/PROJECT_OVERVIEW.md</a:t>
            </a:r>
          </a:p>
          <a:p xmlns:a="http://schemas.openxmlformats.org/drawingml/2006/main">
            <a:r>
              <a:t>- docs/SECURITY_AND_LIMITATIONS.md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We refuse to hide behind a giant global TAM. The immediate opportunity should be calculated from reachable merchants times a tested subscription price. Why now: conversational AI can interpret multilingual chat and media, while merchants already run sales on WhatsApp. The merchant counts and willingness-to-pay remain research questions.</a:t>
            </a:r>
          </a:p>
          <a:p xmlns:a="http://schemas.openxmlformats.org/drawingml/2006/main">
            <a:r>
              <a:t>Estimated time: 30 seconds.</a:t>
            </a:r>
          </a:p>
          <a:p xmlns:a="http://schemas.openxmlformats.org/drawingml/2006/main">
            <a:r>
              <a:t>Transition: The pricing hypothesis is designed to be tested with those pilots.</a:t>
            </a:r>
          </a:p>
          <a:p xmlns:a="http://schemas.openxmlformats.org/drawingml/2006/main">
            <a:r>
              <a:t/>
            </a:r>
          </a:p>
          <a:p xmlns:a="http://schemas.openxmlformats.org/drawingml/2006/main">
            <a:r>
              <a:t>[Sources]</a:t>
            </a:r>
          </a:p>
          <a:p xmlns:a="http://schemas.openxmlformats.org/drawingml/2006/main">
            <a:r>
              <a:t>- User-provided brief: market framing</a:t>
            </a:r>
          </a:p>
          <a:p xmlns:a="http://schemas.openxmlformats.org/drawingml/2006/main">
            <a:r>
              <a:t>- No external market statistics used; all sizing fields intentionally left as research-required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Subscription pricing should be anchored to time saved and orders captured, with media usage priced so cost scales safely. These PKR ranges are hypotheses for discovery interviews, not proven willingness to pay. Optional onboarding can fund catalog cleanup and setup.</a:t>
            </a:r>
          </a:p>
          <a:p xmlns:a="http://schemas.openxmlformats.org/drawingml/2006/main">
            <a:r>
              <a:t>Estimated time: 30 seconds.</a:t>
            </a:r>
          </a:p>
          <a:p xmlns:a="http://schemas.openxmlformats.org/drawingml/2006/main">
            <a:r>
              <a:t>Transition: The MVP gives us enough proof to start learning — and a clear risk register for doing it responsibly.</a:t>
            </a:r>
          </a:p>
          <a:p xmlns:a="http://schemas.openxmlformats.org/drawingml/2006/main">
            <a:r>
              <a:t/>
            </a:r>
          </a:p>
          <a:p xmlns:a="http://schemas.openxmlformats.org/drawingml/2006/main">
            <a:r>
              <a:t>[Sources]</a:t>
            </a:r>
          </a:p>
          <a:p xmlns:a="http://schemas.openxmlformats.org/drawingml/2006/main">
            <a:r>
              <a:t>- Pricing ranges are explicit internal hypotheses from the user brief; external validation required</a:t>
            </a:r>
          </a:p>
          <a:p xmlns:a="http://schemas.openxmlformats.org/drawingml/2006/main">
            <a:r>
              <a:t>- Repository architecture used to infer usage-based AI/media cost drivers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 takeaway: The repository proves technical feasibility, not commercial traction or production readiness. The immediate milestone is a small set of merchant pilots with real catalogs and anonymized conversations. Avoid showing unstable items live: fresh QR pairing, external Gemini calls, uncached image matching, or anything that depends on Docker/Internet without a preflight check.</a:t>
            </a:r>
          </a:p>
          <a:p xmlns:a="http://schemas.openxmlformats.org/drawingml/2006/main">
            <a:r>
              <a:t>Estimated time: 45 seconds.</a:t>
            </a:r>
          </a:p>
          <a:p xmlns:a="http://schemas.openxmlformats.org/drawingml/2006/main">
            <a:r>
              <a:t>Transition: We know what to validate, and we know exactly what help accelerates it.</a:t>
            </a:r>
          </a:p>
          <a:p xmlns:a="http://schemas.openxmlformats.org/drawingml/2006/main">
            <a:r>
              <a:t/>
            </a:r>
          </a:p>
          <a:p xmlns:a="http://schemas.openxmlformats.org/drawingml/2006/main">
            <a:r>
              <a:t>[Sources]</a:t>
            </a:r>
          </a:p>
          <a:p xmlns:a="http://schemas.openxmlformats.org/drawingml/2006/main">
            <a:r>
              <a:t>- Backend test run 2026-08-20: 294 passed</a:t>
            </a:r>
          </a:p>
          <a:p xmlns:a="http://schemas.openxmlformats.org/drawingml/2006/main">
            <a:r>
              <a:t>- Gateway test run 2026-08-20: 85 passed</a:t>
            </a:r>
          </a:p>
          <a:p xmlns:a="http://schemas.openxmlformats.org/drawingml/2006/main">
            <a:r>
              <a:t>- docs/SECURITY_AND_LIMITATIONS.md</a:t>
            </a:r>
          </a:p>
          <a:p xmlns:a="http://schemas.openxmlformats.org/drawingml/2006/main">
            <a:r>
              <a:t>- docs/CURRENT_STATUS.md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(25 sec): ‘Local merchants do not need another dashboard that customers never visit. They need intelligence inside the conversation where the sale already happens.’ Our ask is specific: pilot merchants, product and distribution mentorship, technical/cloud support, and early-stage conversations — no invented funding target.</a:t>
            </a:r>
          </a:p>
          <a:p xmlns:a="http://schemas.openxmlformats.org/drawingml/2006/main">
            <a:r>
              <a:t>Strong closing line: ‘Let’s turn the next customer message into a measurable pilot.’</a:t>
            </a:r>
          </a:p>
          <a:p xmlns:a="http://schemas.openxmlformats.org/drawingml/2006/main">
            <a:r>
              <a:t>Estimated time: 25 seconds.</a:t>
            </a:r>
          </a:p>
          <a:p xmlns:a="http://schemas.openxmlformats.org/drawingml/2006/main">
            <a:r>
              <a:t/>
            </a:r>
          </a:p>
          <a:p xmlns:a="http://schemas.openxmlformats.org/drawingml/2006/main">
            <a:r>
              <a:t>[Sources]</a:t>
            </a:r>
          </a:p>
          <a:p xmlns:a="http://schemas.openxmlformats.org/drawingml/2006/main">
            <a:r>
              <a:t>- User-provided brief: vision and ask</a:t>
            </a:r>
          </a:p>
          <a:p xmlns:a="http://schemas.openxmlformats.org/drawingml/2006/main">
            <a:r>
              <a:t>- Repository evidence supports pilot-ready technical validation, not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c96bbdb6a34d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8feb531e764614" /><Relationship Type="http://schemas.openxmlformats.org/officeDocument/2006/relationships/slideLayout" Target="/ppt/slideLayouts/slideLayout1.xml" Id="R3d7a83c1208742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7a83c1208742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cf35054d394798" /><Relationship Type="http://schemas.openxmlformats.org/officeDocument/2006/relationships/notesSlide" Target="/ppt/notesSlides/notesSlide1.xml" Id="R77978599697244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99ea9f17c24b43" /><Relationship Type="http://schemas.openxmlformats.org/officeDocument/2006/relationships/notesSlide" Target="/ppt/notesSlides/notesSlide2.xml" Id="R8014bfc340c342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722c449e684d2b" /><Relationship Type="http://schemas.openxmlformats.org/officeDocument/2006/relationships/notesSlide" Target="/ppt/notesSlides/notesSlide3.xml" Id="R7f73694592834a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dd4a6cfe1147f2" /><Relationship Type="http://schemas.openxmlformats.org/officeDocument/2006/relationships/notesSlide" Target="/ppt/notesSlides/notesSlide4.xml" Id="Ra53592267fb649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76b2e0af3d43d6" /><Relationship Type="http://schemas.openxmlformats.org/officeDocument/2006/relationships/notesSlide" Target="/ppt/notesSlides/notesSlide5.xml" Id="Rf59a53dd0f7c42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99e94f35474ce5" /><Relationship Type="http://schemas.openxmlformats.org/officeDocument/2006/relationships/notesSlide" Target="/ppt/notesSlides/notesSlide6.xml" Id="Ra93d4fb1cae64c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5841bd86d04693" /><Relationship Type="http://schemas.openxmlformats.org/officeDocument/2006/relationships/notesSlide" Target="/ppt/notesSlides/notesSlide7.xml" Id="Rfc5da025cfa647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b06aa04d264126" /><Relationship Type="http://schemas.openxmlformats.org/officeDocument/2006/relationships/notesSlide" Target="/ppt/notesSlides/notesSlide8.xml" Id="R55870acb9d0945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9a7b474dec4e79" /><Relationship Type="http://schemas.openxmlformats.org/officeDocument/2006/relationships/notesSlide" Target="/ppt/notesSlides/notesSlide9.xml" Id="Rf7b5d8a2902b42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2145facc8a49ad" /><Relationship Type="http://schemas.openxmlformats.org/officeDocument/2006/relationships/notesSlide" Target="/ppt/notesSlides/notesSlide10.xml" Id="R0c28505fb7b149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3e9e2002044366" /><Relationship Type="http://schemas.openxmlformats.org/officeDocument/2006/relationships/notesSlide" Target="/ppt/notesSlides/notesSlide11.xml" Id="Rba1e447e66934e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cefa8558a045da" /><Relationship Type="http://schemas.openxmlformats.org/officeDocument/2006/relationships/notesSlide" Target="/ppt/notesSlides/notesSlide12.xml" Id="Ra47f32d3dfbb4164" /></Relationships>
</file>

<file path=ppt/slides/slide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8B30EC-EA05-4C65-BA6F-26031579416E}"/>
              </a:ext>
            </a:extLst>
          </p:cNvPr>
          <p:cNvSpPr>
            <a:spLocks xmlns:a="http://schemas.openxmlformats.org/drawingml/2006/main" noGrp="1"/>
          </p:cNvSpPr>
          <p:nvPr/>
        </p:nvSpPr>
        <p:spPr>
          <a:xfrm xmlns:a="http://schemas.openxmlformats.org/drawingml/2006/main">
            <a:off x="8572500" y="-1333500"/>
            <a:ext cx="4476750" cy="4476750"/>
          </a:xfrm>
          <a:prstGeom xmlns:a="http://schemas.openxmlformats.org/drawingml/2006/main" prst="ellipse">
            <a:avLst/>
          </a:prstGeom>
          <a:solidFill xmlns:a="http://schemas.openxmlformats.org/drawingml/2006/main">
            <a:srgbClr val="E8F8EE"/>
          </a:solidFill>
          <a:ln xmlns:a="http://schemas.openxmlformats.org/drawingml/2006/main" w="9525">
            <a:solidFill>
              <a:srgbClr val="E8F8EE"/>
            </a:solidFill>
            <a:prstDash val="solid"/>
          </a:ln>
        </p:spPr>
      </p:sp>
      <p:sp>
        <p:nvSpPr>
          <p:cNvPr id="2" name="">
            <a:extLst xmlns:a="http://schemas.openxmlformats.org/drawingml/2006/main">
              <a:ext uri="{FF2B5EF4-FFF2-40B4-BE49-F238E27FC236}">
                <a16:creationId xmlns:a16="http://schemas.microsoft.com/office/drawing/2014/main" id="{E9589C70-F324-47BE-8E89-EAF5A3E51B67}"/>
              </a:ext>
            </a:extLst>
          </p:cNvPr>
          <p:cNvSpPr>
            <a:spLocks xmlns:a="http://schemas.openxmlformats.org/drawingml/2006/main" noGrp="1"/>
          </p:cNvSpPr>
          <p:nvPr/>
        </p:nvSpPr>
        <p:spPr>
          <a:xfrm xmlns:a="http://schemas.openxmlformats.org/drawingml/2006/main">
            <a:off x="10001250" y="190500"/>
            <a:ext cx="2571750" cy="257175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3" name="">
            <a:extLst xmlns:a="http://schemas.openxmlformats.org/drawingml/2006/main">
              <a:ext uri="{FF2B5EF4-FFF2-40B4-BE49-F238E27FC236}">
                <a16:creationId xmlns:a16="http://schemas.microsoft.com/office/drawing/2014/main" id="{CF4336B2-0715-4EE4-B844-B5065496BBEA}"/>
              </a:ext>
            </a:extLst>
          </p:cNvPr>
          <p:cNvSpPr>
            <a:spLocks xmlns:a="http://schemas.openxmlformats.org/drawingml/2006/main" noGrp="1"/>
          </p:cNvSpPr>
          <p:nvPr/>
        </p:nvSpPr>
        <p:spPr>
          <a:xfrm xmlns:a="http://schemas.openxmlformats.org/drawingml/2006/main">
            <a:off x="10572750" y="895350"/>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FFFFFF"/>
                </a:solidFill>
              </a:defRPr>
            </a:pPr>
            <a:r>
              <a:rPr sz="3900" b="1">
                <a:solidFill>
                  <a:srgbClr val="FFFFFF"/>
                </a:solidFill>
              </a:rPr>
              <a:t>WA</a:t>
            </a:r>
          </a:p>
        </p:txBody>
      </p:sp>
      <p:sp>
        <p:nvSpPr>
          <p:cNvPr id="4" name="">
            <a:extLst xmlns:a="http://schemas.openxmlformats.org/drawingml/2006/main">
              <a:ext uri="{FF2B5EF4-FFF2-40B4-BE49-F238E27FC236}">
                <a16:creationId xmlns:a16="http://schemas.microsoft.com/office/drawing/2014/main" id="{863C5163-EB5C-4E89-8815-27CD351F1721}"/>
              </a:ext>
            </a:extLst>
          </p:cNvPr>
          <p:cNvSpPr>
            <a:spLocks xmlns:a="http://schemas.openxmlformats.org/drawingml/2006/main" noGrp="1"/>
          </p:cNvSpPr>
          <p:nvPr/>
        </p:nvSpPr>
        <p:spPr>
          <a:xfrm xmlns:a="http://schemas.openxmlformats.org/drawingml/2006/main">
            <a:off x="685800" y="8572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75E54"/>
                </a:solidFill>
              </a:defRPr>
            </a:pPr>
            <a:r>
              <a:rPr sz="1125" b="1">
                <a:solidFill>
                  <a:srgbClr val="075E54"/>
                </a:solidFill>
              </a:rPr>
              <a:t>WHATSAPP COMMERCE COPILOT</a:t>
            </a:r>
          </a:p>
        </p:txBody>
      </p:sp>
      <p:sp>
        <p:nvSpPr>
          <p:cNvPr id="5" name="">
            <a:extLst xmlns:a="http://schemas.openxmlformats.org/drawingml/2006/main">
              <a:ext uri="{FF2B5EF4-FFF2-40B4-BE49-F238E27FC236}">
                <a16:creationId xmlns:a16="http://schemas.microsoft.com/office/drawing/2014/main" id="{DCC8488C-7D72-4DF8-B91A-3F394FB0FD73}"/>
              </a:ext>
            </a:extLst>
          </p:cNvPr>
          <p:cNvSpPr>
            <a:spLocks xmlns:a="http://schemas.openxmlformats.org/drawingml/2006/main" noGrp="1"/>
          </p:cNvSpPr>
          <p:nvPr/>
        </p:nvSpPr>
        <p:spPr>
          <a:xfrm xmlns:a="http://schemas.openxmlformats.org/drawingml/2006/main">
            <a:off x="685800" y="1619250"/>
            <a:ext cx="7524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17211C"/>
                </a:solidFill>
              </a:defRPr>
            </a:pPr>
            <a:r>
              <a:rPr sz="4050" b="1">
                <a:solidFill>
                  <a:srgbClr val="17211C"/>
                </a:solidFill>
              </a:rPr>
              <a:t>Turn every WhatsApp chat</a:t>
            </a:r>
          </a:p>
          <a:p xmlns:a="http://schemas.openxmlformats.org/drawingml/2006/main">
            <a:pPr algn="l">
              <a:defRPr sz="4050" b="1">
                <a:solidFill>
                  <a:srgbClr val="17211C"/>
                </a:solidFill>
              </a:defRPr>
            </a:pPr>
            <a:r>
              <a:rPr sz="4050" b="1">
                <a:solidFill>
                  <a:srgbClr val="17211C"/>
                </a:solidFill>
              </a:rPr>
              <a:t>into a commerce channel.</a:t>
            </a:r>
          </a:p>
        </p:txBody>
      </p:sp>
      <p:sp>
        <p:nvSpPr>
          <p:cNvPr id="6" name="">
            <a:extLst xmlns:a="http://schemas.openxmlformats.org/drawingml/2006/main">
              <a:ext uri="{FF2B5EF4-FFF2-40B4-BE49-F238E27FC236}">
                <a16:creationId xmlns:a16="http://schemas.microsoft.com/office/drawing/2014/main" id="{BC6F6BD5-4718-438B-9B6E-53764E862EA4}"/>
              </a:ext>
            </a:extLst>
          </p:cNvPr>
          <p:cNvSpPr>
            <a:spLocks xmlns:a="http://schemas.openxmlformats.org/drawingml/2006/main" noGrp="1"/>
          </p:cNvSpPr>
          <p:nvPr/>
        </p:nvSpPr>
        <p:spPr>
          <a:xfrm xmlns:a="http://schemas.openxmlformats.org/drawingml/2006/main">
            <a:off x="685800" y="333375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a:solidFill>
                  <a:srgbClr val="5F6B64"/>
                </a:solidFill>
              </a:defRPr>
            </a:pPr>
            <a:r>
              <a:rPr sz="1800" b="0">
                <a:solidFill>
                  <a:srgbClr val="5F6B64"/>
                </a:solidFill>
              </a:rPr>
              <a:t>An always-available, multilingual AI sales assistant grounded in the merchant’s real catalog.</a:t>
            </a:r>
          </a:p>
        </p:txBody>
      </p:sp>
      <p:sp>
        <p:nvSpPr>
          <p:cNvPr id="7" name="">
            <a:extLst xmlns:a="http://schemas.openxmlformats.org/drawingml/2006/main">
              <a:ext uri="{FF2B5EF4-FFF2-40B4-BE49-F238E27FC236}">
                <a16:creationId xmlns:a16="http://schemas.microsoft.com/office/drawing/2014/main" id="{4A124631-FD31-4F54-A1A5-58CC71188601}"/>
              </a:ext>
            </a:extLst>
          </p:cNvPr>
          <p:cNvSpPr>
            <a:spLocks xmlns:a="http://schemas.openxmlformats.org/drawingml/2006/main" noGrp="1"/>
          </p:cNvSpPr>
          <p:nvPr/>
        </p:nvSpPr>
        <p:spPr>
          <a:xfrm xmlns:a="http://schemas.openxmlformats.org/drawingml/2006/main">
            <a:off x="685800" y="4533900"/>
            <a:ext cx="1381125" cy="323850"/>
          </a:xfrm>
          <a:prstGeom xmlns:a="http://schemas.openxmlformats.org/drawingml/2006/main" prst="roundRect">
            <a:avLst>
              <a:gd name="adj" fmla="val 35294"/>
            </a:avLst>
          </a:prstGeom>
          <a:solidFill xmlns:a="http://schemas.openxmlformats.org/drawingml/2006/main">
            <a:srgbClr val="E8F8EE"/>
          </a:solidFill>
          <a:ln xmlns:a="http://schemas.openxmlformats.org/drawingml/2006/main" w="9525">
            <a:solidFill>
              <a:srgbClr val="E8F8EE"/>
            </a:solidFill>
            <a:prstDash val="solid"/>
          </a:ln>
        </p:spPr>
      </p:sp>
      <p:sp>
        <p:nvSpPr>
          <p:cNvPr id="8" name="">
            <a:extLst xmlns:a="http://schemas.openxmlformats.org/drawingml/2006/main">
              <a:ext uri="{FF2B5EF4-FFF2-40B4-BE49-F238E27FC236}">
                <a16:creationId xmlns:a16="http://schemas.microsoft.com/office/drawing/2014/main" id="{C12DEAE3-A7DE-4546-8D0F-B345608FA1DD}"/>
              </a:ext>
            </a:extLst>
          </p:cNvPr>
          <p:cNvSpPr>
            <a:spLocks xmlns:a="http://schemas.openxmlformats.org/drawingml/2006/main" noGrp="1"/>
          </p:cNvSpPr>
          <p:nvPr/>
        </p:nvSpPr>
        <p:spPr>
          <a:xfrm xmlns:a="http://schemas.openxmlformats.org/drawingml/2006/main">
            <a:off x="781050" y="455295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075E54"/>
                </a:solidFill>
              </a:defRPr>
            </a:pPr>
            <a:r>
              <a:rPr sz="1050" b="1">
                <a:solidFill>
                  <a:srgbClr val="075E54"/>
                </a:solidFill>
              </a:rPr>
              <a:t>WORKING MVP</a:t>
            </a:r>
          </a:p>
        </p:txBody>
      </p:sp>
      <p:sp>
        <p:nvSpPr>
          <p:cNvPr id="9" name="">
            <a:extLst xmlns:a="http://schemas.openxmlformats.org/drawingml/2006/main">
              <a:ext uri="{FF2B5EF4-FFF2-40B4-BE49-F238E27FC236}">
                <a16:creationId xmlns:a16="http://schemas.microsoft.com/office/drawing/2014/main" id="{E1159605-1DC0-4FCF-89C3-EFD6782A1D67}"/>
              </a:ext>
            </a:extLst>
          </p:cNvPr>
          <p:cNvSpPr>
            <a:spLocks xmlns:a="http://schemas.openxmlformats.org/drawingml/2006/main" noGrp="1"/>
          </p:cNvSpPr>
          <p:nvPr/>
        </p:nvSpPr>
        <p:spPr>
          <a:xfrm xmlns:a="http://schemas.openxmlformats.org/drawingml/2006/main">
            <a:off x="2190750" y="4533900"/>
            <a:ext cx="1381125" cy="323850"/>
          </a:xfrm>
          <a:prstGeom xmlns:a="http://schemas.openxmlformats.org/drawingml/2006/main" prst="roundRect">
            <a:avLst>
              <a:gd name="adj" fmla="val 35294"/>
            </a:avLst>
          </a:prstGeom>
          <a:solidFill xmlns:a="http://schemas.openxmlformats.org/drawingml/2006/main">
            <a:srgbClr val="EEEAFE"/>
          </a:solidFill>
          <a:ln xmlns:a="http://schemas.openxmlformats.org/drawingml/2006/main" w="9525">
            <a:solidFill>
              <a:srgbClr val="EEEAFE"/>
            </a:solidFill>
            <a:prstDash val="solid"/>
          </a:ln>
        </p:spPr>
      </p:sp>
      <p:sp>
        <p:nvSpPr>
          <p:cNvPr id="10" name="">
            <a:extLst xmlns:a="http://schemas.openxmlformats.org/drawingml/2006/main">
              <a:ext uri="{FF2B5EF4-FFF2-40B4-BE49-F238E27FC236}">
                <a16:creationId xmlns:a16="http://schemas.microsoft.com/office/drawing/2014/main" id="{17D49787-5A75-49AB-977A-AFF3947CD806}"/>
              </a:ext>
            </a:extLst>
          </p:cNvPr>
          <p:cNvSpPr>
            <a:spLocks xmlns:a="http://schemas.openxmlformats.org/drawingml/2006/main" noGrp="1"/>
          </p:cNvSpPr>
          <p:nvPr/>
        </p:nvSpPr>
        <p:spPr>
          <a:xfrm xmlns:a="http://schemas.openxmlformats.org/drawingml/2006/main">
            <a:off x="2286000" y="455295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C4CF1"/>
                </a:solidFill>
              </a:defRPr>
            </a:pPr>
            <a:r>
              <a:rPr sz="1050" b="1">
                <a:solidFill>
                  <a:srgbClr val="6C4CF1"/>
                </a:solidFill>
              </a:rPr>
              <a:t>PILOT-READY</a:t>
            </a:r>
          </a:p>
        </p:txBody>
      </p:sp>
      <p:sp>
        <p:nvSpPr>
          <p:cNvPr id="11" name="">
            <a:extLst xmlns:a="http://schemas.openxmlformats.org/drawingml/2006/main">
              <a:ext uri="{FF2B5EF4-FFF2-40B4-BE49-F238E27FC236}">
                <a16:creationId xmlns:a16="http://schemas.microsoft.com/office/drawing/2014/main" id="{FDFE0592-18D8-4AE2-8403-4AAA8976A962}"/>
              </a:ext>
            </a:extLst>
          </p:cNvPr>
          <p:cNvSpPr>
            <a:spLocks xmlns:a="http://schemas.openxmlformats.org/drawingml/2006/main" noGrp="1"/>
          </p:cNvSpPr>
          <p:nvPr/>
        </p:nvSpPr>
        <p:spPr>
          <a:xfrm xmlns:a="http://schemas.openxmlformats.org/drawingml/2006/main">
            <a:off x="685800" y="5905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Presenter / Team • Demo Day</a:t>
            </a:r>
          </a:p>
        </p:txBody>
      </p:sp>
    </p:spTree>
    <p:extLst>
      <p:ext uri="{BB962C8B-B14F-4D97-AF65-F5344CB8AC3E}">
        <p14:creationId xmlns:p14="http://schemas.microsoft.com/office/powerpoint/2010/main" val="1714215151"/>
      </p:ext>
    </p:extLst>
  </p:cSld>
</p:sld>
</file>

<file path=ppt/slides/slide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633EEAD-B5AD-4D38-8602-8A9A5FF31931}"/>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THE PAIN</a:t>
            </a:r>
          </a:p>
        </p:txBody>
      </p:sp>
      <p:sp>
        <p:nvSpPr>
          <p:cNvPr id="2" name="title">
            <a:extLst xmlns:a="http://schemas.openxmlformats.org/drawingml/2006/main">
              <a:ext uri="{FF2B5EF4-FFF2-40B4-BE49-F238E27FC236}">
                <a16:creationId xmlns:a16="http://schemas.microsoft.com/office/drawing/2014/main" id="{7D7B1FEE-301A-48B0-899A-BB65847222B6}"/>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The shop is open. The seller is overwhelmed.</a:t>
            </a:r>
          </a:p>
        </p:txBody>
      </p:sp>
      <p:sp>
        <p:nvSpPr>
          <p:cNvPr id="3" name="">
            <a:extLst xmlns:a="http://schemas.openxmlformats.org/drawingml/2006/main">
              <a:ext uri="{FF2B5EF4-FFF2-40B4-BE49-F238E27FC236}">
                <a16:creationId xmlns:a16="http://schemas.microsoft.com/office/drawing/2014/main" id="{AC60C019-FFC2-419D-96BE-06EAEA1F5137}"/>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02</a:t>
            </a:r>
          </a:p>
        </p:txBody>
      </p:sp>
      <p:sp>
        <p:nvSpPr>
          <p:cNvPr id="4" name="">
            <a:extLst xmlns:a="http://schemas.openxmlformats.org/drawingml/2006/main">
              <a:ext uri="{FF2B5EF4-FFF2-40B4-BE49-F238E27FC236}">
                <a16:creationId xmlns:a16="http://schemas.microsoft.com/office/drawing/2014/main" id="{430D92F6-28A0-48AD-B541-98C50EEB9E6F}"/>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9422CE94-F5D8-477B-B69A-AA7220B3E481}"/>
              </a:ext>
            </a:extLst>
          </p:cNvPr>
          <p:cNvSpPr>
            <a:spLocks xmlns:a="http://schemas.openxmlformats.org/drawingml/2006/main" noGrp="1"/>
          </p:cNvSpPr>
          <p:nvPr/>
        </p:nvSpPr>
        <p:spPr>
          <a:xfrm xmlns:a="http://schemas.openxmlformats.org/drawingml/2006/main">
            <a:off x="685800" y="1666875"/>
            <a:ext cx="52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5D366"/>
                </a:solidFill>
              </a:defRPr>
            </a:pPr>
            <a:r>
              <a:rPr sz="1500" b="1">
                <a:solidFill>
                  <a:srgbClr val="25D366"/>
                </a:solidFill>
              </a:rPr>
              <a:t>01</a:t>
            </a:r>
          </a:p>
        </p:txBody>
      </p:sp>
      <p:sp>
        <p:nvSpPr>
          <p:cNvPr id="6" name="">
            <a:extLst xmlns:a="http://schemas.openxmlformats.org/drawingml/2006/main">
              <a:ext uri="{FF2B5EF4-FFF2-40B4-BE49-F238E27FC236}">
                <a16:creationId xmlns:a16="http://schemas.microsoft.com/office/drawing/2014/main" id="{5E8FC65F-FB3D-4729-B4A1-0B12FFAA3F4F}"/>
              </a:ext>
            </a:extLst>
          </p:cNvPr>
          <p:cNvSpPr>
            <a:spLocks xmlns:a="http://schemas.openxmlformats.org/drawingml/2006/main" noGrp="1"/>
          </p:cNvSpPr>
          <p:nvPr/>
        </p:nvSpPr>
        <p:spPr>
          <a:xfrm xmlns:a="http://schemas.openxmlformats.org/drawingml/2006/main">
            <a:off x="1381125" y="1666875"/>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211C"/>
                </a:solidFill>
              </a:defRPr>
            </a:pPr>
            <a:r>
              <a:rPr sz="1800" b="1">
                <a:solidFill>
                  <a:srgbClr val="17211C"/>
                </a:solidFill>
              </a:rPr>
              <a:t>Same questions, all day</a:t>
            </a:r>
          </a:p>
        </p:txBody>
      </p:sp>
      <p:sp>
        <p:nvSpPr>
          <p:cNvPr id="7" name="">
            <a:extLst xmlns:a="http://schemas.openxmlformats.org/drawingml/2006/main">
              <a:ext uri="{FF2B5EF4-FFF2-40B4-BE49-F238E27FC236}">
                <a16:creationId xmlns:a16="http://schemas.microsoft.com/office/drawing/2014/main" id="{774E4C25-94C2-4045-9833-F086836002D1}"/>
              </a:ext>
            </a:extLst>
          </p:cNvPr>
          <p:cNvSpPr>
            <a:spLocks xmlns:a="http://schemas.openxmlformats.org/drawingml/2006/main" noGrp="1"/>
          </p:cNvSpPr>
          <p:nvPr/>
        </p:nvSpPr>
        <p:spPr>
          <a:xfrm xmlns:a="http://schemas.openxmlformats.org/drawingml/2006/main">
            <a:off x="5381625" y="166687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F6B64"/>
                </a:solidFill>
              </a:defRPr>
            </a:pPr>
            <a:r>
              <a:rPr sz="1425" b="0">
                <a:solidFill>
                  <a:srgbClr val="5F6B64"/>
                </a:solidFill>
              </a:rPr>
              <a:t>Price? Size? Stock? Delivery?</a:t>
            </a:r>
          </a:p>
        </p:txBody>
      </p:sp>
      <p:sp>
        <p:nvSpPr>
          <p:cNvPr id="8" name="">
            <a:extLst xmlns:a="http://schemas.openxmlformats.org/drawingml/2006/main">
              <a:ext uri="{FF2B5EF4-FFF2-40B4-BE49-F238E27FC236}">
                <a16:creationId xmlns:a16="http://schemas.microsoft.com/office/drawing/2014/main" id="{9C919353-D5F9-41AD-8CAA-570A55A2325C}"/>
              </a:ext>
            </a:extLst>
          </p:cNvPr>
          <p:cNvSpPr>
            <a:spLocks xmlns:a="http://schemas.openxmlformats.org/drawingml/2006/main" noGrp="1"/>
          </p:cNvSpPr>
          <p:nvPr/>
        </p:nvSpPr>
        <p:spPr>
          <a:xfrm xmlns:a="http://schemas.openxmlformats.org/drawingml/2006/main">
            <a:off x="1381125" y="2305050"/>
            <a:ext cx="9334500" cy="9525"/>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9" name="">
            <a:extLst xmlns:a="http://schemas.openxmlformats.org/drawingml/2006/main">
              <a:ext uri="{FF2B5EF4-FFF2-40B4-BE49-F238E27FC236}">
                <a16:creationId xmlns:a16="http://schemas.microsoft.com/office/drawing/2014/main" id="{D9928B3C-2FF2-4AE3-9E63-E9F37485D642}"/>
              </a:ext>
            </a:extLst>
          </p:cNvPr>
          <p:cNvSpPr>
            <a:spLocks xmlns:a="http://schemas.openxmlformats.org/drawingml/2006/main" noGrp="1"/>
          </p:cNvSpPr>
          <p:nvPr/>
        </p:nvSpPr>
        <p:spPr>
          <a:xfrm xmlns:a="http://schemas.openxmlformats.org/drawingml/2006/main">
            <a:off x="685800" y="2667000"/>
            <a:ext cx="52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5D366"/>
                </a:solidFill>
              </a:defRPr>
            </a:pPr>
            <a:r>
              <a:rPr sz="1500" b="1">
                <a:solidFill>
                  <a:srgbClr val="25D366"/>
                </a:solidFill>
              </a:rPr>
              <a:t>02</a:t>
            </a:r>
          </a:p>
        </p:txBody>
      </p:sp>
      <p:sp>
        <p:nvSpPr>
          <p:cNvPr id="10" name="">
            <a:extLst xmlns:a="http://schemas.openxmlformats.org/drawingml/2006/main">
              <a:ext uri="{FF2B5EF4-FFF2-40B4-BE49-F238E27FC236}">
                <a16:creationId xmlns:a16="http://schemas.microsoft.com/office/drawing/2014/main" id="{6247D2E8-6D68-4369-8FF0-B6E3F50BEB67}"/>
              </a:ext>
            </a:extLst>
          </p:cNvPr>
          <p:cNvSpPr>
            <a:spLocks xmlns:a="http://schemas.openxmlformats.org/drawingml/2006/main" noGrp="1"/>
          </p:cNvSpPr>
          <p:nvPr/>
        </p:nvSpPr>
        <p:spPr>
          <a:xfrm xmlns:a="http://schemas.openxmlformats.org/drawingml/2006/main">
            <a:off x="1381125" y="2667000"/>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211C"/>
                </a:solidFill>
              </a:defRPr>
            </a:pPr>
            <a:r>
              <a:rPr sz="1800" b="1">
                <a:solidFill>
                  <a:srgbClr val="17211C"/>
                </a:solidFill>
              </a:rPr>
              <a:t>Commerce lives in chat</a:t>
            </a:r>
          </a:p>
        </p:txBody>
      </p:sp>
      <p:sp>
        <p:nvSpPr>
          <p:cNvPr id="11" name="">
            <a:extLst xmlns:a="http://schemas.openxmlformats.org/drawingml/2006/main">
              <a:ext uri="{FF2B5EF4-FFF2-40B4-BE49-F238E27FC236}">
                <a16:creationId xmlns:a16="http://schemas.microsoft.com/office/drawing/2014/main" id="{B5B8E958-AA4E-4F8E-9727-DB4B7424F5DB}"/>
              </a:ext>
            </a:extLst>
          </p:cNvPr>
          <p:cNvSpPr>
            <a:spLocks xmlns:a="http://schemas.openxmlformats.org/drawingml/2006/main" noGrp="1"/>
          </p:cNvSpPr>
          <p:nvPr/>
        </p:nvSpPr>
        <p:spPr>
          <a:xfrm xmlns:a="http://schemas.openxmlformats.org/drawingml/2006/main">
            <a:off x="5381625" y="2667000"/>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F6B64"/>
                </a:solidFill>
              </a:defRPr>
            </a:pPr>
            <a:r>
              <a:rPr sz="1425" b="0">
                <a:solidFill>
                  <a:srgbClr val="5F6B64"/>
                </a:solidFill>
              </a:rPr>
              <a:t>Product details and order notes get scattered.</a:t>
            </a:r>
          </a:p>
        </p:txBody>
      </p:sp>
      <p:sp>
        <p:nvSpPr>
          <p:cNvPr id="12" name="">
            <a:extLst xmlns:a="http://schemas.openxmlformats.org/drawingml/2006/main">
              <a:ext uri="{FF2B5EF4-FFF2-40B4-BE49-F238E27FC236}">
                <a16:creationId xmlns:a16="http://schemas.microsoft.com/office/drawing/2014/main" id="{E9D98753-99B5-441F-9D6E-0DDB5FABCE90}"/>
              </a:ext>
            </a:extLst>
          </p:cNvPr>
          <p:cNvSpPr>
            <a:spLocks xmlns:a="http://schemas.openxmlformats.org/drawingml/2006/main" noGrp="1"/>
          </p:cNvSpPr>
          <p:nvPr/>
        </p:nvSpPr>
        <p:spPr>
          <a:xfrm xmlns:a="http://schemas.openxmlformats.org/drawingml/2006/main">
            <a:off x="1381125" y="3305175"/>
            <a:ext cx="9334500" cy="9525"/>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13" name="">
            <a:extLst xmlns:a="http://schemas.openxmlformats.org/drawingml/2006/main">
              <a:ext uri="{FF2B5EF4-FFF2-40B4-BE49-F238E27FC236}">
                <a16:creationId xmlns:a16="http://schemas.microsoft.com/office/drawing/2014/main" id="{CCC34313-31C7-453C-BCF4-6D2868D8C8DA}"/>
              </a:ext>
            </a:extLst>
          </p:cNvPr>
          <p:cNvSpPr>
            <a:spLocks xmlns:a="http://schemas.openxmlformats.org/drawingml/2006/main" noGrp="1"/>
          </p:cNvSpPr>
          <p:nvPr/>
        </p:nvSpPr>
        <p:spPr>
          <a:xfrm xmlns:a="http://schemas.openxmlformats.org/drawingml/2006/main">
            <a:off x="685800" y="3667125"/>
            <a:ext cx="52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5D366"/>
                </a:solidFill>
              </a:defRPr>
            </a:pPr>
            <a:r>
              <a:rPr sz="1500" b="1">
                <a:solidFill>
                  <a:srgbClr val="25D366"/>
                </a:solidFill>
              </a:rPr>
              <a:t>03</a:t>
            </a:r>
          </a:p>
        </p:txBody>
      </p:sp>
      <p:sp>
        <p:nvSpPr>
          <p:cNvPr id="14" name="">
            <a:extLst xmlns:a="http://schemas.openxmlformats.org/drawingml/2006/main">
              <a:ext uri="{FF2B5EF4-FFF2-40B4-BE49-F238E27FC236}">
                <a16:creationId xmlns:a16="http://schemas.microsoft.com/office/drawing/2014/main" id="{9BA2D970-4928-406D-B8CE-9F34C84D9923}"/>
              </a:ext>
            </a:extLst>
          </p:cNvPr>
          <p:cNvSpPr>
            <a:spLocks xmlns:a="http://schemas.openxmlformats.org/drawingml/2006/main" noGrp="1"/>
          </p:cNvSpPr>
          <p:nvPr/>
        </p:nvSpPr>
        <p:spPr>
          <a:xfrm xmlns:a="http://schemas.openxmlformats.org/drawingml/2006/main">
            <a:off x="1381125" y="3667125"/>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211C"/>
                </a:solidFill>
              </a:defRPr>
            </a:pPr>
            <a:r>
              <a:rPr sz="1800" b="1">
                <a:solidFill>
                  <a:srgbClr val="17211C"/>
                </a:solidFill>
              </a:rPr>
              <a:t>Every delay costs intent</a:t>
            </a:r>
          </a:p>
        </p:txBody>
      </p:sp>
      <p:sp>
        <p:nvSpPr>
          <p:cNvPr id="15" name="">
            <a:extLst xmlns:a="http://schemas.openxmlformats.org/drawingml/2006/main">
              <a:ext uri="{FF2B5EF4-FFF2-40B4-BE49-F238E27FC236}">
                <a16:creationId xmlns:a16="http://schemas.microsoft.com/office/drawing/2014/main" id="{9BD1C95C-17A4-4FC2-873F-85046731D573}"/>
              </a:ext>
            </a:extLst>
          </p:cNvPr>
          <p:cNvSpPr>
            <a:spLocks xmlns:a="http://schemas.openxmlformats.org/drawingml/2006/main" noGrp="1"/>
          </p:cNvSpPr>
          <p:nvPr/>
        </p:nvSpPr>
        <p:spPr>
          <a:xfrm xmlns:a="http://schemas.openxmlformats.org/drawingml/2006/main">
            <a:off x="5381625" y="36671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F6B64"/>
                </a:solidFill>
              </a:defRPr>
            </a:pPr>
            <a:r>
              <a:rPr sz="1425" b="0">
                <a:solidFill>
                  <a:srgbClr val="5F6B64"/>
                </a:solidFill>
              </a:rPr>
              <a:t>The customer moves to the next seller who replies.</a:t>
            </a:r>
          </a:p>
        </p:txBody>
      </p:sp>
      <p:sp>
        <p:nvSpPr>
          <p:cNvPr id="16" name="">
            <a:extLst xmlns:a="http://schemas.openxmlformats.org/drawingml/2006/main">
              <a:ext uri="{FF2B5EF4-FFF2-40B4-BE49-F238E27FC236}">
                <a16:creationId xmlns:a16="http://schemas.microsoft.com/office/drawing/2014/main" id="{3CCAE2F2-5B58-4954-85D5-256B2E2DC01F}"/>
              </a:ext>
            </a:extLst>
          </p:cNvPr>
          <p:cNvSpPr>
            <a:spLocks xmlns:a="http://schemas.openxmlformats.org/drawingml/2006/main" noGrp="1"/>
          </p:cNvSpPr>
          <p:nvPr/>
        </p:nvSpPr>
        <p:spPr>
          <a:xfrm xmlns:a="http://schemas.openxmlformats.org/drawingml/2006/main">
            <a:off x="1381125" y="4305300"/>
            <a:ext cx="9334500" cy="9525"/>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17" name="">
            <a:extLst xmlns:a="http://schemas.openxmlformats.org/drawingml/2006/main">
              <a:ext uri="{FF2B5EF4-FFF2-40B4-BE49-F238E27FC236}">
                <a16:creationId xmlns:a16="http://schemas.microsoft.com/office/drawing/2014/main" id="{A996C641-66D9-4000-9656-1373AC5677F0}"/>
              </a:ext>
            </a:extLst>
          </p:cNvPr>
          <p:cNvSpPr>
            <a:spLocks xmlns:a="http://schemas.openxmlformats.org/drawingml/2006/main" noGrp="1"/>
          </p:cNvSpPr>
          <p:nvPr/>
        </p:nvSpPr>
        <p:spPr>
          <a:xfrm xmlns:a="http://schemas.openxmlformats.org/drawingml/2006/main">
            <a:off x="685800" y="4667250"/>
            <a:ext cx="523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5D366"/>
                </a:solidFill>
              </a:defRPr>
            </a:pPr>
            <a:r>
              <a:rPr sz="1500" b="1">
                <a:solidFill>
                  <a:srgbClr val="25D366"/>
                </a:solidFill>
              </a:rPr>
              <a:t>04</a:t>
            </a:r>
          </a:p>
        </p:txBody>
      </p:sp>
      <p:sp>
        <p:nvSpPr>
          <p:cNvPr id="18" name="">
            <a:extLst xmlns:a="http://schemas.openxmlformats.org/drawingml/2006/main">
              <a:ext uri="{FF2B5EF4-FFF2-40B4-BE49-F238E27FC236}">
                <a16:creationId xmlns:a16="http://schemas.microsoft.com/office/drawing/2014/main" id="{B709A586-58B1-46F0-A010-852A649798C0}"/>
              </a:ext>
            </a:extLst>
          </p:cNvPr>
          <p:cNvSpPr>
            <a:spLocks xmlns:a="http://schemas.openxmlformats.org/drawingml/2006/main" noGrp="1"/>
          </p:cNvSpPr>
          <p:nvPr/>
        </p:nvSpPr>
        <p:spPr>
          <a:xfrm xmlns:a="http://schemas.openxmlformats.org/drawingml/2006/main">
            <a:off x="1381125" y="4667250"/>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211C"/>
                </a:solidFill>
              </a:defRPr>
            </a:pPr>
            <a:r>
              <a:rPr sz="1800" b="1">
                <a:solidFill>
                  <a:srgbClr val="17211C"/>
                </a:solidFill>
              </a:rPr>
              <a:t>Language multiplies effort</a:t>
            </a:r>
          </a:p>
        </p:txBody>
      </p:sp>
      <p:sp>
        <p:nvSpPr>
          <p:cNvPr id="19" name="">
            <a:extLst xmlns:a="http://schemas.openxmlformats.org/drawingml/2006/main">
              <a:ext uri="{FF2B5EF4-FFF2-40B4-BE49-F238E27FC236}">
                <a16:creationId xmlns:a16="http://schemas.microsoft.com/office/drawing/2014/main" id="{41B5E6F5-6896-4355-AD79-707E3552C61C}"/>
              </a:ext>
            </a:extLst>
          </p:cNvPr>
          <p:cNvSpPr>
            <a:spLocks xmlns:a="http://schemas.openxmlformats.org/drawingml/2006/main" noGrp="1"/>
          </p:cNvSpPr>
          <p:nvPr/>
        </p:nvSpPr>
        <p:spPr>
          <a:xfrm xmlns:a="http://schemas.openxmlformats.org/drawingml/2006/main">
            <a:off x="5381625" y="4667250"/>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5F6B64"/>
                </a:solidFill>
              </a:defRPr>
            </a:pPr>
            <a:r>
              <a:rPr sz="1425" b="0">
                <a:solidFill>
                  <a:srgbClr val="5F6B64"/>
                </a:solidFill>
              </a:rPr>
              <a:t>English, Urdu, Roman Urdu, voice and images.</a:t>
            </a:r>
          </a:p>
        </p:txBody>
      </p:sp>
      <p:sp>
        <p:nvSpPr>
          <p:cNvPr id="20" name="">
            <a:extLst xmlns:a="http://schemas.openxmlformats.org/drawingml/2006/main">
              <a:ext uri="{FF2B5EF4-FFF2-40B4-BE49-F238E27FC236}">
                <a16:creationId xmlns:a16="http://schemas.microsoft.com/office/drawing/2014/main" id="{403A7AA2-4F92-4DC4-8C3E-FB776289A3FC}"/>
              </a:ext>
            </a:extLst>
          </p:cNvPr>
          <p:cNvSpPr>
            <a:spLocks xmlns:a="http://schemas.openxmlformats.org/drawingml/2006/main" noGrp="1"/>
          </p:cNvSpPr>
          <p:nvPr/>
        </p:nvSpPr>
        <p:spPr>
          <a:xfrm xmlns:a="http://schemas.openxmlformats.org/drawingml/2006/main">
            <a:off x="1381125" y="5305425"/>
            <a:ext cx="9334500" cy="9525"/>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21" name="">
            <a:extLst xmlns:a="http://schemas.openxmlformats.org/drawingml/2006/main">
              <a:ext uri="{FF2B5EF4-FFF2-40B4-BE49-F238E27FC236}">
                <a16:creationId xmlns:a16="http://schemas.microsoft.com/office/drawing/2014/main" id="{56E32C87-CFF8-4376-AA70-160FC0F2F198}"/>
              </a:ext>
            </a:extLst>
          </p:cNvPr>
          <p:cNvSpPr>
            <a:spLocks xmlns:a="http://schemas.openxmlformats.org/drawingml/2006/main" noGrp="1"/>
          </p:cNvSpPr>
          <p:nvPr/>
        </p:nvSpPr>
        <p:spPr>
          <a:xfrm xmlns:a="http://schemas.openxmlformats.org/drawingml/2006/main">
            <a:off x="8334375" y="5572125"/>
            <a:ext cx="3171825" cy="609600"/>
          </a:xfrm>
          <a:prstGeom xmlns:a="http://schemas.openxmlformats.org/drawingml/2006/main" prst="roundRect">
            <a:avLst>
              <a:gd name="adj" fmla="val 18750"/>
            </a:avLst>
          </a:prstGeom>
          <a:solidFill xmlns:a="http://schemas.openxmlformats.org/drawingml/2006/main">
            <a:srgbClr val="075E54"/>
          </a:solidFill>
          <a:ln xmlns:a="http://schemas.openxmlformats.org/drawingml/2006/main" w="9525">
            <a:solidFill>
              <a:srgbClr val="075E54"/>
            </a:solidFill>
            <a:prstDash val="solid"/>
          </a:ln>
        </p:spPr>
      </p:sp>
      <p:sp>
        <p:nvSpPr>
          <p:cNvPr id="22" name="">
            <a:extLst xmlns:a="http://schemas.openxmlformats.org/drawingml/2006/main">
              <a:ext uri="{FF2B5EF4-FFF2-40B4-BE49-F238E27FC236}">
                <a16:creationId xmlns:a16="http://schemas.microsoft.com/office/drawing/2014/main" id="{82752E21-6E4D-43A7-84D4-458D73CC9E41}"/>
              </a:ext>
            </a:extLst>
          </p:cNvPr>
          <p:cNvSpPr>
            <a:spLocks xmlns:a="http://schemas.openxmlformats.org/drawingml/2006/main" noGrp="1"/>
          </p:cNvSpPr>
          <p:nvPr/>
        </p:nvSpPr>
        <p:spPr>
          <a:xfrm xmlns:a="http://schemas.openxmlformats.org/drawingml/2006/main">
            <a:off x="8524875" y="5667375"/>
            <a:ext cx="2790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Slow replies → missed orders</a:t>
            </a:r>
          </a:p>
        </p:txBody>
      </p:sp>
      <p:sp>
        <p:nvSpPr>
          <p:cNvPr id="23" name="">
            <a:extLst xmlns:a="http://schemas.openxmlformats.org/drawingml/2006/main">
              <a:ext uri="{FF2B5EF4-FFF2-40B4-BE49-F238E27FC236}">
                <a16:creationId xmlns:a16="http://schemas.microsoft.com/office/drawing/2014/main" id="{685E4F9C-0318-4BDF-94A0-D6F735737431}"/>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337912007"/>
      </p:ext>
    </p:extLst>
  </p:cSld>
</p:sld>
</file>

<file path=ppt/slides/slide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23E89F7-7430-4621-8106-C29EF3D779D3}"/>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THE GAP</a:t>
            </a:r>
          </a:p>
        </p:txBody>
      </p:sp>
      <p:sp>
        <p:nvSpPr>
          <p:cNvPr id="2" name="title">
            <a:extLst xmlns:a="http://schemas.openxmlformats.org/drawingml/2006/main">
              <a:ext uri="{FF2B5EF4-FFF2-40B4-BE49-F238E27FC236}">
                <a16:creationId xmlns:a16="http://schemas.microsoft.com/office/drawing/2014/main" id="{298E598A-0636-467D-984C-585DFA83E697}"/>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Today’s tools split conversation from commerce.</a:t>
            </a:r>
          </a:p>
        </p:txBody>
      </p:sp>
      <p:sp>
        <p:nvSpPr>
          <p:cNvPr id="3" name="">
            <a:extLst xmlns:a="http://schemas.openxmlformats.org/drawingml/2006/main">
              <a:ext uri="{FF2B5EF4-FFF2-40B4-BE49-F238E27FC236}">
                <a16:creationId xmlns:a16="http://schemas.microsoft.com/office/drawing/2014/main" id="{52C30C2E-0DA3-435D-945B-628563810B54}"/>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03</a:t>
            </a:r>
          </a:p>
        </p:txBody>
      </p:sp>
      <p:sp>
        <p:nvSpPr>
          <p:cNvPr id="4" name="">
            <a:extLst xmlns:a="http://schemas.openxmlformats.org/drawingml/2006/main">
              <a:ext uri="{FF2B5EF4-FFF2-40B4-BE49-F238E27FC236}">
                <a16:creationId xmlns:a16="http://schemas.microsoft.com/office/drawing/2014/main" id="{63383F92-153B-422B-A769-0613DD79BA2D}"/>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7ECD6D96-9927-48E5-AB55-6E52B2ADB3F7}"/>
              </a:ext>
            </a:extLst>
          </p:cNvPr>
          <p:cNvSpPr>
            <a:spLocks xmlns:a="http://schemas.openxmlformats.org/drawingml/2006/main" noGrp="1"/>
          </p:cNvSpPr>
          <p:nvPr/>
        </p:nvSpPr>
        <p:spPr>
          <a:xfrm xmlns:a="http://schemas.openxmlformats.org/drawingml/2006/main">
            <a:off x="68580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9E0DB"/>
            </a:solidFill>
            <a:prstDash val="solid"/>
          </a:ln>
        </p:spPr>
      </p:sp>
      <p:sp>
        <p:nvSpPr>
          <p:cNvPr id="6" name="">
            <a:extLst xmlns:a="http://schemas.openxmlformats.org/drawingml/2006/main">
              <a:ext uri="{FF2B5EF4-FFF2-40B4-BE49-F238E27FC236}">
                <a16:creationId xmlns:a16="http://schemas.microsoft.com/office/drawing/2014/main" id="{4A4FE0C5-2830-4A3A-A5F9-5DE6B5978824}"/>
              </a:ext>
            </a:extLst>
          </p:cNvPr>
          <p:cNvSpPr>
            <a:spLocks xmlns:a="http://schemas.openxmlformats.org/drawingml/2006/main" noGrp="1"/>
          </p:cNvSpPr>
          <p:nvPr/>
        </p:nvSpPr>
        <p:spPr>
          <a:xfrm xmlns:a="http://schemas.openxmlformats.org/drawingml/2006/main">
            <a:off x="914400" y="2000250"/>
            <a:ext cx="171450" cy="171450"/>
          </a:xfrm>
          <a:prstGeom xmlns:a="http://schemas.openxmlformats.org/drawingml/2006/main" prst="ellipse">
            <a:avLst/>
          </a:prstGeom>
          <a:solidFill xmlns:a="http://schemas.openxmlformats.org/drawingml/2006/main">
            <a:srgbClr val="F2A93B"/>
          </a:solidFill>
          <a:ln xmlns:a="http://schemas.openxmlformats.org/drawingml/2006/main" w="9525">
            <a:solidFill>
              <a:srgbClr val="F2A93B"/>
            </a:solidFill>
            <a:prstDash val="solid"/>
          </a:ln>
        </p:spPr>
      </p:sp>
      <p:sp>
        <p:nvSpPr>
          <p:cNvPr id="7" name="">
            <a:extLst xmlns:a="http://schemas.openxmlformats.org/drawingml/2006/main">
              <a:ext uri="{FF2B5EF4-FFF2-40B4-BE49-F238E27FC236}">
                <a16:creationId xmlns:a16="http://schemas.microsoft.com/office/drawing/2014/main" id="{54755047-2826-4B1A-B473-95A979EA4A11}"/>
              </a:ext>
            </a:extLst>
          </p:cNvPr>
          <p:cNvSpPr>
            <a:spLocks xmlns:a="http://schemas.openxmlformats.org/drawingml/2006/main" noGrp="1"/>
          </p:cNvSpPr>
          <p:nvPr/>
        </p:nvSpPr>
        <p:spPr>
          <a:xfrm xmlns:a="http://schemas.openxmlformats.org/drawingml/2006/main">
            <a:off x="914400" y="23812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211C"/>
                </a:solidFill>
              </a:defRPr>
            </a:pPr>
            <a:r>
              <a:rPr sz="1875" b="1">
                <a:solidFill>
                  <a:srgbClr val="17211C"/>
                </a:solidFill>
              </a:rPr>
              <a:t>Manual WhatsApp</a:t>
            </a:r>
          </a:p>
        </p:txBody>
      </p:sp>
      <p:sp>
        <p:nvSpPr>
          <p:cNvPr id="8" name="">
            <a:extLst xmlns:a="http://schemas.openxmlformats.org/drawingml/2006/main">
              <a:ext uri="{FF2B5EF4-FFF2-40B4-BE49-F238E27FC236}">
                <a16:creationId xmlns:a16="http://schemas.microsoft.com/office/drawing/2014/main" id="{409A7769-EDB1-4A39-8A54-252CC61D8032}"/>
              </a:ext>
            </a:extLst>
          </p:cNvPr>
          <p:cNvSpPr>
            <a:spLocks xmlns:a="http://schemas.openxmlformats.org/drawingml/2006/main" noGrp="1"/>
          </p:cNvSpPr>
          <p:nvPr/>
        </p:nvSpPr>
        <p:spPr>
          <a:xfrm xmlns:a="http://schemas.openxmlformats.org/drawingml/2006/main">
            <a:off x="914400" y="300037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2A93B"/>
                </a:solidFill>
              </a:defRPr>
            </a:pPr>
            <a:r>
              <a:rPr sz="1350" b="1">
                <a:solidFill>
                  <a:srgbClr val="F2A93B"/>
                </a:solidFill>
              </a:rPr>
              <a:t>Familiar</a:t>
            </a:r>
          </a:p>
        </p:txBody>
      </p:sp>
      <p:sp>
        <p:nvSpPr>
          <p:cNvPr id="9" name="">
            <a:extLst xmlns:a="http://schemas.openxmlformats.org/drawingml/2006/main">
              <a:ext uri="{FF2B5EF4-FFF2-40B4-BE49-F238E27FC236}">
                <a16:creationId xmlns:a16="http://schemas.microsoft.com/office/drawing/2014/main" id="{2426499F-DB6A-40EE-B7B4-5FBB003E8FAA}"/>
              </a:ext>
            </a:extLst>
          </p:cNvPr>
          <p:cNvSpPr>
            <a:spLocks xmlns:a="http://schemas.openxmlformats.org/drawingml/2006/main" noGrp="1"/>
          </p:cNvSpPr>
          <p:nvPr/>
        </p:nvSpPr>
        <p:spPr>
          <a:xfrm xmlns:a="http://schemas.openxmlformats.org/drawingml/2006/main">
            <a:off x="914400" y="3333750"/>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but unstructured and hard to scale</a:t>
            </a:r>
          </a:p>
        </p:txBody>
      </p:sp>
      <p:sp>
        <p:nvSpPr>
          <p:cNvPr id="10" name="">
            <a:extLst xmlns:a="http://schemas.openxmlformats.org/drawingml/2006/main">
              <a:ext uri="{FF2B5EF4-FFF2-40B4-BE49-F238E27FC236}">
                <a16:creationId xmlns:a16="http://schemas.microsoft.com/office/drawing/2014/main" id="{AC558F3F-BD97-400F-8FDC-D332629F10D2}"/>
              </a:ext>
            </a:extLst>
          </p:cNvPr>
          <p:cNvSpPr>
            <a:spLocks xmlns:a="http://schemas.openxmlformats.org/drawingml/2006/main" noGrp="1"/>
          </p:cNvSpPr>
          <p:nvPr/>
        </p:nvSpPr>
        <p:spPr>
          <a:xfrm xmlns:a="http://schemas.openxmlformats.org/drawingml/2006/main">
            <a:off x="422910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9E0DB"/>
            </a:solidFill>
            <a:prstDash val="solid"/>
          </a:ln>
        </p:spPr>
      </p:sp>
      <p:sp>
        <p:nvSpPr>
          <p:cNvPr id="11" name="">
            <a:extLst xmlns:a="http://schemas.openxmlformats.org/drawingml/2006/main">
              <a:ext uri="{FF2B5EF4-FFF2-40B4-BE49-F238E27FC236}">
                <a16:creationId xmlns:a16="http://schemas.microsoft.com/office/drawing/2014/main" id="{387568DA-9C5E-41E9-8BA1-AF82F4AB5ACB}"/>
              </a:ext>
            </a:extLst>
          </p:cNvPr>
          <p:cNvSpPr>
            <a:spLocks xmlns:a="http://schemas.openxmlformats.org/drawingml/2006/main" noGrp="1"/>
          </p:cNvSpPr>
          <p:nvPr/>
        </p:nvSpPr>
        <p:spPr>
          <a:xfrm xmlns:a="http://schemas.openxmlformats.org/drawingml/2006/main">
            <a:off x="4457700" y="2000250"/>
            <a:ext cx="171450" cy="171450"/>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12" name="">
            <a:extLst xmlns:a="http://schemas.openxmlformats.org/drawingml/2006/main">
              <a:ext uri="{FF2B5EF4-FFF2-40B4-BE49-F238E27FC236}">
                <a16:creationId xmlns:a16="http://schemas.microsoft.com/office/drawing/2014/main" id="{A75F1EFD-5BA5-4370-B2BF-B2D054B15165}"/>
              </a:ext>
            </a:extLst>
          </p:cNvPr>
          <p:cNvSpPr>
            <a:spLocks xmlns:a="http://schemas.openxmlformats.org/drawingml/2006/main" noGrp="1"/>
          </p:cNvSpPr>
          <p:nvPr/>
        </p:nvSpPr>
        <p:spPr>
          <a:xfrm xmlns:a="http://schemas.openxmlformats.org/drawingml/2006/main">
            <a:off x="4457700" y="23812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211C"/>
                </a:solidFill>
              </a:defRPr>
            </a:pPr>
            <a:r>
              <a:rPr sz="1875" b="1">
                <a:solidFill>
                  <a:srgbClr val="17211C"/>
                </a:solidFill>
              </a:rPr>
              <a:t>Generic chatbot</a:t>
            </a:r>
          </a:p>
        </p:txBody>
      </p:sp>
      <p:sp>
        <p:nvSpPr>
          <p:cNvPr id="13" name="">
            <a:extLst xmlns:a="http://schemas.openxmlformats.org/drawingml/2006/main">
              <a:ext uri="{FF2B5EF4-FFF2-40B4-BE49-F238E27FC236}">
                <a16:creationId xmlns:a16="http://schemas.microsoft.com/office/drawing/2014/main" id="{CD31112B-E326-417D-B2D8-1121A1280B1A}"/>
              </a:ext>
            </a:extLst>
          </p:cNvPr>
          <p:cNvSpPr>
            <a:spLocks xmlns:a="http://schemas.openxmlformats.org/drawingml/2006/main" noGrp="1"/>
          </p:cNvSpPr>
          <p:nvPr/>
        </p:nvSpPr>
        <p:spPr>
          <a:xfrm xmlns:a="http://schemas.openxmlformats.org/drawingml/2006/main">
            <a:off x="4457700" y="300037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6C4CF1"/>
                </a:solidFill>
              </a:defRPr>
            </a:pPr>
            <a:r>
              <a:rPr sz="1350" b="1">
                <a:solidFill>
                  <a:srgbClr val="6C4CF1"/>
                </a:solidFill>
              </a:rPr>
              <a:t>Automated</a:t>
            </a:r>
          </a:p>
        </p:txBody>
      </p:sp>
      <p:sp>
        <p:nvSpPr>
          <p:cNvPr id="14" name="">
            <a:extLst xmlns:a="http://schemas.openxmlformats.org/drawingml/2006/main">
              <a:ext uri="{FF2B5EF4-FFF2-40B4-BE49-F238E27FC236}">
                <a16:creationId xmlns:a16="http://schemas.microsoft.com/office/drawing/2014/main" id="{96375CBD-12D9-4FB0-8C29-F22268887AE9}"/>
              </a:ext>
            </a:extLst>
          </p:cNvPr>
          <p:cNvSpPr>
            <a:spLocks xmlns:a="http://schemas.openxmlformats.org/drawingml/2006/main" noGrp="1"/>
          </p:cNvSpPr>
          <p:nvPr/>
        </p:nvSpPr>
        <p:spPr>
          <a:xfrm xmlns:a="http://schemas.openxmlformats.org/drawingml/2006/main">
            <a:off x="4457700" y="3333750"/>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but may not know live price or stock</a:t>
            </a:r>
          </a:p>
        </p:txBody>
      </p:sp>
      <p:sp>
        <p:nvSpPr>
          <p:cNvPr id="15" name="">
            <a:extLst xmlns:a="http://schemas.openxmlformats.org/drawingml/2006/main">
              <a:ext uri="{FF2B5EF4-FFF2-40B4-BE49-F238E27FC236}">
                <a16:creationId xmlns:a16="http://schemas.microsoft.com/office/drawing/2014/main" id="{690891FE-EFD4-4AF3-A05F-72F36E74E916}"/>
              </a:ext>
            </a:extLst>
          </p:cNvPr>
          <p:cNvSpPr>
            <a:spLocks xmlns:a="http://schemas.openxmlformats.org/drawingml/2006/main" noGrp="1"/>
          </p:cNvSpPr>
          <p:nvPr/>
        </p:nvSpPr>
        <p:spPr>
          <a:xfrm xmlns:a="http://schemas.openxmlformats.org/drawingml/2006/main">
            <a:off x="7772400" y="1762125"/>
            <a:ext cx="323850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9E0DB"/>
            </a:solidFill>
            <a:prstDash val="solid"/>
          </a:ln>
        </p:spPr>
      </p:sp>
      <p:sp>
        <p:nvSpPr>
          <p:cNvPr id="16" name="">
            <a:extLst xmlns:a="http://schemas.openxmlformats.org/drawingml/2006/main">
              <a:ext uri="{FF2B5EF4-FFF2-40B4-BE49-F238E27FC236}">
                <a16:creationId xmlns:a16="http://schemas.microsoft.com/office/drawing/2014/main" id="{F0F2EEE1-97F4-439B-956C-8081F067780E}"/>
              </a:ext>
            </a:extLst>
          </p:cNvPr>
          <p:cNvSpPr>
            <a:spLocks xmlns:a="http://schemas.openxmlformats.org/drawingml/2006/main" noGrp="1"/>
          </p:cNvSpPr>
          <p:nvPr/>
        </p:nvSpPr>
        <p:spPr>
          <a:xfrm xmlns:a="http://schemas.openxmlformats.org/drawingml/2006/main">
            <a:off x="8001000" y="2000250"/>
            <a:ext cx="171450" cy="171450"/>
          </a:xfrm>
          <a:prstGeom xmlns:a="http://schemas.openxmlformats.org/drawingml/2006/main" prst="ellipse">
            <a:avLst/>
          </a:prstGeom>
          <a:solidFill xmlns:a="http://schemas.openxmlformats.org/drawingml/2006/main">
            <a:srgbClr val="075E54"/>
          </a:solidFill>
          <a:ln xmlns:a="http://schemas.openxmlformats.org/drawingml/2006/main" w="9525">
            <a:solidFill>
              <a:srgbClr val="075E54"/>
            </a:solidFill>
            <a:prstDash val="solid"/>
          </a:ln>
        </p:spPr>
      </p:sp>
      <p:sp>
        <p:nvSpPr>
          <p:cNvPr id="17" name="">
            <a:extLst xmlns:a="http://schemas.openxmlformats.org/drawingml/2006/main">
              <a:ext uri="{FF2B5EF4-FFF2-40B4-BE49-F238E27FC236}">
                <a16:creationId xmlns:a16="http://schemas.microsoft.com/office/drawing/2014/main" id="{8BE1FF56-678B-40FB-A271-2F2A9EE35348}"/>
              </a:ext>
            </a:extLst>
          </p:cNvPr>
          <p:cNvSpPr>
            <a:spLocks xmlns:a="http://schemas.openxmlformats.org/drawingml/2006/main" noGrp="1"/>
          </p:cNvSpPr>
          <p:nvPr/>
        </p:nvSpPr>
        <p:spPr>
          <a:xfrm xmlns:a="http://schemas.openxmlformats.org/drawingml/2006/main">
            <a:off x="8001000" y="23812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211C"/>
                </a:solidFill>
              </a:defRPr>
            </a:pPr>
            <a:r>
              <a:rPr sz="1875" b="1">
                <a:solidFill>
                  <a:srgbClr val="17211C"/>
                </a:solidFill>
              </a:rPr>
              <a:t>E-commerce site</a:t>
            </a:r>
          </a:p>
        </p:txBody>
      </p:sp>
      <p:sp>
        <p:nvSpPr>
          <p:cNvPr id="18" name="">
            <a:extLst xmlns:a="http://schemas.openxmlformats.org/drawingml/2006/main">
              <a:ext uri="{FF2B5EF4-FFF2-40B4-BE49-F238E27FC236}">
                <a16:creationId xmlns:a16="http://schemas.microsoft.com/office/drawing/2014/main" id="{5517208B-E7B2-4676-88B5-F932044B16E2}"/>
              </a:ext>
            </a:extLst>
          </p:cNvPr>
          <p:cNvSpPr>
            <a:spLocks xmlns:a="http://schemas.openxmlformats.org/drawingml/2006/main" noGrp="1"/>
          </p:cNvSpPr>
          <p:nvPr/>
        </p:nvSpPr>
        <p:spPr>
          <a:xfrm xmlns:a="http://schemas.openxmlformats.org/drawingml/2006/main">
            <a:off x="8001000" y="300037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75E54"/>
                </a:solidFill>
              </a:defRPr>
            </a:pPr>
            <a:r>
              <a:rPr sz="1350" b="1">
                <a:solidFill>
                  <a:srgbClr val="075E54"/>
                </a:solidFill>
              </a:rPr>
              <a:t>Structured</a:t>
            </a:r>
          </a:p>
        </p:txBody>
      </p:sp>
      <p:sp>
        <p:nvSpPr>
          <p:cNvPr id="19" name="">
            <a:extLst xmlns:a="http://schemas.openxmlformats.org/drawingml/2006/main">
              <a:ext uri="{FF2B5EF4-FFF2-40B4-BE49-F238E27FC236}">
                <a16:creationId xmlns:a16="http://schemas.microsoft.com/office/drawing/2014/main" id="{5A1EDDCA-058A-4695-A898-E095F9710139}"/>
              </a:ext>
            </a:extLst>
          </p:cNvPr>
          <p:cNvSpPr>
            <a:spLocks xmlns:a="http://schemas.openxmlformats.org/drawingml/2006/main" noGrp="1"/>
          </p:cNvSpPr>
          <p:nvPr/>
        </p:nvSpPr>
        <p:spPr>
          <a:xfrm xmlns:a="http://schemas.openxmlformats.org/drawingml/2006/main">
            <a:off x="8001000" y="3333750"/>
            <a:ext cx="2714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but asks customers to leave the chat</a:t>
            </a:r>
          </a:p>
        </p:txBody>
      </p:sp>
      <p:sp>
        <p:nvSpPr>
          <p:cNvPr id="20" name="">
            <a:extLst xmlns:a="http://schemas.openxmlformats.org/drawingml/2006/main">
              <a:ext uri="{FF2B5EF4-FFF2-40B4-BE49-F238E27FC236}">
                <a16:creationId xmlns:a16="http://schemas.microsoft.com/office/drawing/2014/main" id="{6720828E-26D4-4312-94D4-FCEEDEC0D715}"/>
              </a:ext>
            </a:extLst>
          </p:cNvPr>
          <p:cNvSpPr>
            <a:spLocks xmlns:a="http://schemas.openxmlformats.org/drawingml/2006/main" noGrp="1"/>
          </p:cNvSpPr>
          <p:nvPr/>
        </p:nvSpPr>
        <p:spPr>
          <a:xfrm xmlns:a="http://schemas.openxmlformats.org/drawingml/2006/main">
            <a:off x="685800" y="46863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75E54"/>
                </a:solidFill>
              </a:defRPr>
            </a:pPr>
            <a:r>
              <a:rPr sz="1350" b="1">
                <a:solidFill>
                  <a:srgbClr val="075E54"/>
                </a:solidFill>
              </a:rPr>
              <a:t>The missing layer</a:t>
            </a:r>
          </a:p>
        </p:txBody>
      </p:sp>
      <p:sp>
        <p:nvSpPr>
          <p:cNvPr id="21" name="">
            <a:extLst xmlns:a="http://schemas.openxmlformats.org/drawingml/2006/main">
              <a:ext uri="{FF2B5EF4-FFF2-40B4-BE49-F238E27FC236}">
                <a16:creationId xmlns:a16="http://schemas.microsoft.com/office/drawing/2014/main" id="{0275CA80-01A1-4ED5-A4E6-578B270328FB}"/>
              </a:ext>
            </a:extLst>
          </p:cNvPr>
          <p:cNvSpPr>
            <a:spLocks xmlns:a="http://schemas.openxmlformats.org/drawingml/2006/main" noGrp="1"/>
          </p:cNvSpPr>
          <p:nvPr/>
        </p:nvSpPr>
        <p:spPr>
          <a:xfrm xmlns:a="http://schemas.openxmlformats.org/drawingml/2006/main">
            <a:off x="685800" y="5048250"/>
            <a:ext cx="10820400" cy="19050"/>
          </a:xfrm>
          <a:prstGeom xmlns:a="http://schemas.openxmlformats.org/drawingml/2006/main" prst="rect">
            <a:avLst/>
          </a:prstGeom>
          <a:solidFill xmlns:a="http://schemas.openxmlformats.org/drawingml/2006/main">
            <a:srgbClr val="25D366"/>
          </a:solidFill>
          <a:ln xmlns:a="http://schemas.openxmlformats.org/drawingml/2006/main" w="0">
            <a:solidFill>
              <a:srgbClr val="25D366"/>
            </a:solidFill>
            <a:prstDash val="solid"/>
          </a:ln>
        </p:spPr>
      </p:sp>
      <p:sp>
        <p:nvSpPr>
          <p:cNvPr id="22" name="">
            <a:extLst xmlns:a="http://schemas.openxmlformats.org/drawingml/2006/main">
              <a:ext uri="{FF2B5EF4-FFF2-40B4-BE49-F238E27FC236}">
                <a16:creationId xmlns:a16="http://schemas.microsoft.com/office/drawing/2014/main" id="{D5078ADB-6221-4840-B1C2-416BDAFCBE0B}"/>
              </a:ext>
            </a:extLst>
          </p:cNvPr>
          <p:cNvSpPr>
            <a:spLocks xmlns:a="http://schemas.openxmlformats.org/drawingml/2006/main" noGrp="1"/>
          </p:cNvSpPr>
          <p:nvPr/>
        </p:nvSpPr>
        <p:spPr>
          <a:xfrm xmlns:a="http://schemas.openxmlformats.org/drawingml/2006/main">
            <a:off x="685800" y="52387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7211C"/>
                </a:solidFill>
              </a:defRPr>
            </a:pPr>
            <a:r>
              <a:rPr sz="2250" b="1">
                <a:solidFill>
                  <a:srgbClr val="17211C"/>
                </a:solidFill>
              </a:rPr>
              <a:t>Keep the conversation in WhatsApp — add catalog truth, order structure and human control behind it.</a:t>
            </a:r>
          </a:p>
        </p:txBody>
      </p:sp>
      <p:sp>
        <p:nvSpPr>
          <p:cNvPr id="23" name="">
            <a:extLst xmlns:a="http://schemas.openxmlformats.org/drawingml/2006/main">
              <a:ext uri="{FF2B5EF4-FFF2-40B4-BE49-F238E27FC236}">
                <a16:creationId xmlns:a16="http://schemas.microsoft.com/office/drawing/2014/main" id="{2F2E4F70-D8E2-4228-A8C8-64A67DCEAFF3}"/>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1999569673"/>
      </p:ext>
    </p:extLst>
  </p:cSld>
</p:sld>
</file>

<file path=ppt/slides/slide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56CDE88-1E47-4B16-847F-40B21D2559D7}"/>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THE SOLUTION</a:t>
            </a:r>
          </a:p>
        </p:txBody>
      </p:sp>
      <p:sp>
        <p:nvSpPr>
          <p:cNvPr id="2" name="title">
            <a:extLst xmlns:a="http://schemas.openxmlformats.org/drawingml/2006/main">
              <a:ext uri="{FF2B5EF4-FFF2-40B4-BE49-F238E27FC236}">
                <a16:creationId xmlns:a16="http://schemas.microsoft.com/office/drawing/2014/main" id="{2CD0F30D-A25A-4BC7-B288-4138161A9648}"/>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WhatsApp stays familiar. Commerce becomes structured.</a:t>
            </a:r>
          </a:p>
        </p:txBody>
      </p:sp>
      <p:sp>
        <p:nvSpPr>
          <p:cNvPr id="3" name="">
            <a:extLst xmlns:a="http://schemas.openxmlformats.org/drawingml/2006/main">
              <a:ext uri="{FF2B5EF4-FFF2-40B4-BE49-F238E27FC236}">
                <a16:creationId xmlns:a16="http://schemas.microsoft.com/office/drawing/2014/main" id="{61AC05D9-C15D-49B3-9EAC-6B7BC23EC546}"/>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04</a:t>
            </a:r>
          </a:p>
        </p:txBody>
      </p:sp>
      <p:sp>
        <p:nvSpPr>
          <p:cNvPr id="4" name="">
            <a:extLst xmlns:a="http://schemas.openxmlformats.org/drawingml/2006/main">
              <a:ext uri="{FF2B5EF4-FFF2-40B4-BE49-F238E27FC236}">
                <a16:creationId xmlns:a16="http://schemas.microsoft.com/office/drawing/2014/main" id="{3D43A4DE-5500-441E-B9F6-16ADC13105F2}"/>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006FD41A-5EE9-4321-8ED8-038A55EEC4F3}"/>
              </a:ext>
            </a:extLst>
          </p:cNvPr>
          <p:cNvSpPr>
            <a:spLocks xmlns:a="http://schemas.openxmlformats.org/drawingml/2006/main" noGrp="1"/>
          </p:cNvSpPr>
          <p:nvPr/>
        </p:nvSpPr>
        <p:spPr>
          <a:xfrm xmlns:a="http://schemas.openxmlformats.org/drawingml/2006/main">
            <a:off x="685800" y="1619250"/>
            <a:ext cx="3238500" cy="4095750"/>
          </a:xfrm>
          <a:prstGeom xmlns:a="http://schemas.openxmlformats.org/drawingml/2006/main" prst="roundRect">
            <a:avLst>
              <a:gd name="adj" fmla="val 3529"/>
            </a:avLst>
          </a:prstGeom>
          <a:solidFill xmlns:a="http://schemas.openxmlformats.org/drawingml/2006/main">
            <a:srgbClr val="101A15"/>
          </a:solidFill>
          <a:ln xmlns:a="http://schemas.openxmlformats.org/drawingml/2006/main" w="9525">
            <a:solidFill>
              <a:srgbClr val="101A15"/>
            </a:solidFill>
            <a:prstDash val="solid"/>
          </a:ln>
        </p:spPr>
      </p:sp>
      <p:sp>
        <p:nvSpPr>
          <p:cNvPr id="6" name="">
            <a:extLst xmlns:a="http://schemas.openxmlformats.org/drawingml/2006/main">
              <a:ext uri="{FF2B5EF4-FFF2-40B4-BE49-F238E27FC236}">
                <a16:creationId xmlns:a16="http://schemas.microsoft.com/office/drawing/2014/main" id="{9FFAC34A-BE15-4184-9377-329AFCE5AADB}"/>
              </a:ext>
            </a:extLst>
          </p:cNvPr>
          <p:cNvSpPr>
            <a:spLocks xmlns:a="http://schemas.openxmlformats.org/drawingml/2006/main" noGrp="1"/>
          </p:cNvSpPr>
          <p:nvPr/>
        </p:nvSpPr>
        <p:spPr>
          <a:xfrm xmlns:a="http://schemas.openxmlformats.org/drawingml/2006/main">
            <a:off x="781050" y="1733550"/>
            <a:ext cx="3048000" cy="3867150"/>
          </a:xfrm>
          <a:prstGeom xmlns:a="http://schemas.openxmlformats.org/drawingml/2006/main" prst="roundRect">
            <a:avLst>
              <a:gd name="adj" fmla="val 3750"/>
            </a:avLst>
          </a:prstGeom>
          <a:solidFill xmlns:a="http://schemas.openxmlformats.org/drawingml/2006/main">
            <a:srgbClr val="EEF3EF"/>
          </a:solidFill>
          <a:ln xmlns:a="http://schemas.openxmlformats.org/drawingml/2006/main" w="9525">
            <a:solidFill>
              <a:srgbClr val="EEF3EF"/>
            </a:solidFill>
            <a:prstDash val="solid"/>
          </a:ln>
        </p:spPr>
      </p:sp>
      <p:sp>
        <p:nvSpPr>
          <p:cNvPr id="7" name="">
            <a:extLst xmlns:a="http://schemas.openxmlformats.org/drawingml/2006/main">
              <a:ext uri="{FF2B5EF4-FFF2-40B4-BE49-F238E27FC236}">
                <a16:creationId xmlns:a16="http://schemas.microsoft.com/office/drawing/2014/main" id="{16D8010A-A368-43C7-9884-89E7A86970C8}"/>
              </a:ext>
            </a:extLst>
          </p:cNvPr>
          <p:cNvSpPr>
            <a:spLocks xmlns:a="http://schemas.openxmlformats.org/drawingml/2006/main" noGrp="1"/>
          </p:cNvSpPr>
          <p:nvPr/>
        </p:nvSpPr>
        <p:spPr>
          <a:xfrm xmlns:a="http://schemas.openxmlformats.org/drawingml/2006/main">
            <a:off x="1924050" y="1790700"/>
            <a:ext cx="762000" cy="152400"/>
          </a:xfrm>
          <a:prstGeom xmlns:a="http://schemas.openxmlformats.org/drawingml/2006/main" prst="roundRect">
            <a:avLst>
              <a:gd name="adj" fmla="val 50000"/>
            </a:avLst>
          </a:prstGeom>
          <a:solidFill xmlns:a="http://schemas.openxmlformats.org/drawingml/2006/main">
            <a:srgbClr val="101A15"/>
          </a:solidFill>
          <a:ln xmlns:a="http://schemas.openxmlformats.org/drawingml/2006/main" w="9525">
            <a:solidFill>
              <a:srgbClr val="101A15"/>
            </a:solidFill>
            <a:prstDash val="solid"/>
          </a:ln>
        </p:spPr>
      </p:sp>
      <p:sp>
        <p:nvSpPr>
          <p:cNvPr id="8" name="">
            <a:extLst xmlns:a="http://schemas.openxmlformats.org/drawingml/2006/main">
              <a:ext uri="{FF2B5EF4-FFF2-40B4-BE49-F238E27FC236}">
                <a16:creationId xmlns:a16="http://schemas.microsoft.com/office/drawing/2014/main" id="{E8509861-E213-4A93-9358-01873145E43C}"/>
              </a:ext>
            </a:extLst>
          </p:cNvPr>
          <p:cNvSpPr>
            <a:spLocks xmlns:a="http://schemas.openxmlformats.org/drawingml/2006/main" noGrp="1"/>
          </p:cNvSpPr>
          <p:nvPr/>
        </p:nvSpPr>
        <p:spPr>
          <a:xfrm xmlns:a="http://schemas.openxmlformats.org/drawingml/2006/main">
            <a:off x="933450" y="19240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5F6B64"/>
                </a:solidFill>
              </a:defRPr>
            </a:pPr>
            <a:r>
              <a:rPr sz="1050" b="1">
                <a:solidFill>
                  <a:srgbClr val="5F6B64"/>
                </a:solidFill>
              </a:rPr>
              <a:t>Customer</a:t>
            </a:r>
          </a:p>
        </p:txBody>
      </p:sp>
      <p:sp>
        <p:nvSpPr>
          <p:cNvPr id="9" name="">
            <a:extLst xmlns:a="http://schemas.openxmlformats.org/drawingml/2006/main">
              <a:ext uri="{FF2B5EF4-FFF2-40B4-BE49-F238E27FC236}">
                <a16:creationId xmlns:a16="http://schemas.microsoft.com/office/drawing/2014/main" id="{1925F2AF-DE72-4E23-A15E-ACC8218EF624}"/>
              </a:ext>
            </a:extLst>
          </p:cNvPr>
          <p:cNvSpPr>
            <a:spLocks xmlns:a="http://schemas.openxmlformats.org/drawingml/2006/main" noGrp="1"/>
          </p:cNvSpPr>
          <p:nvPr/>
        </p:nvSpPr>
        <p:spPr>
          <a:xfrm xmlns:a="http://schemas.openxmlformats.org/drawingml/2006/main">
            <a:off x="952500" y="2428875"/>
            <a:ext cx="23812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87302729-B225-4074-B4C8-08787A333D61}"/>
              </a:ext>
            </a:extLst>
          </p:cNvPr>
          <p:cNvSpPr>
            <a:spLocks xmlns:a="http://schemas.openxmlformats.org/drawingml/2006/main" noGrp="1"/>
          </p:cNvSpPr>
          <p:nvPr/>
        </p:nvSpPr>
        <p:spPr>
          <a:xfrm xmlns:a="http://schemas.openxmlformats.org/drawingml/2006/main">
            <a:off x="1066800" y="249555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Black sneakers size 42 available hain?</a:t>
            </a:r>
          </a:p>
        </p:txBody>
      </p:sp>
      <p:sp>
        <p:nvSpPr>
          <p:cNvPr id="11" name="">
            <a:extLst xmlns:a="http://schemas.openxmlformats.org/drawingml/2006/main">
              <a:ext uri="{FF2B5EF4-FFF2-40B4-BE49-F238E27FC236}">
                <a16:creationId xmlns:a16="http://schemas.microsoft.com/office/drawing/2014/main" id="{31C8C1C3-35AB-4A7E-B0C9-949577DC393B}"/>
              </a:ext>
            </a:extLst>
          </p:cNvPr>
          <p:cNvSpPr>
            <a:spLocks xmlns:a="http://schemas.openxmlformats.org/drawingml/2006/main" noGrp="1"/>
          </p:cNvSpPr>
          <p:nvPr/>
        </p:nvSpPr>
        <p:spPr>
          <a:xfrm xmlns:a="http://schemas.openxmlformats.org/drawingml/2006/main">
            <a:off x="1276350" y="3238500"/>
            <a:ext cx="2333625" cy="895350"/>
          </a:xfrm>
          <a:prstGeom xmlns:a="http://schemas.openxmlformats.org/drawingml/2006/main" prst="roundRect">
            <a:avLst>
              <a:gd name="adj" fmla="val 12766"/>
            </a:avLst>
          </a:prstGeom>
          <a:solidFill xmlns:a="http://schemas.openxmlformats.org/drawingml/2006/main">
            <a:srgbClr val="25D366"/>
          </a:solidFill>
          <a:ln xmlns:a="http://schemas.openxmlformats.org/drawingml/2006/main" w="9525">
            <a:solidFill>
              <a:srgbClr val="25D366"/>
            </a:solidFill>
            <a:prstDash val="solid"/>
          </a:ln>
        </p:spPr>
      </p:sp>
      <p:sp>
        <p:nvSpPr>
          <p:cNvPr id="12" name="">
            <a:extLst xmlns:a="http://schemas.openxmlformats.org/drawingml/2006/main">
              <a:ext uri="{FF2B5EF4-FFF2-40B4-BE49-F238E27FC236}">
                <a16:creationId xmlns:a16="http://schemas.microsoft.com/office/drawing/2014/main" id="{0B8E21E9-30DF-42B5-805B-F6DA42C7C44E}"/>
              </a:ext>
            </a:extLst>
          </p:cNvPr>
          <p:cNvSpPr>
            <a:spLocks xmlns:a="http://schemas.openxmlformats.org/drawingml/2006/main" noGrp="1"/>
          </p:cNvSpPr>
          <p:nvPr/>
        </p:nvSpPr>
        <p:spPr>
          <a:xfrm xmlns:a="http://schemas.openxmlformats.org/drawingml/2006/main">
            <a:off x="1390650" y="3305175"/>
            <a:ext cx="21050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Yes — Navy/Black, size 42 is in stock. Rs. 4,800. Order karna hai?</a:t>
            </a:r>
          </a:p>
        </p:txBody>
      </p:sp>
      <p:sp>
        <p:nvSpPr>
          <p:cNvPr id="13" name="">
            <a:extLst xmlns:a="http://schemas.openxmlformats.org/drawingml/2006/main">
              <a:ext uri="{FF2B5EF4-FFF2-40B4-BE49-F238E27FC236}">
                <a16:creationId xmlns:a16="http://schemas.microsoft.com/office/drawing/2014/main" id="{A6F25FAA-01D7-4B3F-A222-F922708629FC}"/>
              </a:ext>
            </a:extLst>
          </p:cNvPr>
          <p:cNvSpPr>
            <a:spLocks xmlns:a="http://schemas.openxmlformats.org/drawingml/2006/main" noGrp="1"/>
          </p:cNvSpPr>
          <p:nvPr/>
        </p:nvSpPr>
        <p:spPr>
          <a:xfrm xmlns:a="http://schemas.openxmlformats.org/drawingml/2006/main">
            <a:off x="952500" y="4362450"/>
            <a:ext cx="161925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A2DD7903-7A6A-4752-A2F6-233E985DC90E}"/>
              </a:ext>
            </a:extLst>
          </p:cNvPr>
          <p:cNvSpPr>
            <a:spLocks xmlns:a="http://schemas.openxmlformats.org/drawingml/2006/main" noGrp="1"/>
          </p:cNvSpPr>
          <p:nvPr/>
        </p:nvSpPr>
        <p:spPr>
          <a:xfrm xmlns:a="http://schemas.openxmlformats.org/drawingml/2006/main">
            <a:off x="1066800" y="4429125"/>
            <a:ext cx="1390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2 pairs. COD.</a:t>
            </a:r>
          </a:p>
        </p:txBody>
      </p:sp>
      <p:sp>
        <p:nvSpPr>
          <p:cNvPr id="15" name="">
            <a:extLst xmlns:a="http://schemas.openxmlformats.org/drawingml/2006/main">
              <a:ext uri="{FF2B5EF4-FFF2-40B4-BE49-F238E27FC236}">
                <a16:creationId xmlns:a16="http://schemas.microsoft.com/office/drawing/2014/main" id="{D0D556F5-B264-45A8-B484-577CAF73CBF9}"/>
              </a:ext>
            </a:extLst>
          </p:cNvPr>
          <p:cNvSpPr>
            <a:spLocks xmlns:a="http://schemas.openxmlformats.org/drawingml/2006/main" noGrp="1"/>
          </p:cNvSpPr>
          <p:nvPr/>
        </p:nvSpPr>
        <p:spPr>
          <a:xfrm xmlns:a="http://schemas.openxmlformats.org/drawingml/2006/main">
            <a:off x="685800" y="5953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75E54"/>
                </a:solidFill>
              </a:defRPr>
            </a:pPr>
            <a:r>
              <a:rPr sz="1350" b="1">
                <a:solidFill>
                  <a:srgbClr val="075E54"/>
                </a:solidFill>
              </a:rPr>
              <a:t>Customer-facing assistant</a:t>
            </a:r>
          </a:p>
        </p:txBody>
      </p:sp>
      <p:sp>
        <p:nvSpPr>
          <p:cNvPr id="16" name="">
            <a:extLst xmlns:a="http://schemas.openxmlformats.org/drawingml/2006/main">
              <a:ext uri="{FF2B5EF4-FFF2-40B4-BE49-F238E27FC236}">
                <a16:creationId xmlns:a16="http://schemas.microsoft.com/office/drawing/2014/main" id="{76228102-0737-48A5-8292-1F17A8BBD85E}"/>
              </a:ext>
            </a:extLst>
          </p:cNvPr>
          <p:cNvSpPr>
            <a:spLocks xmlns:a="http://schemas.openxmlformats.org/drawingml/2006/main" noGrp="1"/>
          </p:cNvSpPr>
          <p:nvPr/>
        </p:nvSpPr>
        <p:spPr>
          <a:xfrm xmlns:a="http://schemas.openxmlformats.org/drawingml/2006/main">
            <a:off x="4476750" y="1619250"/>
            <a:ext cx="7029450" cy="4095750"/>
          </a:xfrm>
          <a:prstGeom xmlns:a="http://schemas.openxmlformats.org/drawingml/2006/main" prst="roundRect">
            <a:avLst>
              <a:gd name="adj" fmla="val 2791"/>
            </a:avLst>
          </a:prstGeom>
          <a:solidFill xmlns:a="http://schemas.openxmlformats.org/drawingml/2006/main">
            <a:srgbClr val="FFFFFF"/>
          </a:solidFill>
          <a:ln xmlns:a="http://schemas.openxmlformats.org/drawingml/2006/main" w="9525">
            <a:solidFill>
              <a:srgbClr val="D9E0DB"/>
            </a:solidFill>
            <a:prstDash val="solid"/>
          </a:ln>
        </p:spPr>
      </p:sp>
      <p:sp>
        <p:nvSpPr>
          <p:cNvPr id="17" name="">
            <a:extLst xmlns:a="http://schemas.openxmlformats.org/drawingml/2006/main">
              <a:ext uri="{FF2B5EF4-FFF2-40B4-BE49-F238E27FC236}">
                <a16:creationId xmlns:a16="http://schemas.microsoft.com/office/drawing/2014/main" id="{B0571334-652B-4BA2-9101-B001E670B9D7}"/>
              </a:ext>
            </a:extLst>
          </p:cNvPr>
          <p:cNvSpPr>
            <a:spLocks xmlns:a="http://schemas.openxmlformats.org/drawingml/2006/main" noGrp="1"/>
          </p:cNvSpPr>
          <p:nvPr/>
        </p:nvSpPr>
        <p:spPr>
          <a:xfrm xmlns:a="http://schemas.openxmlformats.org/drawingml/2006/main">
            <a:off x="4810125" y="19050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C4CF1"/>
                </a:solidFill>
              </a:defRPr>
            </a:pPr>
            <a:r>
              <a:rPr sz="1050" b="1">
                <a:solidFill>
                  <a:srgbClr val="6C4CF1"/>
                </a:solidFill>
              </a:rPr>
              <a:t>MERCHANT CONTROL</a:t>
            </a:r>
          </a:p>
        </p:txBody>
      </p:sp>
      <p:sp>
        <p:nvSpPr>
          <p:cNvPr id="18" name="">
            <a:extLst xmlns:a="http://schemas.openxmlformats.org/drawingml/2006/main">
              <a:ext uri="{FF2B5EF4-FFF2-40B4-BE49-F238E27FC236}">
                <a16:creationId xmlns:a16="http://schemas.microsoft.com/office/drawing/2014/main" id="{AE607E8F-A241-40DF-89FE-C987C81A5EA7}"/>
              </a:ext>
            </a:extLst>
          </p:cNvPr>
          <p:cNvSpPr>
            <a:spLocks xmlns:a="http://schemas.openxmlformats.org/drawingml/2006/main" noGrp="1"/>
          </p:cNvSpPr>
          <p:nvPr/>
        </p:nvSpPr>
        <p:spPr>
          <a:xfrm xmlns:a="http://schemas.openxmlformats.org/drawingml/2006/main">
            <a:off x="4810125" y="2238375"/>
            <a:ext cx="595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7211C"/>
                </a:solidFill>
              </a:defRPr>
            </a:pPr>
            <a:r>
              <a:rPr sz="2250" b="1">
                <a:solidFill>
                  <a:srgbClr val="17211C"/>
                </a:solidFill>
              </a:rPr>
              <a:t>One dashboard for the work behind the chat</a:t>
            </a:r>
          </a:p>
        </p:txBody>
      </p:sp>
      <p:sp>
        <p:nvSpPr>
          <p:cNvPr id="19" name="">
            <a:extLst xmlns:a="http://schemas.openxmlformats.org/drawingml/2006/main">
              <a:ext uri="{FF2B5EF4-FFF2-40B4-BE49-F238E27FC236}">
                <a16:creationId xmlns:a16="http://schemas.microsoft.com/office/drawing/2014/main" id="{6526A0DF-7CEA-4B7C-800C-B2E449101175}"/>
              </a:ext>
            </a:extLst>
          </p:cNvPr>
          <p:cNvSpPr>
            <a:spLocks xmlns:a="http://schemas.openxmlformats.org/drawingml/2006/main" noGrp="1"/>
          </p:cNvSpPr>
          <p:nvPr/>
        </p:nvSpPr>
        <p:spPr>
          <a:xfrm xmlns:a="http://schemas.openxmlformats.org/drawingml/2006/main">
            <a:off x="4857750" y="2962275"/>
            <a:ext cx="209550" cy="20955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20" name="">
            <a:extLst xmlns:a="http://schemas.openxmlformats.org/drawingml/2006/main">
              <a:ext uri="{FF2B5EF4-FFF2-40B4-BE49-F238E27FC236}">
                <a16:creationId xmlns:a16="http://schemas.microsoft.com/office/drawing/2014/main" id="{0B8CBF86-AB6F-4EC1-B53A-325FAB94D12D}"/>
              </a:ext>
            </a:extLst>
          </p:cNvPr>
          <p:cNvSpPr>
            <a:spLocks xmlns:a="http://schemas.openxmlformats.org/drawingml/2006/main" noGrp="1"/>
          </p:cNvSpPr>
          <p:nvPr/>
        </p:nvSpPr>
        <p:spPr>
          <a:xfrm xmlns:a="http://schemas.openxmlformats.org/drawingml/2006/main">
            <a:off x="5219700" y="2905125"/>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11C"/>
                </a:solidFill>
              </a:defRPr>
            </a:pPr>
            <a:r>
              <a:rPr sz="1425" b="1">
                <a:solidFill>
                  <a:srgbClr val="17211C"/>
                </a:solidFill>
              </a:rPr>
              <a:t>Catalog</a:t>
            </a:r>
          </a:p>
        </p:txBody>
      </p:sp>
      <p:sp>
        <p:nvSpPr>
          <p:cNvPr id="21" name="">
            <a:extLst xmlns:a="http://schemas.openxmlformats.org/drawingml/2006/main">
              <a:ext uri="{FF2B5EF4-FFF2-40B4-BE49-F238E27FC236}">
                <a16:creationId xmlns:a16="http://schemas.microsoft.com/office/drawing/2014/main" id="{E06A508B-C5FB-4996-B051-94D32B5F7465}"/>
              </a:ext>
            </a:extLst>
          </p:cNvPr>
          <p:cNvSpPr>
            <a:spLocks xmlns:a="http://schemas.openxmlformats.org/drawingml/2006/main" noGrp="1"/>
          </p:cNvSpPr>
          <p:nvPr/>
        </p:nvSpPr>
        <p:spPr>
          <a:xfrm xmlns:a="http://schemas.openxmlformats.org/drawingml/2006/main">
            <a:off x="6762750" y="2905125"/>
            <a:ext cx="4048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Products, variants, prices, stock</a:t>
            </a:r>
          </a:p>
        </p:txBody>
      </p:sp>
      <p:sp>
        <p:nvSpPr>
          <p:cNvPr id="22" name="">
            <a:extLst xmlns:a="http://schemas.openxmlformats.org/drawingml/2006/main">
              <a:ext uri="{FF2B5EF4-FFF2-40B4-BE49-F238E27FC236}">
                <a16:creationId xmlns:a16="http://schemas.microsoft.com/office/drawing/2014/main" id="{FD46FCBF-D00C-4354-85DE-B4058E170D27}"/>
              </a:ext>
            </a:extLst>
          </p:cNvPr>
          <p:cNvSpPr>
            <a:spLocks xmlns:a="http://schemas.openxmlformats.org/drawingml/2006/main" noGrp="1"/>
          </p:cNvSpPr>
          <p:nvPr/>
        </p:nvSpPr>
        <p:spPr>
          <a:xfrm xmlns:a="http://schemas.openxmlformats.org/drawingml/2006/main">
            <a:off x="4857750" y="3571875"/>
            <a:ext cx="209550" cy="209550"/>
          </a:xfrm>
          <a:prstGeom xmlns:a="http://schemas.openxmlformats.org/drawingml/2006/main" prst="ellipse">
            <a:avLst/>
          </a:prstGeom>
          <a:solidFill xmlns:a="http://schemas.openxmlformats.org/drawingml/2006/main">
            <a:srgbClr val="EEEAFE"/>
          </a:solidFill>
          <a:ln xmlns:a="http://schemas.openxmlformats.org/drawingml/2006/main" w="9525">
            <a:solidFill>
              <a:srgbClr val="EEEAFE"/>
            </a:solidFill>
            <a:prstDash val="solid"/>
          </a:ln>
        </p:spPr>
      </p:sp>
      <p:sp>
        <p:nvSpPr>
          <p:cNvPr id="23" name="">
            <a:extLst xmlns:a="http://schemas.openxmlformats.org/drawingml/2006/main">
              <a:ext uri="{FF2B5EF4-FFF2-40B4-BE49-F238E27FC236}">
                <a16:creationId xmlns:a16="http://schemas.microsoft.com/office/drawing/2014/main" id="{04A8391E-391E-4AD2-B53D-BC74B44AD370}"/>
              </a:ext>
            </a:extLst>
          </p:cNvPr>
          <p:cNvSpPr>
            <a:spLocks xmlns:a="http://schemas.openxmlformats.org/drawingml/2006/main" noGrp="1"/>
          </p:cNvSpPr>
          <p:nvPr/>
        </p:nvSpPr>
        <p:spPr>
          <a:xfrm xmlns:a="http://schemas.openxmlformats.org/drawingml/2006/main">
            <a:off x="5219700" y="3514725"/>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11C"/>
                </a:solidFill>
              </a:defRPr>
            </a:pPr>
            <a:r>
              <a:rPr sz="1425" b="1">
                <a:solidFill>
                  <a:srgbClr val="17211C"/>
                </a:solidFill>
              </a:rPr>
              <a:t>Conversations</a:t>
            </a:r>
          </a:p>
        </p:txBody>
      </p:sp>
      <p:sp>
        <p:nvSpPr>
          <p:cNvPr id="24" name="">
            <a:extLst xmlns:a="http://schemas.openxmlformats.org/drawingml/2006/main">
              <a:ext uri="{FF2B5EF4-FFF2-40B4-BE49-F238E27FC236}">
                <a16:creationId xmlns:a16="http://schemas.microsoft.com/office/drawing/2014/main" id="{534C594F-6568-427F-82ED-DE0BF551BDC1}"/>
              </a:ext>
            </a:extLst>
          </p:cNvPr>
          <p:cNvSpPr>
            <a:spLocks xmlns:a="http://schemas.openxmlformats.org/drawingml/2006/main" noGrp="1"/>
          </p:cNvSpPr>
          <p:nvPr/>
        </p:nvSpPr>
        <p:spPr>
          <a:xfrm xmlns:a="http://schemas.openxmlformats.org/drawingml/2006/main">
            <a:off x="6762750" y="3514725"/>
            <a:ext cx="4048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Context, AI/human mode, history</a:t>
            </a:r>
          </a:p>
        </p:txBody>
      </p:sp>
      <p:sp>
        <p:nvSpPr>
          <p:cNvPr id="25" name="">
            <a:extLst xmlns:a="http://schemas.openxmlformats.org/drawingml/2006/main">
              <a:ext uri="{FF2B5EF4-FFF2-40B4-BE49-F238E27FC236}">
                <a16:creationId xmlns:a16="http://schemas.microsoft.com/office/drawing/2014/main" id="{27822B7A-E803-40E7-8F42-13889D521E4C}"/>
              </a:ext>
            </a:extLst>
          </p:cNvPr>
          <p:cNvSpPr>
            <a:spLocks xmlns:a="http://schemas.openxmlformats.org/drawingml/2006/main" noGrp="1"/>
          </p:cNvSpPr>
          <p:nvPr/>
        </p:nvSpPr>
        <p:spPr>
          <a:xfrm xmlns:a="http://schemas.openxmlformats.org/drawingml/2006/main">
            <a:off x="4857750" y="4181475"/>
            <a:ext cx="209550" cy="209550"/>
          </a:xfrm>
          <a:prstGeom xmlns:a="http://schemas.openxmlformats.org/drawingml/2006/main" prst="ellipse">
            <a:avLst/>
          </a:prstGeom>
          <a:solidFill xmlns:a="http://schemas.openxmlformats.org/drawingml/2006/main">
            <a:srgbClr val="EEEAFE"/>
          </a:solidFill>
          <a:ln xmlns:a="http://schemas.openxmlformats.org/drawingml/2006/main" w="9525">
            <a:solidFill>
              <a:srgbClr val="EEEAFE"/>
            </a:solidFill>
            <a:prstDash val="solid"/>
          </a:ln>
        </p:spPr>
      </p:sp>
      <p:sp>
        <p:nvSpPr>
          <p:cNvPr id="26" name="">
            <a:extLst xmlns:a="http://schemas.openxmlformats.org/drawingml/2006/main">
              <a:ext uri="{FF2B5EF4-FFF2-40B4-BE49-F238E27FC236}">
                <a16:creationId xmlns:a16="http://schemas.microsoft.com/office/drawing/2014/main" id="{6B240DF8-EBE3-41CD-81C3-65737F197782}"/>
              </a:ext>
            </a:extLst>
          </p:cNvPr>
          <p:cNvSpPr>
            <a:spLocks xmlns:a="http://schemas.openxmlformats.org/drawingml/2006/main" noGrp="1"/>
          </p:cNvSpPr>
          <p:nvPr/>
        </p:nvSpPr>
        <p:spPr>
          <a:xfrm xmlns:a="http://schemas.openxmlformats.org/drawingml/2006/main">
            <a:off x="5219700" y="4124325"/>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11C"/>
                </a:solidFill>
              </a:defRPr>
            </a:pPr>
            <a:r>
              <a:rPr sz="1425" b="1">
                <a:solidFill>
                  <a:srgbClr val="17211C"/>
                </a:solidFill>
              </a:rPr>
              <a:t>Orders</a:t>
            </a:r>
          </a:p>
        </p:txBody>
      </p:sp>
      <p:sp>
        <p:nvSpPr>
          <p:cNvPr id="27" name="">
            <a:extLst xmlns:a="http://schemas.openxmlformats.org/drawingml/2006/main">
              <a:ext uri="{FF2B5EF4-FFF2-40B4-BE49-F238E27FC236}">
                <a16:creationId xmlns:a16="http://schemas.microsoft.com/office/drawing/2014/main" id="{595F73D7-DBE2-460D-9177-80B09E7F8E22}"/>
              </a:ext>
            </a:extLst>
          </p:cNvPr>
          <p:cNvSpPr>
            <a:spLocks xmlns:a="http://schemas.openxmlformats.org/drawingml/2006/main" noGrp="1"/>
          </p:cNvSpPr>
          <p:nvPr/>
        </p:nvSpPr>
        <p:spPr>
          <a:xfrm xmlns:a="http://schemas.openxmlformats.org/drawingml/2006/main">
            <a:off x="6762750" y="4124325"/>
            <a:ext cx="4048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Structured records and status</a:t>
            </a:r>
          </a:p>
        </p:txBody>
      </p:sp>
      <p:sp>
        <p:nvSpPr>
          <p:cNvPr id="28" name="">
            <a:extLst xmlns:a="http://schemas.openxmlformats.org/drawingml/2006/main">
              <a:ext uri="{FF2B5EF4-FFF2-40B4-BE49-F238E27FC236}">
                <a16:creationId xmlns:a16="http://schemas.microsoft.com/office/drawing/2014/main" id="{99477A8E-E423-458A-B636-D85F27F87048}"/>
              </a:ext>
            </a:extLst>
          </p:cNvPr>
          <p:cNvSpPr>
            <a:spLocks xmlns:a="http://schemas.openxmlformats.org/drawingml/2006/main" noGrp="1"/>
          </p:cNvSpPr>
          <p:nvPr/>
        </p:nvSpPr>
        <p:spPr>
          <a:xfrm xmlns:a="http://schemas.openxmlformats.org/drawingml/2006/main">
            <a:off x="4857750" y="4791075"/>
            <a:ext cx="209550" cy="209550"/>
          </a:xfrm>
          <a:prstGeom xmlns:a="http://schemas.openxmlformats.org/drawingml/2006/main" prst="ellipse">
            <a:avLst/>
          </a:prstGeom>
          <a:solidFill xmlns:a="http://schemas.openxmlformats.org/drawingml/2006/main">
            <a:srgbClr val="EEEAFE"/>
          </a:solidFill>
          <a:ln xmlns:a="http://schemas.openxmlformats.org/drawingml/2006/main" w="9525">
            <a:solidFill>
              <a:srgbClr val="EEEAFE"/>
            </a:solidFill>
            <a:prstDash val="solid"/>
          </a:ln>
        </p:spPr>
      </p:sp>
      <p:sp>
        <p:nvSpPr>
          <p:cNvPr id="29" name="">
            <a:extLst xmlns:a="http://schemas.openxmlformats.org/drawingml/2006/main">
              <a:ext uri="{FF2B5EF4-FFF2-40B4-BE49-F238E27FC236}">
                <a16:creationId xmlns:a16="http://schemas.microsoft.com/office/drawing/2014/main" id="{8440A245-F746-451C-BF38-9D646118DB17}"/>
              </a:ext>
            </a:extLst>
          </p:cNvPr>
          <p:cNvSpPr>
            <a:spLocks xmlns:a="http://schemas.openxmlformats.org/drawingml/2006/main" noGrp="1"/>
          </p:cNvSpPr>
          <p:nvPr/>
        </p:nvSpPr>
        <p:spPr>
          <a:xfrm xmlns:a="http://schemas.openxmlformats.org/drawingml/2006/main">
            <a:off x="5219700" y="4733925"/>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211C"/>
                </a:solidFill>
              </a:defRPr>
            </a:pPr>
            <a:r>
              <a:rPr sz="1425" b="1">
                <a:solidFill>
                  <a:srgbClr val="17211C"/>
                </a:solidFill>
              </a:rPr>
              <a:t>Connections</a:t>
            </a:r>
          </a:p>
        </p:txBody>
      </p:sp>
      <p:sp>
        <p:nvSpPr>
          <p:cNvPr id="30" name="">
            <a:extLst xmlns:a="http://schemas.openxmlformats.org/drawingml/2006/main">
              <a:ext uri="{FF2B5EF4-FFF2-40B4-BE49-F238E27FC236}">
                <a16:creationId xmlns:a16="http://schemas.microsoft.com/office/drawing/2014/main" id="{DE6CC11B-697F-439A-BB09-A6031BA3345D}"/>
              </a:ext>
            </a:extLst>
          </p:cNvPr>
          <p:cNvSpPr>
            <a:spLocks xmlns:a="http://schemas.openxmlformats.org/drawingml/2006/main" noGrp="1"/>
          </p:cNvSpPr>
          <p:nvPr/>
        </p:nvSpPr>
        <p:spPr>
          <a:xfrm xmlns:a="http://schemas.openxmlformats.org/drawingml/2006/main">
            <a:off x="6762750" y="4733925"/>
            <a:ext cx="4048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QR or phone-number pairing</a:t>
            </a:r>
          </a:p>
        </p:txBody>
      </p:sp>
      <p:sp>
        <p:nvSpPr>
          <p:cNvPr id="31" name="">
            <a:extLst xmlns:a="http://schemas.openxmlformats.org/drawingml/2006/main">
              <a:ext uri="{FF2B5EF4-FFF2-40B4-BE49-F238E27FC236}">
                <a16:creationId xmlns:a16="http://schemas.microsoft.com/office/drawing/2014/main" id="{53C32B2A-7AA3-4599-A72F-E49C9BC0705B}"/>
              </a:ext>
            </a:extLst>
          </p:cNvPr>
          <p:cNvSpPr>
            <a:spLocks xmlns:a="http://schemas.openxmlformats.org/drawingml/2006/main" noGrp="1"/>
          </p:cNvSpPr>
          <p:nvPr/>
        </p:nvSpPr>
        <p:spPr>
          <a:xfrm xmlns:a="http://schemas.openxmlformats.org/drawingml/2006/main">
            <a:off x="4810125" y="5362575"/>
            <a:ext cx="3143250" cy="323850"/>
          </a:xfrm>
          <a:prstGeom xmlns:a="http://schemas.openxmlformats.org/drawingml/2006/main" prst="roundRect">
            <a:avLst>
              <a:gd name="adj" fmla="val 35294"/>
            </a:avLst>
          </a:prstGeom>
          <a:solidFill xmlns:a="http://schemas.openxmlformats.org/drawingml/2006/main">
            <a:srgbClr val="E8F8EE"/>
          </a:solidFill>
          <a:ln xmlns:a="http://schemas.openxmlformats.org/drawingml/2006/main" w="9525">
            <a:solidFill>
              <a:srgbClr val="E8F8EE"/>
            </a:solidFill>
            <a:prstDash val="solid"/>
          </a:ln>
        </p:spPr>
      </p:sp>
      <p:sp>
        <p:nvSpPr>
          <p:cNvPr id="32" name="">
            <a:extLst xmlns:a="http://schemas.openxmlformats.org/drawingml/2006/main">
              <a:ext uri="{FF2B5EF4-FFF2-40B4-BE49-F238E27FC236}">
                <a16:creationId xmlns:a16="http://schemas.microsoft.com/office/drawing/2014/main" id="{1AF8A37C-CB1D-4798-AA3C-D6D7C54566AC}"/>
              </a:ext>
            </a:extLst>
          </p:cNvPr>
          <p:cNvSpPr>
            <a:spLocks xmlns:a="http://schemas.openxmlformats.org/drawingml/2006/main" noGrp="1"/>
          </p:cNvSpPr>
          <p:nvPr/>
        </p:nvSpPr>
        <p:spPr>
          <a:xfrm xmlns:a="http://schemas.openxmlformats.org/drawingml/2006/main">
            <a:off x="4905375" y="53816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075E54"/>
                </a:solidFill>
              </a:defRPr>
            </a:pPr>
            <a:r>
              <a:rPr sz="1050" b="1">
                <a:solidFill>
                  <a:srgbClr val="075E54"/>
                </a:solidFill>
              </a:rPr>
              <a:t>Uses the merchant’s existing WhatsApp</a:t>
            </a:r>
          </a:p>
        </p:txBody>
      </p:sp>
      <p:sp>
        <p:nvSpPr>
          <p:cNvPr id="33" name="">
            <a:extLst xmlns:a="http://schemas.openxmlformats.org/drawingml/2006/main">
              <a:ext uri="{FF2B5EF4-FFF2-40B4-BE49-F238E27FC236}">
                <a16:creationId xmlns:a16="http://schemas.microsoft.com/office/drawing/2014/main" id="{D8952255-426B-40F9-90A7-F754ADAF9CE5}"/>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994521008"/>
      </p:ext>
    </p:extLst>
  </p:cSld>
</p:sld>
</file>

<file path=ppt/slides/slide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A8115813-AB5A-4694-9428-185E3822FCD5}"/>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HOW IT WORKS</a:t>
            </a:r>
          </a:p>
        </p:txBody>
      </p:sp>
      <p:sp>
        <p:nvSpPr>
          <p:cNvPr id="2" name="title">
            <a:extLst xmlns:a="http://schemas.openxmlformats.org/drawingml/2006/main">
              <a:ext uri="{FF2B5EF4-FFF2-40B4-BE49-F238E27FC236}">
                <a16:creationId xmlns:a16="http://schemas.microsoft.com/office/drawing/2014/main" id="{179AFC58-8163-444C-AA1D-2EF2D94A9909}"/>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Every reply passes through a truth layer.</a:t>
            </a:r>
          </a:p>
        </p:txBody>
      </p:sp>
      <p:sp>
        <p:nvSpPr>
          <p:cNvPr id="3" name="">
            <a:extLst xmlns:a="http://schemas.openxmlformats.org/drawingml/2006/main">
              <a:ext uri="{FF2B5EF4-FFF2-40B4-BE49-F238E27FC236}">
                <a16:creationId xmlns:a16="http://schemas.microsoft.com/office/drawing/2014/main" id="{23ED6899-F25D-46A8-862B-28F73D360B4A}"/>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05</a:t>
            </a:r>
          </a:p>
        </p:txBody>
      </p:sp>
      <p:sp>
        <p:nvSpPr>
          <p:cNvPr id="4" name="">
            <a:extLst xmlns:a="http://schemas.openxmlformats.org/drawingml/2006/main">
              <a:ext uri="{FF2B5EF4-FFF2-40B4-BE49-F238E27FC236}">
                <a16:creationId xmlns:a16="http://schemas.microsoft.com/office/drawing/2014/main" id="{5062C156-F0A6-459A-854C-391F3ADF397A}"/>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139F735F-B622-4175-86EF-2C38E605D407}"/>
              </a:ext>
            </a:extLst>
          </p:cNvPr>
          <p:cNvSpPr>
            <a:spLocks xmlns:a="http://schemas.openxmlformats.org/drawingml/2006/main" noGrp="1"/>
          </p:cNvSpPr>
          <p:nvPr/>
        </p:nvSpPr>
        <p:spPr>
          <a:xfrm xmlns:a="http://schemas.openxmlformats.org/drawingml/2006/main">
            <a:off x="2019300" y="2857500"/>
            <a:ext cx="523875" cy="38100"/>
          </a:xfrm>
          <a:prstGeom xmlns:a="http://schemas.openxmlformats.org/drawingml/2006/main" prst="rect">
            <a:avLst/>
          </a:prstGeom>
          <a:solidFill xmlns:a="http://schemas.openxmlformats.org/drawingml/2006/main">
            <a:srgbClr val="25D366"/>
          </a:solidFill>
          <a:ln xmlns:a="http://schemas.openxmlformats.org/drawingml/2006/main" w="0">
            <a:solidFill>
              <a:srgbClr val="25D366"/>
            </a:solidFill>
            <a:prstDash val="solid"/>
          </a:ln>
        </p:spPr>
      </p:sp>
      <p:sp>
        <p:nvSpPr>
          <p:cNvPr id="6" name="">
            <a:extLst xmlns:a="http://schemas.openxmlformats.org/drawingml/2006/main">
              <a:ext uri="{FF2B5EF4-FFF2-40B4-BE49-F238E27FC236}">
                <a16:creationId xmlns:a16="http://schemas.microsoft.com/office/drawing/2014/main" id="{E797C536-382D-4B94-91B1-68721D7DBFBD}"/>
              </a:ext>
            </a:extLst>
          </p:cNvPr>
          <p:cNvSpPr>
            <a:spLocks xmlns:a="http://schemas.openxmlformats.org/drawingml/2006/main" noGrp="1"/>
          </p:cNvSpPr>
          <p:nvPr/>
        </p:nvSpPr>
        <p:spPr>
          <a:xfrm xmlns:a="http://schemas.openxmlformats.org/drawingml/2006/main">
            <a:off x="3857625" y="2857500"/>
            <a:ext cx="523875" cy="38100"/>
          </a:xfrm>
          <a:prstGeom xmlns:a="http://schemas.openxmlformats.org/drawingml/2006/main" prst="rect">
            <a:avLst/>
          </a:prstGeom>
          <a:solidFill xmlns:a="http://schemas.openxmlformats.org/drawingml/2006/main">
            <a:srgbClr val="25D366"/>
          </a:solidFill>
          <a:ln xmlns:a="http://schemas.openxmlformats.org/drawingml/2006/main" w="0">
            <a:solidFill>
              <a:srgbClr val="25D366"/>
            </a:solidFill>
            <a:prstDash val="solid"/>
          </a:ln>
        </p:spPr>
      </p:sp>
      <p:sp>
        <p:nvSpPr>
          <p:cNvPr id="7" name="">
            <a:extLst xmlns:a="http://schemas.openxmlformats.org/drawingml/2006/main">
              <a:ext uri="{FF2B5EF4-FFF2-40B4-BE49-F238E27FC236}">
                <a16:creationId xmlns:a16="http://schemas.microsoft.com/office/drawing/2014/main" id="{666314C4-47AC-40CF-B184-F8F23CA9080D}"/>
              </a:ext>
            </a:extLst>
          </p:cNvPr>
          <p:cNvSpPr>
            <a:spLocks xmlns:a="http://schemas.openxmlformats.org/drawingml/2006/main" noGrp="1"/>
          </p:cNvSpPr>
          <p:nvPr/>
        </p:nvSpPr>
        <p:spPr>
          <a:xfrm xmlns:a="http://schemas.openxmlformats.org/drawingml/2006/main">
            <a:off x="5695950" y="2857500"/>
            <a:ext cx="523875" cy="38100"/>
          </a:xfrm>
          <a:prstGeom xmlns:a="http://schemas.openxmlformats.org/drawingml/2006/main" prst="rect">
            <a:avLst/>
          </a:prstGeom>
          <a:solidFill xmlns:a="http://schemas.openxmlformats.org/drawingml/2006/main">
            <a:srgbClr val="25D366"/>
          </a:solidFill>
          <a:ln xmlns:a="http://schemas.openxmlformats.org/drawingml/2006/main" w="0">
            <a:solidFill>
              <a:srgbClr val="25D366"/>
            </a:solidFill>
            <a:prstDash val="solid"/>
          </a:ln>
        </p:spPr>
      </p:sp>
      <p:sp>
        <p:nvSpPr>
          <p:cNvPr id="8" name="">
            <a:extLst xmlns:a="http://schemas.openxmlformats.org/drawingml/2006/main">
              <a:ext uri="{FF2B5EF4-FFF2-40B4-BE49-F238E27FC236}">
                <a16:creationId xmlns:a16="http://schemas.microsoft.com/office/drawing/2014/main" id="{375E6AA8-436C-42E7-A43D-AB422BF53BC0}"/>
              </a:ext>
            </a:extLst>
          </p:cNvPr>
          <p:cNvSpPr>
            <a:spLocks xmlns:a="http://schemas.openxmlformats.org/drawingml/2006/main" noGrp="1"/>
          </p:cNvSpPr>
          <p:nvPr/>
        </p:nvSpPr>
        <p:spPr>
          <a:xfrm xmlns:a="http://schemas.openxmlformats.org/drawingml/2006/main">
            <a:off x="7534275" y="2857500"/>
            <a:ext cx="523875" cy="38100"/>
          </a:xfrm>
          <a:prstGeom xmlns:a="http://schemas.openxmlformats.org/drawingml/2006/main" prst="rect">
            <a:avLst/>
          </a:prstGeom>
          <a:solidFill xmlns:a="http://schemas.openxmlformats.org/drawingml/2006/main">
            <a:srgbClr val="25D366"/>
          </a:solidFill>
          <a:ln xmlns:a="http://schemas.openxmlformats.org/drawingml/2006/main" w="0">
            <a:solidFill>
              <a:srgbClr val="25D366"/>
            </a:solidFill>
            <a:prstDash val="solid"/>
          </a:ln>
        </p:spPr>
      </p:sp>
      <p:sp>
        <p:nvSpPr>
          <p:cNvPr id="9" name="">
            <a:extLst xmlns:a="http://schemas.openxmlformats.org/drawingml/2006/main">
              <a:ext uri="{FF2B5EF4-FFF2-40B4-BE49-F238E27FC236}">
                <a16:creationId xmlns:a16="http://schemas.microsoft.com/office/drawing/2014/main" id="{1B60BD94-4BDC-4E6B-BB67-C6E2FB7D69BA}"/>
              </a:ext>
            </a:extLst>
          </p:cNvPr>
          <p:cNvSpPr>
            <a:spLocks xmlns:a="http://schemas.openxmlformats.org/drawingml/2006/main" noGrp="1"/>
          </p:cNvSpPr>
          <p:nvPr/>
        </p:nvSpPr>
        <p:spPr>
          <a:xfrm xmlns:a="http://schemas.openxmlformats.org/drawingml/2006/main">
            <a:off x="9372600" y="2857500"/>
            <a:ext cx="523875" cy="38100"/>
          </a:xfrm>
          <a:prstGeom xmlns:a="http://schemas.openxmlformats.org/drawingml/2006/main" prst="rect">
            <a:avLst/>
          </a:prstGeom>
          <a:solidFill xmlns:a="http://schemas.openxmlformats.org/drawingml/2006/main">
            <a:srgbClr val="25D366"/>
          </a:solidFill>
          <a:ln xmlns:a="http://schemas.openxmlformats.org/drawingml/2006/main" w="0">
            <a:solidFill>
              <a:srgbClr val="25D366"/>
            </a:solidFill>
            <a:prstDash val="solid"/>
          </a:ln>
        </p:spPr>
      </p:sp>
      <p:sp>
        <p:nvSpPr>
          <p:cNvPr id="10" name="">
            <a:extLst xmlns:a="http://schemas.openxmlformats.org/drawingml/2006/main">
              <a:ext uri="{FF2B5EF4-FFF2-40B4-BE49-F238E27FC236}">
                <a16:creationId xmlns:a16="http://schemas.microsoft.com/office/drawing/2014/main" id="{0D83F424-F10F-4FEF-8D66-7B40797D6E63}"/>
              </a:ext>
            </a:extLst>
          </p:cNvPr>
          <p:cNvSpPr>
            <a:spLocks xmlns:a="http://schemas.openxmlformats.org/drawingml/2006/main" noGrp="1"/>
          </p:cNvSpPr>
          <p:nvPr/>
        </p:nvSpPr>
        <p:spPr>
          <a:xfrm xmlns:a="http://schemas.openxmlformats.org/drawingml/2006/main">
            <a:off x="685800" y="2286000"/>
            <a:ext cx="819150" cy="8191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E0DB"/>
            </a:solidFill>
            <a:prstDash val="solid"/>
          </a:ln>
        </p:spPr>
      </p:sp>
      <p:sp>
        <p:nvSpPr>
          <p:cNvPr id="11" name="">
            <a:extLst xmlns:a="http://schemas.openxmlformats.org/drawingml/2006/main">
              <a:ext uri="{FF2B5EF4-FFF2-40B4-BE49-F238E27FC236}">
                <a16:creationId xmlns:a16="http://schemas.microsoft.com/office/drawing/2014/main" id="{ACAD89B2-F65B-433B-92AD-61CD4E141F78}"/>
              </a:ext>
            </a:extLst>
          </p:cNvPr>
          <p:cNvSpPr>
            <a:spLocks xmlns:a="http://schemas.openxmlformats.org/drawingml/2006/main" noGrp="1"/>
          </p:cNvSpPr>
          <p:nvPr/>
        </p:nvSpPr>
        <p:spPr>
          <a:xfrm xmlns:a="http://schemas.openxmlformats.org/drawingml/2006/main">
            <a:off x="685800" y="24765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5E54"/>
                </a:solidFill>
              </a:defRPr>
            </a:pPr>
            <a:r>
              <a:rPr sz="1800" b="1">
                <a:solidFill>
                  <a:srgbClr val="075E54"/>
                </a:solidFill>
              </a:rPr>
              <a:t>1</a:t>
            </a:r>
          </a:p>
        </p:txBody>
      </p:sp>
      <p:sp>
        <p:nvSpPr>
          <p:cNvPr id="12" name="">
            <a:extLst xmlns:a="http://schemas.openxmlformats.org/drawingml/2006/main">
              <a:ext uri="{FF2B5EF4-FFF2-40B4-BE49-F238E27FC236}">
                <a16:creationId xmlns:a16="http://schemas.microsoft.com/office/drawing/2014/main" id="{A73B31E6-DE4C-4C21-978A-DD61C7F78BC8}"/>
              </a:ext>
            </a:extLst>
          </p:cNvPr>
          <p:cNvSpPr>
            <a:spLocks xmlns:a="http://schemas.openxmlformats.org/drawingml/2006/main" noGrp="1"/>
          </p:cNvSpPr>
          <p:nvPr/>
        </p:nvSpPr>
        <p:spPr>
          <a:xfrm xmlns:a="http://schemas.openxmlformats.org/drawingml/2006/main">
            <a:off x="47625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211C"/>
                </a:solidFill>
              </a:defRPr>
            </a:pPr>
            <a:r>
              <a:rPr sz="1500" b="1">
                <a:solidFill>
                  <a:srgbClr val="17211C"/>
                </a:solidFill>
              </a:rPr>
              <a:t>Message</a:t>
            </a:r>
          </a:p>
        </p:txBody>
      </p:sp>
      <p:sp>
        <p:nvSpPr>
          <p:cNvPr id="13" name="">
            <a:extLst xmlns:a="http://schemas.openxmlformats.org/drawingml/2006/main">
              <a:ext uri="{FF2B5EF4-FFF2-40B4-BE49-F238E27FC236}">
                <a16:creationId xmlns:a16="http://schemas.microsoft.com/office/drawing/2014/main" id="{D62BCE9D-3D82-43E7-8226-EA186C929FF5}"/>
              </a:ext>
            </a:extLst>
          </p:cNvPr>
          <p:cNvSpPr>
            <a:spLocks xmlns:a="http://schemas.openxmlformats.org/drawingml/2006/main" noGrp="1"/>
          </p:cNvSpPr>
          <p:nvPr/>
        </p:nvSpPr>
        <p:spPr>
          <a:xfrm xmlns:a="http://schemas.openxmlformats.org/drawingml/2006/main">
            <a:off x="381000" y="37147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F6B64"/>
                </a:solidFill>
              </a:defRPr>
            </a:pPr>
            <a:r>
              <a:rPr sz="1200" b="0">
                <a:solidFill>
                  <a:srgbClr val="5F6B64"/>
                </a:solidFill>
              </a:rPr>
              <a:t>Text • image • voice</a:t>
            </a:r>
          </a:p>
        </p:txBody>
      </p:sp>
      <p:sp>
        <p:nvSpPr>
          <p:cNvPr id="14" name="">
            <a:extLst xmlns:a="http://schemas.openxmlformats.org/drawingml/2006/main">
              <a:ext uri="{FF2B5EF4-FFF2-40B4-BE49-F238E27FC236}">
                <a16:creationId xmlns:a16="http://schemas.microsoft.com/office/drawing/2014/main" id="{B17DB266-FE3C-491F-9F37-95F9AC03359F}"/>
              </a:ext>
            </a:extLst>
          </p:cNvPr>
          <p:cNvSpPr>
            <a:spLocks xmlns:a="http://schemas.openxmlformats.org/drawingml/2006/main" noGrp="1"/>
          </p:cNvSpPr>
          <p:nvPr/>
        </p:nvSpPr>
        <p:spPr>
          <a:xfrm xmlns:a="http://schemas.openxmlformats.org/drawingml/2006/main">
            <a:off x="2524125" y="2286000"/>
            <a:ext cx="819150" cy="8191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E0DB"/>
            </a:solidFill>
            <a:prstDash val="solid"/>
          </a:ln>
        </p:spPr>
      </p:sp>
      <p:sp>
        <p:nvSpPr>
          <p:cNvPr id="15" name="">
            <a:extLst xmlns:a="http://schemas.openxmlformats.org/drawingml/2006/main">
              <a:ext uri="{FF2B5EF4-FFF2-40B4-BE49-F238E27FC236}">
                <a16:creationId xmlns:a16="http://schemas.microsoft.com/office/drawing/2014/main" id="{7AA25376-7579-4F38-A9AD-F75C4BBF54E5}"/>
              </a:ext>
            </a:extLst>
          </p:cNvPr>
          <p:cNvSpPr>
            <a:spLocks xmlns:a="http://schemas.openxmlformats.org/drawingml/2006/main" noGrp="1"/>
          </p:cNvSpPr>
          <p:nvPr/>
        </p:nvSpPr>
        <p:spPr>
          <a:xfrm xmlns:a="http://schemas.openxmlformats.org/drawingml/2006/main">
            <a:off x="2524125" y="24765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5E54"/>
                </a:solidFill>
              </a:defRPr>
            </a:pPr>
            <a:r>
              <a:rPr sz="1800" b="1">
                <a:solidFill>
                  <a:srgbClr val="075E54"/>
                </a:solidFill>
              </a:rPr>
              <a:t>2</a:t>
            </a:r>
          </a:p>
        </p:txBody>
      </p:sp>
      <p:sp>
        <p:nvSpPr>
          <p:cNvPr id="16" name="">
            <a:extLst xmlns:a="http://schemas.openxmlformats.org/drawingml/2006/main">
              <a:ext uri="{FF2B5EF4-FFF2-40B4-BE49-F238E27FC236}">
                <a16:creationId xmlns:a16="http://schemas.microsoft.com/office/drawing/2014/main" id="{F668F902-8ADD-4D22-9D0D-84AE49AB8227}"/>
              </a:ext>
            </a:extLst>
          </p:cNvPr>
          <p:cNvSpPr>
            <a:spLocks xmlns:a="http://schemas.openxmlformats.org/drawingml/2006/main" noGrp="1"/>
          </p:cNvSpPr>
          <p:nvPr/>
        </p:nvSpPr>
        <p:spPr>
          <a:xfrm xmlns:a="http://schemas.openxmlformats.org/drawingml/2006/main">
            <a:off x="2314575"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211C"/>
                </a:solidFill>
              </a:defRPr>
            </a:pPr>
            <a:r>
              <a:rPr sz="1500" b="1">
                <a:solidFill>
                  <a:srgbClr val="17211C"/>
                </a:solidFill>
              </a:rPr>
              <a:t>Understand</a:t>
            </a:r>
          </a:p>
        </p:txBody>
      </p:sp>
      <p:sp>
        <p:nvSpPr>
          <p:cNvPr id="17" name="">
            <a:extLst xmlns:a="http://schemas.openxmlformats.org/drawingml/2006/main">
              <a:ext uri="{FF2B5EF4-FFF2-40B4-BE49-F238E27FC236}">
                <a16:creationId xmlns:a16="http://schemas.microsoft.com/office/drawing/2014/main" id="{BE1440C9-0931-4166-87A5-0229AD4DC02E}"/>
              </a:ext>
            </a:extLst>
          </p:cNvPr>
          <p:cNvSpPr>
            <a:spLocks xmlns:a="http://schemas.openxmlformats.org/drawingml/2006/main" noGrp="1"/>
          </p:cNvSpPr>
          <p:nvPr/>
        </p:nvSpPr>
        <p:spPr>
          <a:xfrm xmlns:a="http://schemas.openxmlformats.org/drawingml/2006/main">
            <a:off x="2219325" y="37147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F6B64"/>
                </a:solidFill>
              </a:defRPr>
            </a:pPr>
            <a:r>
              <a:rPr sz="1200" b="0">
                <a:solidFill>
                  <a:srgbClr val="5F6B64"/>
                </a:solidFill>
              </a:rPr>
              <a:t>Intent • language</a:t>
            </a:r>
          </a:p>
        </p:txBody>
      </p:sp>
      <p:sp>
        <p:nvSpPr>
          <p:cNvPr id="18" name="">
            <a:extLst xmlns:a="http://schemas.openxmlformats.org/drawingml/2006/main">
              <a:ext uri="{FF2B5EF4-FFF2-40B4-BE49-F238E27FC236}">
                <a16:creationId xmlns:a16="http://schemas.microsoft.com/office/drawing/2014/main" id="{6B408D98-50BD-40E3-B4B2-09F758A85C28}"/>
              </a:ext>
            </a:extLst>
          </p:cNvPr>
          <p:cNvSpPr>
            <a:spLocks xmlns:a="http://schemas.openxmlformats.org/drawingml/2006/main" noGrp="1"/>
          </p:cNvSpPr>
          <p:nvPr/>
        </p:nvSpPr>
        <p:spPr>
          <a:xfrm xmlns:a="http://schemas.openxmlformats.org/drawingml/2006/main">
            <a:off x="4362450" y="2286000"/>
            <a:ext cx="819150" cy="81915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9" name="">
            <a:extLst xmlns:a="http://schemas.openxmlformats.org/drawingml/2006/main">
              <a:ext uri="{FF2B5EF4-FFF2-40B4-BE49-F238E27FC236}">
                <a16:creationId xmlns:a16="http://schemas.microsoft.com/office/drawing/2014/main" id="{CD59039B-4278-4DAD-BB01-66E6F0848E17}"/>
              </a:ext>
            </a:extLst>
          </p:cNvPr>
          <p:cNvSpPr>
            <a:spLocks xmlns:a="http://schemas.openxmlformats.org/drawingml/2006/main" noGrp="1"/>
          </p:cNvSpPr>
          <p:nvPr/>
        </p:nvSpPr>
        <p:spPr>
          <a:xfrm xmlns:a="http://schemas.openxmlformats.org/drawingml/2006/main">
            <a:off x="4362450" y="24765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3</a:t>
            </a:r>
          </a:p>
        </p:txBody>
      </p:sp>
      <p:sp>
        <p:nvSpPr>
          <p:cNvPr id="20" name="">
            <a:extLst xmlns:a="http://schemas.openxmlformats.org/drawingml/2006/main">
              <a:ext uri="{FF2B5EF4-FFF2-40B4-BE49-F238E27FC236}">
                <a16:creationId xmlns:a16="http://schemas.microsoft.com/office/drawing/2014/main" id="{88CF54A7-2745-4D3D-99B3-C3FF8688FA13}"/>
              </a:ext>
            </a:extLst>
          </p:cNvPr>
          <p:cNvSpPr>
            <a:spLocks xmlns:a="http://schemas.openxmlformats.org/drawingml/2006/main" noGrp="1"/>
          </p:cNvSpPr>
          <p:nvPr/>
        </p:nvSpPr>
        <p:spPr>
          <a:xfrm xmlns:a="http://schemas.openxmlformats.org/drawingml/2006/main">
            <a:off x="415290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211C"/>
                </a:solidFill>
              </a:defRPr>
            </a:pPr>
            <a:r>
              <a:rPr sz="1500" b="1">
                <a:solidFill>
                  <a:srgbClr val="17211C"/>
                </a:solidFill>
              </a:rPr>
              <a:t>Check</a:t>
            </a:r>
          </a:p>
        </p:txBody>
      </p:sp>
      <p:sp>
        <p:nvSpPr>
          <p:cNvPr id="21" name="">
            <a:extLst xmlns:a="http://schemas.openxmlformats.org/drawingml/2006/main">
              <a:ext uri="{FF2B5EF4-FFF2-40B4-BE49-F238E27FC236}">
                <a16:creationId xmlns:a16="http://schemas.microsoft.com/office/drawing/2014/main" id="{2B3B1C5E-9A6B-46C8-9628-F6AF1A2E6E10}"/>
              </a:ext>
            </a:extLst>
          </p:cNvPr>
          <p:cNvSpPr>
            <a:spLocks xmlns:a="http://schemas.openxmlformats.org/drawingml/2006/main" noGrp="1"/>
          </p:cNvSpPr>
          <p:nvPr/>
        </p:nvSpPr>
        <p:spPr>
          <a:xfrm xmlns:a="http://schemas.openxmlformats.org/drawingml/2006/main">
            <a:off x="4057650" y="37147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F6B64"/>
                </a:solidFill>
              </a:defRPr>
            </a:pPr>
            <a:r>
              <a:rPr sz="1200" b="0">
                <a:solidFill>
                  <a:srgbClr val="5F6B64"/>
                </a:solidFill>
              </a:rPr>
              <a:t>Catalog • stock • policy</a:t>
            </a:r>
          </a:p>
        </p:txBody>
      </p:sp>
      <p:sp>
        <p:nvSpPr>
          <p:cNvPr id="22" name="">
            <a:extLst xmlns:a="http://schemas.openxmlformats.org/drawingml/2006/main">
              <a:ext uri="{FF2B5EF4-FFF2-40B4-BE49-F238E27FC236}">
                <a16:creationId xmlns:a16="http://schemas.microsoft.com/office/drawing/2014/main" id="{CEB9A556-77C7-4EA7-89D8-BA78C02998D0}"/>
              </a:ext>
            </a:extLst>
          </p:cNvPr>
          <p:cNvSpPr>
            <a:spLocks xmlns:a="http://schemas.openxmlformats.org/drawingml/2006/main" noGrp="1"/>
          </p:cNvSpPr>
          <p:nvPr/>
        </p:nvSpPr>
        <p:spPr>
          <a:xfrm xmlns:a="http://schemas.openxmlformats.org/drawingml/2006/main">
            <a:off x="6200775" y="2286000"/>
            <a:ext cx="819150" cy="8191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E0DB"/>
            </a:solidFill>
            <a:prstDash val="solid"/>
          </a:ln>
        </p:spPr>
      </p:sp>
      <p:sp>
        <p:nvSpPr>
          <p:cNvPr id="23" name="">
            <a:extLst xmlns:a="http://schemas.openxmlformats.org/drawingml/2006/main">
              <a:ext uri="{FF2B5EF4-FFF2-40B4-BE49-F238E27FC236}">
                <a16:creationId xmlns:a16="http://schemas.microsoft.com/office/drawing/2014/main" id="{E74C0D2A-A96A-43A9-A4AB-906409A70078}"/>
              </a:ext>
            </a:extLst>
          </p:cNvPr>
          <p:cNvSpPr>
            <a:spLocks xmlns:a="http://schemas.openxmlformats.org/drawingml/2006/main" noGrp="1"/>
          </p:cNvSpPr>
          <p:nvPr/>
        </p:nvSpPr>
        <p:spPr>
          <a:xfrm xmlns:a="http://schemas.openxmlformats.org/drawingml/2006/main">
            <a:off x="6200775" y="24765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5E54"/>
                </a:solidFill>
              </a:defRPr>
            </a:pPr>
            <a:r>
              <a:rPr sz="1800" b="1">
                <a:solidFill>
                  <a:srgbClr val="075E54"/>
                </a:solidFill>
              </a:rPr>
              <a:t>4</a:t>
            </a:r>
          </a:p>
        </p:txBody>
      </p:sp>
      <p:sp>
        <p:nvSpPr>
          <p:cNvPr id="24" name="">
            <a:extLst xmlns:a="http://schemas.openxmlformats.org/drawingml/2006/main">
              <a:ext uri="{FF2B5EF4-FFF2-40B4-BE49-F238E27FC236}">
                <a16:creationId xmlns:a16="http://schemas.microsoft.com/office/drawing/2014/main" id="{EA6C2F97-0528-4AEF-BCC1-B507FE791254}"/>
              </a:ext>
            </a:extLst>
          </p:cNvPr>
          <p:cNvSpPr>
            <a:spLocks xmlns:a="http://schemas.openxmlformats.org/drawingml/2006/main" noGrp="1"/>
          </p:cNvSpPr>
          <p:nvPr/>
        </p:nvSpPr>
        <p:spPr>
          <a:xfrm xmlns:a="http://schemas.openxmlformats.org/drawingml/2006/main">
            <a:off x="5991225"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211C"/>
                </a:solidFill>
              </a:defRPr>
            </a:pPr>
            <a:r>
              <a:rPr sz="1500" b="1">
                <a:solidFill>
                  <a:srgbClr val="17211C"/>
                </a:solidFill>
              </a:rPr>
              <a:t>Reply</a:t>
            </a:r>
          </a:p>
        </p:txBody>
      </p:sp>
      <p:sp>
        <p:nvSpPr>
          <p:cNvPr id="25" name="">
            <a:extLst xmlns:a="http://schemas.openxmlformats.org/drawingml/2006/main">
              <a:ext uri="{FF2B5EF4-FFF2-40B4-BE49-F238E27FC236}">
                <a16:creationId xmlns:a16="http://schemas.microsoft.com/office/drawing/2014/main" id="{B4096E07-3205-4CF2-B589-A0F1E4779700}"/>
              </a:ext>
            </a:extLst>
          </p:cNvPr>
          <p:cNvSpPr>
            <a:spLocks xmlns:a="http://schemas.openxmlformats.org/drawingml/2006/main" noGrp="1"/>
          </p:cNvSpPr>
          <p:nvPr/>
        </p:nvSpPr>
        <p:spPr>
          <a:xfrm xmlns:a="http://schemas.openxmlformats.org/drawingml/2006/main">
            <a:off x="5895975" y="37147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F6B64"/>
                </a:solidFill>
              </a:defRPr>
            </a:pPr>
            <a:r>
              <a:rPr sz="1200" b="0">
                <a:solidFill>
                  <a:srgbClr val="5F6B64"/>
                </a:solidFill>
              </a:rPr>
              <a:t>Grounded answer</a:t>
            </a:r>
          </a:p>
        </p:txBody>
      </p:sp>
      <p:sp>
        <p:nvSpPr>
          <p:cNvPr id="26" name="">
            <a:extLst xmlns:a="http://schemas.openxmlformats.org/drawingml/2006/main">
              <a:ext uri="{FF2B5EF4-FFF2-40B4-BE49-F238E27FC236}">
                <a16:creationId xmlns:a16="http://schemas.microsoft.com/office/drawing/2014/main" id="{4D6E66FC-C217-4AC3-B5BF-58D588DCB274}"/>
              </a:ext>
            </a:extLst>
          </p:cNvPr>
          <p:cNvSpPr>
            <a:spLocks xmlns:a="http://schemas.openxmlformats.org/drawingml/2006/main" noGrp="1"/>
          </p:cNvSpPr>
          <p:nvPr/>
        </p:nvSpPr>
        <p:spPr>
          <a:xfrm xmlns:a="http://schemas.openxmlformats.org/drawingml/2006/main">
            <a:off x="8039100" y="2286000"/>
            <a:ext cx="819150" cy="8191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E0DB"/>
            </a:solidFill>
            <a:prstDash val="solid"/>
          </a:ln>
        </p:spPr>
      </p:sp>
      <p:sp>
        <p:nvSpPr>
          <p:cNvPr id="27" name="">
            <a:extLst xmlns:a="http://schemas.openxmlformats.org/drawingml/2006/main">
              <a:ext uri="{FF2B5EF4-FFF2-40B4-BE49-F238E27FC236}">
                <a16:creationId xmlns:a16="http://schemas.microsoft.com/office/drawing/2014/main" id="{990A760E-5F5A-4EA3-8329-5415EC9C3097}"/>
              </a:ext>
            </a:extLst>
          </p:cNvPr>
          <p:cNvSpPr>
            <a:spLocks xmlns:a="http://schemas.openxmlformats.org/drawingml/2006/main" noGrp="1"/>
          </p:cNvSpPr>
          <p:nvPr/>
        </p:nvSpPr>
        <p:spPr>
          <a:xfrm xmlns:a="http://schemas.openxmlformats.org/drawingml/2006/main">
            <a:off x="8039100" y="24765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5E54"/>
                </a:solidFill>
              </a:defRPr>
            </a:pPr>
            <a:r>
              <a:rPr sz="1800" b="1">
                <a:solidFill>
                  <a:srgbClr val="075E54"/>
                </a:solidFill>
              </a:rPr>
              <a:t>5</a:t>
            </a:r>
          </a:p>
        </p:txBody>
      </p:sp>
      <p:sp>
        <p:nvSpPr>
          <p:cNvPr id="28" name="">
            <a:extLst xmlns:a="http://schemas.openxmlformats.org/drawingml/2006/main">
              <a:ext uri="{FF2B5EF4-FFF2-40B4-BE49-F238E27FC236}">
                <a16:creationId xmlns:a16="http://schemas.microsoft.com/office/drawing/2014/main" id="{A680F7F3-6B18-4850-8D4E-B7FC001FFB59}"/>
              </a:ext>
            </a:extLst>
          </p:cNvPr>
          <p:cNvSpPr>
            <a:spLocks xmlns:a="http://schemas.openxmlformats.org/drawingml/2006/main" noGrp="1"/>
          </p:cNvSpPr>
          <p:nvPr/>
        </p:nvSpPr>
        <p:spPr>
          <a:xfrm xmlns:a="http://schemas.openxmlformats.org/drawingml/2006/main">
            <a:off x="7829550"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211C"/>
                </a:solidFill>
              </a:defRPr>
            </a:pPr>
            <a:r>
              <a:rPr sz="1500" b="1">
                <a:solidFill>
                  <a:srgbClr val="17211C"/>
                </a:solidFill>
              </a:rPr>
              <a:t>Act</a:t>
            </a:r>
          </a:p>
        </p:txBody>
      </p:sp>
      <p:sp>
        <p:nvSpPr>
          <p:cNvPr id="29" name="">
            <a:extLst xmlns:a="http://schemas.openxmlformats.org/drawingml/2006/main">
              <a:ext uri="{FF2B5EF4-FFF2-40B4-BE49-F238E27FC236}">
                <a16:creationId xmlns:a16="http://schemas.microsoft.com/office/drawing/2014/main" id="{8F8FF042-2D25-4C5D-8E85-CF328F1E4199}"/>
              </a:ext>
            </a:extLst>
          </p:cNvPr>
          <p:cNvSpPr>
            <a:spLocks xmlns:a="http://schemas.openxmlformats.org/drawingml/2006/main" noGrp="1"/>
          </p:cNvSpPr>
          <p:nvPr/>
        </p:nvSpPr>
        <p:spPr>
          <a:xfrm xmlns:a="http://schemas.openxmlformats.org/drawingml/2006/main">
            <a:off x="7734300" y="37147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F6B64"/>
                </a:solidFill>
              </a:defRPr>
            </a:pPr>
            <a:r>
              <a:rPr sz="1200" b="0">
                <a:solidFill>
                  <a:srgbClr val="5F6B64"/>
                </a:solidFill>
              </a:rPr>
              <a:t>Order • handoff</a:t>
            </a:r>
          </a:p>
        </p:txBody>
      </p:sp>
      <p:sp>
        <p:nvSpPr>
          <p:cNvPr id="30" name="">
            <a:extLst xmlns:a="http://schemas.openxmlformats.org/drawingml/2006/main">
              <a:ext uri="{FF2B5EF4-FFF2-40B4-BE49-F238E27FC236}">
                <a16:creationId xmlns:a16="http://schemas.microsoft.com/office/drawing/2014/main" id="{94B6951E-0A8F-43DC-AEB9-2B98BEE03F01}"/>
              </a:ext>
            </a:extLst>
          </p:cNvPr>
          <p:cNvSpPr>
            <a:spLocks xmlns:a="http://schemas.openxmlformats.org/drawingml/2006/main" noGrp="1"/>
          </p:cNvSpPr>
          <p:nvPr/>
        </p:nvSpPr>
        <p:spPr>
          <a:xfrm xmlns:a="http://schemas.openxmlformats.org/drawingml/2006/main">
            <a:off x="9877425" y="2286000"/>
            <a:ext cx="819150" cy="819150"/>
          </a:xfrm>
          <a:prstGeom xmlns:a="http://schemas.openxmlformats.org/drawingml/2006/main" prst="ellipse">
            <a:avLst/>
          </a:prstGeom>
          <a:solidFill xmlns:a="http://schemas.openxmlformats.org/drawingml/2006/main">
            <a:srgbClr val="FFFFFF"/>
          </a:solidFill>
          <a:ln xmlns:a="http://schemas.openxmlformats.org/drawingml/2006/main" w="9525">
            <a:solidFill>
              <a:srgbClr val="D9E0DB"/>
            </a:solidFill>
            <a:prstDash val="solid"/>
          </a:ln>
        </p:spPr>
      </p:sp>
      <p:sp>
        <p:nvSpPr>
          <p:cNvPr id="31" name="">
            <a:extLst xmlns:a="http://schemas.openxmlformats.org/drawingml/2006/main">
              <a:ext uri="{FF2B5EF4-FFF2-40B4-BE49-F238E27FC236}">
                <a16:creationId xmlns:a16="http://schemas.microsoft.com/office/drawing/2014/main" id="{A9243038-45F5-44F1-B20B-5006E5AD4F23}"/>
              </a:ext>
            </a:extLst>
          </p:cNvPr>
          <p:cNvSpPr>
            <a:spLocks xmlns:a="http://schemas.openxmlformats.org/drawingml/2006/main" noGrp="1"/>
          </p:cNvSpPr>
          <p:nvPr/>
        </p:nvSpPr>
        <p:spPr>
          <a:xfrm xmlns:a="http://schemas.openxmlformats.org/drawingml/2006/main">
            <a:off x="9877425" y="247650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75E54"/>
                </a:solidFill>
              </a:defRPr>
            </a:pPr>
            <a:r>
              <a:rPr sz="1800" b="1">
                <a:solidFill>
                  <a:srgbClr val="075E54"/>
                </a:solidFill>
              </a:rPr>
              <a:t>6</a:t>
            </a:r>
          </a:p>
        </p:txBody>
      </p:sp>
      <p:sp>
        <p:nvSpPr>
          <p:cNvPr id="32" name="">
            <a:extLst xmlns:a="http://schemas.openxmlformats.org/drawingml/2006/main">
              <a:ext uri="{FF2B5EF4-FFF2-40B4-BE49-F238E27FC236}">
                <a16:creationId xmlns:a16="http://schemas.microsoft.com/office/drawing/2014/main" id="{C9AABB76-226E-4302-9B91-95DF9C4DA1AD}"/>
              </a:ext>
            </a:extLst>
          </p:cNvPr>
          <p:cNvSpPr>
            <a:spLocks xmlns:a="http://schemas.openxmlformats.org/drawingml/2006/main" noGrp="1"/>
          </p:cNvSpPr>
          <p:nvPr/>
        </p:nvSpPr>
        <p:spPr>
          <a:xfrm xmlns:a="http://schemas.openxmlformats.org/drawingml/2006/main">
            <a:off x="9667875" y="33337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211C"/>
                </a:solidFill>
              </a:defRPr>
            </a:pPr>
            <a:r>
              <a:rPr sz="1500" b="1">
                <a:solidFill>
                  <a:srgbClr val="17211C"/>
                </a:solidFill>
              </a:rPr>
              <a:t>Control</a:t>
            </a:r>
          </a:p>
        </p:txBody>
      </p:sp>
      <p:sp>
        <p:nvSpPr>
          <p:cNvPr id="33" name="">
            <a:extLst xmlns:a="http://schemas.openxmlformats.org/drawingml/2006/main">
              <a:ext uri="{FF2B5EF4-FFF2-40B4-BE49-F238E27FC236}">
                <a16:creationId xmlns:a16="http://schemas.microsoft.com/office/drawing/2014/main" id="{2D0D614D-8368-4148-AB06-F7C580E30F39}"/>
              </a:ext>
            </a:extLst>
          </p:cNvPr>
          <p:cNvSpPr>
            <a:spLocks xmlns:a="http://schemas.openxmlformats.org/drawingml/2006/main" noGrp="1"/>
          </p:cNvSpPr>
          <p:nvPr/>
        </p:nvSpPr>
        <p:spPr>
          <a:xfrm xmlns:a="http://schemas.openxmlformats.org/drawingml/2006/main">
            <a:off x="9572625" y="37147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5F6B64"/>
                </a:solidFill>
              </a:defRPr>
            </a:pPr>
            <a:r>
              <a:rPr sz="1200" b="0">
                <a:solidFill>
                  <a:srgbClr val="5F6B64"/>
                </a:solidFill>
              </a:rPr>
              <a:t>Merchant dashboard</a:t>
            </a:r>
          </a:p>
        </p:txBody>
      </p:sp>
      <p:sp>
        <p:nvSpPr>
          <p:cNvPr id="34" name="">
            <a:extLst xmlns:a="http://schemas.openxmlformats.org/drawingml/2006/main">
              <a:ext uri="{FF2B5EF4-FFF2-40B4-BE49-F238E27FC236}">
                <a16:creationId xmlns:a16="http://schemas.microsoft.com/office/drawing/2014/main" id="{7358D955-6A06-473C-B2C7-A43EB805883C}"/>
              </a:ext>
            </a:extLst>
          </p:cNvPr>
          <p:cNvSpPr>
            <a:spLocks xmlns:a="http://schemas.openxmlformats.org/drawingml/2006/main" noGrp="1"/>
          </p:cNvSpPr>
          <p:nvPr/>
        </p:nvSpPr>
        <p:spPr>
          <a:xfrm xmlns:a="http://schemas.openxmlformats.org/drawingml/2006/main">
            <a:off x="2038350" y="4810125"/>
            <a:ext cx="8115300" cy="800100"/>
          </a:xfrm>
          <a:prstGeom xmlns:a="http://schemas.openxmlformats.org/drawingml/2006/main" prst="roundRect">
            <a:avLst>
              <a:gd name="adj" fmla="val 14286"/>
            </a:avLst>
          </a:prstGeom>
          <a:solidFill xmlns:a="http://schemas.openxmlformats.org/drawingml/2006/main">
            <a:srgbClr val="075E54"/>
          </a:solidFill>
          <a:ln xmlns:a="http://schemas.openxmlformats.org/drawingml/2006/main" w="9525">
            <a:solidFill>
              <a:srgbClr val="075E54"/>
            </a:solidFill>
            <a:prstDash val="solid"/>
          </a:ln>
        </p:spPr>
      </p:sp>
      <p:sp>
        <p:nvSpPr>
          <p:cNvPr id="35" name="">
            <a:extLst xmlns:a="http://schemas.openxmlformats.org/drawingml/2006/main">
              <a:ext uri="{FF2B5EF4-FFF2-40B4-BE49-F238E27FC236}">
                <a16:creationId xmlns:a16="http://schemas.microsoft.com/office/drawing/2014/main" id="{E5A8E453-9A61-4725-90EB-5A82FCBD7A60}"/>
              </a:ext>
            </a:extLst>
          </p:cNvPr>
          <p:cNvSpPr>
            <a:spLocks xmlns:a="http://schemas.openxmlformats.org/drawingml/2006/main" noGrp="1"/>
          </p:cNvSpPr>
          <p:nvPr/>
        </p:nvSpPr>
        <p:spPr>
          <a:xfrm xmlns:a="http://schemas.openxmlformats.org/drawingml/2006/main">
            <a:off x="2286000" y="4953000"/>
            <a:ext cx="762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The model can phrase. It cannot invent a product, variant, price or stock state.</a:t>
            </a:r>
          </a:p>
        </p:txBody>
      </p:sp>
      <p:sp>
        <p:nvSpPr>
          <p:cNvPr id="36" name="">
            <a:extLst xmlns:a="http://schemas.openxmlformats.org/drawingml/2006/main">
              <a:ext uri="{FF2B5EF4-FFF2-40B4-BE49-F238E27FC236}">
                <a16:creationId xmlns:a16="http://schemas.microsoft.com/office/drawing/2014/main" id="{BDB2EF2B-8F74-44C7-9027-B3DC29E74574}"/>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469225647"/>
      </p:ext>
    </p:extLst>
  </p:cSld>
</p:sld>
</file>

<file path=ppt/slides/slide6.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5898EE3-3A1C-4F2F-9073-2B2EE94F4B5E}"/>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LIVE STORY</a:t>
            </a:r>
          </a:p>
        </p:txBody>
      </p:sp>
      <p:sp>
        <p:nvSpPr>
          <p:cNvPr id="2" name="title">
            <a:extLst xmlns:a="http://schemas.openxmlformats.org/drawingml/2006/main">
              <a:ext uri="{FF2B5EF4-FFF2-40B4-BE49-F238E27FC236}">
                <a16:creationId xmlns:a16="http://schemas.microsoft.com/office/drawing/2014/main" id="{2F0840B8-FF4D-4AFD-8C4D-0AB86541800E}"/>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One minute from ‘dikhao’ to a recorded order.</a:t>
            </a:r>
          </a:p>
        </p:txBody>
      </p:sp>
      <p:sp>
        <p:nvSpPr>
          <p:cNvPr id="3" name="">
            <a:extLst xmlns:a="http://schemas.openxmlformats.org/drawingml/2006/main">
              <a:ext uri="{FF2B5EF4-FFF2-40B4-BE49-F238E27FC236}">
                <a16:creationId xmlns:a16="http://schemas.microsoft.com/office/drawing/2014/main" id="{67BF57C8-520F-413F-8B87-078487BB0068}"/>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06</a:t>
            </a:r>
          </a:p>
        </p:txBody>
      </p:sp>
      <p:sp>
        <p:nvSpPr>
          <p:cNvPr id="4" name="">
            <a:extLst xmlns:a="http://schemas.openxmlformats.org/drawingml/2006/main">
              <a:ext uri="{FF2B5EF4-FFF2-40B4-BE49-F238E27FC236}">
                <a16:creationId xmlns:a16="http://schemas.microsoft.com/office/drawing/2014/main" id="{C727E690-5D50-4321-92C6-6CF8B129D07D}"/>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BEB2C570-E8CE-4CE5-A529-E1E65E468A69}"/>
              </a:ext>
            </a:extLst>
          </p:cNvPr>
          <p:cNvSpPr>
            <a:spLocks xmlns:a="http://schemas.openxmlformats.org/drawingml/2006/main" noGrp="1"/>
          </p:cNvSpPr>
          <p:nvPr/>
        </p:nvSpPr>
        <p:spPr>
          <a:xfrm xmlns:a="http://schemas.openxmlformats.org/drawingml/2006/main">
            <a:off x="685800" y="1600200"/>
            <a:ext cx="3524250" cy="4286250"/>
          </a:xfrm>
          <a:prstGeom xmlns:a="http://schemas.openxmlformats.org/drawingml/2006/main" prst="roundRect">
            <a:avLst>
              <a:gd name="adj" fmla="val 3243"/>
            </a:avLst>
          </a:prstGeom>
          <a:solidFill xmlns:a="http://schemas.openxmlformats.org/drawingml/2006/main">
            <a:srgbClr val="101A15"/>
          </a:solidFill>
          <a:ln xmlns:a="http://schemas.openxmlformats.org/drawingml/2006/main" w="9525">
            <a:solidFill>
              <a:srgbClr val="101A15"/>
            </a:solidFill>
            <a:prstDash val="solid"/>
          </a:ln>
        </p:spPr>
      </p:sp>
      <p:sp>
        <p:nvSpPr>
          <p:cNvPr id="6" name="">
            <a:extLst xmlns:a="http://schemas.openxmlformats.org/drawingml/2006/main">
              <a:ext uri="{FF2B5EF4-FFF2-40B4-BE49-F238E27FC236}">
                <a16:creationId xmlns:a16="http://schemas.microsoft.com/office/drawing/2014/main" id="{5DE852F7-0142-4307-9574-6069E5C1878E}"/>
              </a:ext>
            </a:extLst>
          </p:cNvPr>
          <p:cNvSpPr>
            <a:spLocks xmlns:a="http://schemas.openxmlformats.org/drawingml/2006/main" noGrp="1"/>
          </p:cNvSpPr>
          <p:nvPr/>
        </p:nvSpPr>
        <p:spPr>
          <a:xfrm xmlns:a="http://schemas.openxmlformats.org/drawingml/2006/main">
            <a:off x="781050" y="1714500"/>
            <a:ext cx="3333750" cy="4057650"/>
          </a:xfrm>
          <a:prstGeom xmlns:a="http://schemas.openxmlformats.org/drawingml/2006/main" prst="roundRect">
            <a:avLst>
              <a:gd name="adj" fmla="val 3429"/>
            </a:avLst>
          </a:prstGeom>
          <a:solidFill xmlns:a="http://schemas.openxmlformats.org/drawingml/2006/main">
            <a:srgbClr val="EEF3EF"/>
          </a:solidFill>
          <a:ln xmlns:a="http://schemas.openxmlformats.org/drawingml/2006/main" w="9525">
            <a:solidFill>
              <a:srgbClr val="EEF3EF"/>
            </a:solidFill>
            <a:prstDash val="solid"/>
          </a:ln>
        </p:spPr>
      </p:sp>
      <p:sp>
        <p:nvSpPr>
          <p:cNvPr id="7" name="">
            <a:extLst xmlns:a="http://schemas.openxmlformats.org/drawingml/2006/main">
              <a:ext uri="{FF2B5EF4-FFF2-40B4-BE49-F238E27FC236}">
                <a16:creationId xmlns:a16="http://schemas.microsoft.com/office/drawing/2014/main" id="{AB069A98-99E1-4704-995A-2D49ED4078C6}"/>
              </a:ext>
            </a:extLst>
          </p:cNvPr>
          <p:cNvSpPr>
            <a:spLocks xmlns:a="http://schemas.openxmlformats.org/drawingml/2006/main" noGrp="1"/>
          </p:cNvSpPr>
          <p:nvPr/>
        </p:nvSpPr>
        <p:spPr>
          <a:xfrm xmlns:a="http://schemas.openxmlformats.org/drawingml/2006/main">
            <a:off x="2066925" y="1771650"/>
            <a:ext cx="762000" cy="152400"/>
          </a:xfrm>
          <a:prstGeom xmlns:a="http://schemas.openxmlformats.org/drawingml/2006/main" prst="roundRect">
            <a:avLst>
              <a:gd name="adj" fmla="val 50000"/>
            </a:avLst>
          </a:prstGeom>
          <a:solidFill xmlns:a="http://schemas.openxmlformats.org/drawingml/2006/main">
            <a:srgbClr val="101A15"/>
          </a:solidFill>
          <a:ln xmlns:a="http://schemas.openxmlformats.org/drawingml/2006/main" w="9525">
            <a:solidFill>
              <a:srgbClr val="101A15"/>
            </a:solidFill>
            <a:prstDash val="solid"/>
          </a:ln>
        </p:spPr>
      </p:sp>
      <p:sp>
        <p:nvSpPr>
          <p:cNvPr id="8" name="">
            <a:extLst xmlns:a="http://schemas.openxmlformats.org/drawingml/2006/main">
              <a:ext uri="{FF2B5EF4-FFF2-40B4-BE49-F238E27FC236}">
                <a16:creationId xmlns:a16="http://schemas.microsoft.com/office/drawing/2014/main" id="{9D45912F-A379-4285-BEC9-FE85E80D7503}"/>
              </a:ext>
            </a:extLst>
          </p:cNvPr>
          <p:cNvSpPr>
            <a:spLocks xmlns:a="http://schemas.openxmlformats.org/drawingml/2006/main" noGrp="1"/>
          </p:cNvSpPr>
          <p:nvPr/>
        </p:nvSpPr>
        <p:spPr>
          <a:xfrm xmlns:a="http://schemas.openxmlformats.org/drawingml/2006/main">
            <a:off x="952500" y="2209800"/>
            <a:ext cx="24765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627F0472-AD41-417E-AA59-987E9B03E91C}"/>
              </a:ext>
            </a:extLst>
          </p:cNvPr>
          <p:cNvSpPr>
            <a:spLocks xmlns:a="http://schemas.openxmlformats.org/drawingml/2006/main" noGrp="1"/>
          </p:cNvSpPr>
          <p:nvPr/>
        </p:nvSpPr>
        <p:spPr>
          <a:xfrm xmlns:a="http://schemas.openxmlformats.org/drawingml/2006/main">
            <a:off x="1066800" y="2276475"/>
            <a:ext cx="2247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Black shoes dikhao — size 42</a:t>
            </a:r>
          </a:p>
        </p:txBody>
      </p:sp>
      <p:sp>
        <p:nvSpPr>
          <p:cNvPr id="10" name="">
            <a:extLst xmlns:a="http://schemas.openxmlformats.org/drawingml/2006/main">
              <a:ext uri="{FF2B5EF4-FFF2-40B4-BE49-F238E27FC236}">
                <a16:creationId xmlns:a16="http://schemas.microsoft.com/office/drawing/2014/main" id="{DFCC6605-086B-413A-96D8-1CB313514534}"/>
              </a:ext>
            </a:extLst>
          </p:cNvPr>
          <p:cNvSpPr>
            <a:spLocks xmlns:a="http://schemas.openxmlformats.org/drawingml/2006/main" noGrp="1"/>
          </p:cNvSpPr>
          <p:nvPr/>
        </p:nvSpPr>
        <p:spPr>
          <a:xfrm xmlns:a="http://schemas.openxmlformats.org/drawingml/2006/main">
            <a:off x="1333500" y="2905125"/>
            <a:ext cx="2333625" cy="742950"/>
          </a:xfrm>
          <a:prstGeom xmlns:a="http://schemas.openxmlformats.org/drawingml/2006/main" prst="roundRect">
            <a:avLst>
              <a:gd name="adj" fmla="val 15385"/>
            </a:avLst>
          </a:prstGeom>
          <a:solidFill xmlns:a="http://schemas.openxmlformats.org/drawingml/2006/main">
            <a:srgbClr val="25D366"/>
          </a:solidFill>
          <a:ln xmlns:a="http://schemas.openxmlformats.org/drawingml/2006/main" w="9525">
            <a:solidFill>
              <a:srgbClr val="25D366"/>
            </a:solidFill>
            <a:prstDash val="solid"/>
          </a:ln>
        </p:spPr>
      </p:sp>
      <p:sp>
        <p:nvSpPr>
          <p:cNvPr id="11" name="">
            <a:extLst xmlns:a="http://schemas.openxmlformats.org/drawingml/2006/main">
              <a:ext uri="{FF2B5EF4-FFF2-40B4-BE49-F238E27FC236}">
                <a16:creationId xmlns:a16="http://schemas.microsoft.com/office/drawing/2014/main" id="{5DE16B5A-8974-4419-A656-32D698903AEA}"/>
              </a:ext>
            </a:extLst>
          </p:cNvPr>
          <p:cNvSpPr>
            <a:spLocks xmlns:a="http://schemas.openxmlformats.org/drawingml/2006/main" noGrp="1"/>
          </p:cNvSpPr>
          <p:nvPr/>
        </p:nvSpPr>
        <p:spPr>
          <a:xfrm xmlns:a="http://schemas.openxmlformats.org/drawingml/2006/main">
            <a:off x="1447800" y="2971800"/>
            <a:ext cx="21050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Navy/Black sneakers • 42</a:t>
            </a:r>
          </a:p>
          <a:p xmlns:a="http://schemas.openxmlformats.org/drawingml/2006/main">
            <a:pPr algn="l">
              <a:defRPr sz="1200" b="0">
                <a:solidFill>
                  <a:srgbClr val="17211C"/>
                </a:solidFill>
              </a:defRPr>
            </a:pPr>
            <a:r>
              <a:rPr sz="1200" b="0">
                <a:solidFill>
                  <a:srgbClr val="17211C"/>
                </a:solidFill>
              </a:rPr>
              <a:t>Rs. 4,800 • In stock</a:t>
            </a:r>
          </a:p>
        </p:txBody>
      </p:sp>
      <p:sp>
        <p:nvSpPr>
          <p:cNvPr id="12" name="">
            <a:extLst xmlns:a="http://schemas.openxmlformats.org/drawingml/2006/main">
              <a:ext uri="{FF2B5EF4-FFF2-40B4-BE49-F238E27FC236}">
                <a16:creationId xmlns:a16="http://schemas.microsoft.com/office/drawing/2014/main" id="{FD425B48-0D0F-4163-9EFD-89290CF45B8A}"/>
              </a:ext>
            </a:extLst>
          </p:cNvPr>
          <p:cNvSpPr>
            <a:spLocks xmlns:a="http://schemas.openxmlformats.org/drawingml/2006/main" noGrp="1"/>
          </p:cNvSpPr>
          <p:nvPr/>
        </p:nvSpPr>
        <p:spPr>
          <a:xfrm xmlns:a="http://schemas.openxmlformats.org/drawingml/2006/main">
            <a:off x="952500" y="3905250"/>
            <a:ext cx="20955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57F107EF-85E1-4A13-B40C-562A1D9A3F70}"/>
              </a:ext>
            </a:extLst>
          </p:cNvPr>
          <p:cNvSpPr>
            <a:spLocks xmlns:a="http://schemas.openxmlformats.org/drawingml/2006/main" noGrp="1"/>
          </p:cNvSpPr>
          <p:nvPr/>
        </p:nvSpPr>
        <p:spPr>
          <a:xfrm xmlns:a="http://schemas.openxmlformats.org/drawingml/2006/main">
            <a:off x="1066800" y="3971925"/>
            <a:ext cx="18669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2 pairs, COD. Confirm.</a:t>
            </a:r>
          </a:p>
        </p:txBody>
      </p:sp>
      <p:sp>
        <p:nvSpPr>
          <p:cNvPr id="14" name="">
            <a:extLst xmlns:a="http://schemas.openxmlformats.org/drawingml/2006/main">
              <a:ext uri="{FF2B5EF4-FFF2-40B4-BE49-F238E27FC236}">
                <a16:creationId xmlns:a16="http://schemas.microsoft.com/office/drawing/2014/main" id="{151F4879-14CD-486A-A0B6-B6944B9F61F4}"/>
              </a:ext>
            </a:extLst>
          </p:cNvPr>
          <p:cNvSpPr>
            <a:spLocks xmlns:a="http://schemas.openxmlformats.org/drawingml/2006/main" noGrp="1"/>
          </p:cNvSpPr>
          <p:nvPr/>
        </p:nvSpPr>
        <p:spPr>
          <a:xfrm xmlns:a="http://schemas.openxmlformats.org/drawingml/2006/main">
            <a:off x="1600200" y="4667250"/>
            <a:ext cx="1809750" cy="495300"/>
          </a:xfrm>
          <a:prstGeom xmlns:a="http://schemas.openxmlformats.org/drawingml/2006/main" prst="roundRect">
            <a:avLst>
              <a:gd name="adj" fmla="val 23077"/>
            </a:avLst>
          </a:prstGeom>
          <a:solidFill xmlns:a="http://schemas.openxmlformats.org/drawingml/2006/main">
            <a:srgbClr val="25D366"/>
          </a:solidFill>
          <a:ln xmlns:a="http://schemas.openxmlformats.org/drawingml/2006/main" w="9525">
            <a:solidFill>
              <a:srgbClr val="25D366"/>
            </a:solidFill>
            <a:prstDash val="solid"/>
          </a:ln>
        </p:spPr>
      </p:sp>
      <p:sp>
        <p:nvSpPr>
          <p:cNvPr id="15" name="">
            <a:extLst xmlns:a="http://schemas.openxmlformats.org/drawingml/2006/main">
              <a:ext uri="{FF2B5EF4-FFF2-40B4-BE49-F238E27FC236}">
                <a16:creationId xmlns:a16="http://schemas.microsoft.com/office/drawing/2014/main" id="{D0119F2B-CD0C-4B29-80E2-62E2C46E3C60}"/>
              </a:ext>
            </a:extLst>
          </p:cNvPr>
          <p:cNvSpPr>
            <a:spLocks xmlns:a="http://schemas.openxmlformats.org/drawingml/2006/main" noGrp="1"/>
          </p:cNvSpPr>
          <p:nvPr/>
        </p:nvSpPr>
        <p:spPr>
          <a:xfrm xmlns:a="http://schemas.openxmlformats.org/drawingml/2006/main">
            <a:off x="1714500" y="47339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Order confirmed ✓</a:t>
            </a:r>
          </a:p>
        </p:txBody>
      </p:sp>
      <p:sp>
        <p:nvSpPr>
          <p:cNvPr id="16" name="">
            <a:extLst xmlns:a="http://schemas.openxmlformats.org/drawingml/2006/main">
              <a:ext uri="{FF2B5EF4-FFF2-40B4-BE49-F238E27FC236}">
                <a16:creationId xmlns:a16="http://schemas.microsoft.com/office/drawing/2014/main" id="{05137A5B-CB79-45E9-8DA8-BEA65DCABD32}"/>
              </a:ext>
            </a:extLst>
          </p:cNvPr>
          <p:cNvSpPr>
            <a:spLocks xmlns:a="http://schemas.openxmlformats.org/drawingml/2006/main" noGrp="1"/>
          </p:cNvSpPr>
          <p:nvPr/>
        </p:nvSpPr>
        <p:spPr>
          <a:xfrm xmlns:a="http://schemas.openxmlformats.org/drawingml/2006/main">
            <a:off x="4857750" y="17811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5D366"/>
                </a:solidFill>
              </a:defRPr>
            </a:pPr>
            <a:r>
              <a:rPr sz="1275" b="1">
                <a:solidFill>
                  <a:srgbClr val="25D366"/>
                </a:solidFill>
              </a:rPr>
              <a:t>0–10s</a:t>
            </a:r>
          </a:p>
        </p:txBody>
      </p:sp>
      <p:sp>
        <p:nvSpPr>
          <p:cNvPr id="17" name="">
            <a:extLst xmlns:a="http://schemas.openxmlformats.org/drawingml/2006/main">
              <a:ext uri="{FF2B5EF4-FFF2-40B4-BE49-F238E27FC236}">
                <a16:creationId xmlns:a16="http://schemas.microsoft.com/office/drawing/2014/main" id="{A46C42AB-5686-4968-9D8A-B19303D8423D}"/>
              </a:ext>
            </a:extLst>
          </p:cNvPr>
          <p:cNvSpPr>
            <a:spLocks xmlns:a="http://schemas.openxmlformats.org/drawingml/2006/main" noGrp="1"/>
          </p:cNvSpPr>
          <p:nvPr/>
        </p:nvSpPr>
        <p:spPr>
          <a:xfrm xmlns:a="http://schemas.openxmlformats.org/drawingml/2006/main">
            <a:off x="6096000" y="1781175"/>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11C"/>
                </a:solidFill>
              </a:defRPr>
            </a:pPr>
            <a:r>
              <a:rPr sz="1725" b="1">
                <a:solidFill>
                  <a:srgbClr val="17211C"/>
                </a:solidFill>
              </a:rPr>
              <a:t>Ask in Roman Urdu</a:t>
            </a:r>
          </a:p>
        </p:txBody>
      </p:sp>
      <p:sp>
        <p:nvSpPr>
          <p:cNvPr id="18" name="">
            <a:extLst xmlns:a="http://schemas.openxmlformats.org/drawingml/2006/main">
              <a:ext uri="{FF2B5EF4-FFF2-40B4-BE49-F238E27FC236}">
                <a16:creationId xmlns:a16="http://schemas.microsoft.com/office/drawing/2014/main" id="{8A0260AD-9DB2-4748-9EBB-275777CB434E}"/>
              </a:ext>
            </a:extLst>
          </p:cNvPr>
          <p:cNvSpPr>
            <a:spLocks xmlns:a="http://schemas.openxmlformats.org/drawingml/2006/main" noGrp="1"/>
          </p:cNvSpPr>
          <p:nvPr/>
        </p:nvSpPr>
        <p:spPr>
          <a:xfrm xmlns:a="http://schemas.openxmlformats.org/drawingml/2006/main">
            <a:off x="5381625" y="2171700"/>
            <a:ext cx="19050" cy="34290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19" name="">
            <a:extLst xmlns:a="http://schemas.openxmlformats.org/drawingml/2006/main">
              <a:ext uri="{FF2B5EF4-FFF2-40B4-BE49-F238E27FC236}">
                <a16:creationId xmlns:a16="http://schemas.microsoft.com/office/drawing/2014/main" id="{EFE62886-72BE-466D-BC60-3954D044C6E9}"/>
              </a:ext>
            </a:extLst>
          </p:cNvPr>
          <p:cNvSpPr>
            <a:spLocks xmlns:a="http://schemas.openxmlformats.org/drawingml/2006/main" noGrp="1"/>
          </p:cNvSpPr>
          <p:nvPr/>
        </p:nvSpPr>
        <p:spPr>
          <a:xfrm xmlns:a="http://schemas.openxmlformats.org/drawingml/2006/main">
            <a:off x="4857750" y="252412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5D366"/>
                </a:solidFill>
              </a:defRPr>
            </a:pPr>
            <a:r>
              <a:rPr sz="1275" b="1">
                <a:solidFill>
                  <a:srgbClr val="25D366"/>
                </a:solidFill>
              </a:rPr>
              <a:t>10–22s</a:t>
            </a:r>
          </a:p>
        </p:txBody>
      </p:sp>
      <p:sp>
        <p:nvSpPr>
          <p:cNvPr id="20" name="">
            <a:extLst xmlns:a="http://schemas.openxmlformats.org/drawingml/2006/main">
              <a:ext uri="{FF2B5EF4-FFF2-40B4-BE49-F238E27FC236}">
                <a16:creationId xmlns:a16="http://schemas.microsoft.com/office/drawing/2014/main" id="{A8DE3A8D-5E9C-49CC-9A9D-335EE754C296}"/>
              </a:ext>
            </a:extLst>
          </p:cNvPr>
          <p:cNvSpPr>
            <a:spLocks xmlns:a="http://schemas.openxmlformats.org/drawingml/2006/main" noGrp="1"/>
          </p:cNvSpPr>
          <p:nvPr/>
        </p:nvSpPr>
        <p:spPr>
          <a:xfrm xmlns:a="http://schemas.openxmlformats.org/drawingml/2006/main">
            <a:off x="6096000" y="2524125"/>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11C"/>
                </a:solidFill>
              </a:defRPr>
            </a:pPr>
            <a:r>
              <a:rPr sz="1725" b="1">
                <a:solidFill>
                  <a:srgbClr val="17211C"/>
                </a:solidFill>
              </a:rPr>
              <a:t>Show image or product match</a:t>
            </a:r>
          </a:p>
        </p:txBody>
      </p:sp>
      <p:sp>
        <p:nvSpPr>
          <p:cNvPr id="21" name="">
            <a:extLst xmlns:a="http://schemas.openxmlformats.org/drawingml/2006/main">
              <a:ext uri="{FF2B5EF4-FFF2-40B4-BE49-F238E27FC236}">
                <a16:creationId xmlns:a16="http://schemas.microsoft.com/office/drawing/2014/main" id="{0A76B37F-6C0E-42C6-B10D-CA60965B0874}"/>
              </a:ext>
            </a:extLst>
          </p:cNvPr>
          <p:cNvSpPr>
            <a:spLocks xmlns:a="http://schemas.openxmlformats.org/drawingml/2006/main" noGrp="1"/>
          </p:cNvSpPr>
          <p:nvPr/>
        </p:nvSpPr>
        <p:spPr>
          <a:xfrm xmlns:a="http://schemas.openxmlformats.org/drawingml/2006/main">
            <a:off x="5381625" y="2914650"/>
            <a:ext cx="19050" cy="34290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22" name="">
            <a:extLst xmlns:a="http://schemas.openxmlformats.org/drawingml/2006/main">
              <a:ext uri="{FF2B5EF4-FFF2-40B4-BE49-F238E27FC236}">
                <a16:creationId xmlns:a16="http://schemas.microsoft.com/office/drawing/2014/main" id="{D8C8115B-995F-4384-A2B8-2A5552DE2372}"/>
              </a:ext>
            </a:extLst>
          </p:cNvPr>
          <p:cNvSpPr>
            <a:spLocks xmlns:a="http://schemas.openxmlformats.org/drawingml/2006/main" noGrp="1"/>
          </p:cNvSpPr>
          <p:nvPr/>
        </p:nvSpPr>
        <p:spPr>
          <a:xfrm xmlns:a="http://schemas.openxmlformats.org/drawingml/2006/main">
            <a:off x="4857750" y="32670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5D366"/>
                </a:solidFill>
              </a:defRPr>
            </a:pPr>
            <a:r>
              <a:rPr sz="1275" b="1">
                <a:solidFill>
                  <a:srgbClr val="25D366"/>
                </a:solidFill>
              </a:rPr>
              <a:t>22–38s</a:t>
            </a:r>
          </a:p>
        </p:txBody>
      </p:sp>
      <p:sp>
        <p:nvSpPr>
          <p:cNvPr id="23" name="">
            <a:extLst xmlns:a="http://schemas.openxmlformats.org/drawingml/2006/main">
              <a:ext uri="{FF2B5EF4-FFF2-40B4-BE49-F238E27FC236}">
                <a16:creationId xmlns:a16="http://schemas.microsoft.com/office/drawing/2014/main" id="{FD05F374-8F83-4807-9806-2D2A91E65F81}"/>
              </a:ext>
            </a:extLst>
          </p:cNvPr>
          <p:cNvSpPr>
            <a:spLocks xmlns:a="http://schemas.openxmlformats.org/drawingml/2006/main" noGrp="1"/>
          </p:cNvSpPr>
          <p:nvPr/>
        </p:nvSpPr>
        <p:spPr>
          <a:xfrm xmlns:a="http://schemas.openxmlformats.org/drawingml/2006/main">
            <a:off x="6096000" y="3267075"/>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11C"/>
                </a:solidFill>
              </a:defRPr>
            </a:pPr>
            <a:r>
              <a:rPr sz="1725" b="1">
                <a:solidFill>
                  <a:srgbClr val="17211C"/>
                </a:solidFill>
              </a:rPr>
              <a:t>Choose size, color, quantity</a:t>
            </a:r>
          </a:p>
        </p:txBody>
      </p:sp>
      <p:sp>
        <p:nvSpPr>
          <p:cNvPr id="24" name="">
            <a:extLst xmlns:a="http://schemas.openxmlformats.org/drawingml/2006/main">
              <a:ext uri="{FF2B5EF4-FFF2-40B4-BE49-F238E27FC236}">
                <a16:creationId xmlns:a16="http://schemas.microsoft.com/office/drawing/2014/main" id="{1032F2BA-EF57-466E-A4E5-8E38177E45E2}"/>
              </a:ext>
            </a:extLst>
          </p:cNvPr>
          <p:cNvSpPr>
            <a:spLocks xmlns:a="http://schemas.openxmlformats.org/drawingml/2006/main" noGrp="1"/>
          </p:cNvSpPr>
          <p:nvPr/>
        </p:nvSpPr>
        <p:spPr>
          <a:xfrm xmlns:a="http://schemas.openxmlformats.org/drawingml/2006/main">
            <a:off x="5381625" y="3657600"/>
            <a:ext cx="19050" cy="34290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25" name="">
            <a:extLst xmlns:a="http://schemas.openxmlformats.org/drawingml/2006/main">
              <a:ext uri="{FF2B5EF4-FFF2-40B4-BE49-F238E27FC236}">
                <a16:creationId xmlns:a16="http://schemas.microsoft.com/office/drawing/2014/main" id="{DCA06E14-859D-4ABB-B38C-C4196A8DA0D1}"/>
              </a:ext>
            </a:extLst>
          </p:cNvPr>
          <p:cNvSpPr>
            <a:spLocks xmlns:a="http://schemas.openxmlformats.org/drawingml/2006/main" noGrp="1"/>
          </p:cNvSpPr>
          <p:nvPr/>
        </p:nvSpPr>
        <p:spPr>
          <a:xfrm xmlns:a="http://schemas.openxmlformats.org/drawingml/2006/main">
            <a:off x="4857750" y="401002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5D366"/>
                </a:solidFill>
              </a:defRPr>
            </a:pPr>
            <a:r>
              <a:rPr sz="1275" b="1">
                <a:solidFill>
                  <a:srgbClr val="25D366"/>
                </a:solidFill>
              </a:rPr>
              <a:t>38–50s</a:t>
            </a:r>
          </a:p>
        </p:txBody>
      </p:sp>
      <p:sp>
        <p:nvSpPr>
          <p:cNvPr id="26" name="">
            <a:extLst xmlns:a="http://schemas.openxmlformats.org/drawingml/2006/main">
              <a:ext uri="{FF2B5EF4-FFF2-40B4-BE49-F238E27FC236}">
                <a16:creationId xmlns:a16="http://schemas.microsoft.com/office/drawing/2014/main" id="{711771C4-FFBE-4A2B-A7C7-EB0D921A6460}"/>
              </a:ext>
            </a:extLst>
          </p:cNvPr>
          <p:cNvSpPr>
            <a:spLocks xmlns:a="http://schemas.openxmlformats.org/drawingml/2006/main" noGrp="1"/>
          </p:cNvSpPr>
          <p:nvPr/>
        </p:nvSpPr>
        <p:spPr>
          <a:xfrm xmlns:a="http://schemas.openxmlformats.org/drawingml/2006/main">
            <a:off x="6096000" y="4010025"/>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11C"/>
                </a:solidFill>
              </a:defRPr>
            </a:pPr>
            <a:r>
              <a:rPr sz="1725" b="1">
                <a:solidFill>
                  <a:srgbClr val="17211C"/>
                </a:solidFill>
              </a:rPr>
              <a:t>Confirm price, stock, COD</a:t>
            </a:r>
          </a:p>
        </p:txBody>
      </p:sp>
      <p:sp>
        <p:nvSpPr>
          <p:cNvPr id="27" name="">
            <a:extLst xmlns:a="http://schemas.openxmlformats.org/drawingml/2006/main">
              <a:ext uri="{FF2B5EF4-FFF2-40B4-BE49-F238E27FC236}">
                <a16:creationId xmlns:a16="http://schemas.microsoft.com/office/drawing/2014/main" id="{7A647B92-0B22-480E-B463-0D37CFC4954E}"/>
              </a:ext>
            </a:extLst>
          </p:cNvPr>
          <p:cNvSpPr>
            <a:spLocks xmlns:a="http://schemas.openxmlformats.org/drawingml/2006/main" noGrp="1"/>
          </p:cNvSpPr>
          <p:nvPr/>
        </p:nvSpPr>
        <p:spPr>
          <a:xfrm xmlns:a="http://schemas.openxmlformats.org/drawingml/2006/main">
            <a:off x="5381625" y="4400550"/>
            <a:ext cx="19050" cy="34290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28" name="">
            <a:extLst xmlns:a="http://schemas.openxmlformats.org/drawingml/2006/main">
              <a:ext uri="{FF2B5EF4-FFF2-40B4-BE49-F238E27FC236}">
                <a16:creationId xmlns:a16="http://schemas.microsoft.com/office/drawing/2014/main" id="{05B85FE5-2610-4D7A-84CB-41E77F73C816}"/>
              </a:ext>
            </a:extLst>
          </p:cNvPr>
          <p:cNvSpPr>
            <a:spLocks xmlns:a="http://schemas.openxmlformats.org/drawingml/2006/main" noGrp="1"/>
          </p:cNvSpPr>
          <p:nvPr/>
        </p:nvSpPr>
        <p:spPr>
          <a:xfrm xmlns:a="http://schemas.openxmlformats.org/drawingml/2006/main">
            <a:off x="4857750" y="47529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5D366"/>
                </a:solidFill>
              </a:defRPr>
            </a:pPr>
            <a:r>
              <a:rPr sz="1275" b="1">
                <a:solidFill>
                  <a:srgbClr val="25D366"/>
                </a:solidFill>
              </a:rPr>
              <a:t>50–60s</a:t>
            </a:r>
          </a:p>
        </p:txBody>
      </p:sp>
      <p:sp>
        <p:nvSpPr>
          <p:cNvPr id="29" name="">
            <a:extLst xmlns:a="http://schemas.openxmlformats.org/drawingml/2006/main">
              <a:ext uri="{FF2B5EF4-FFF2-40B4-BE49-F238E27FC236}">
                <a16:creationId xmlns:a16="http://schemas.microsoft.com/office/drawing/2014/main" id="{715A6F49-5C49-4F7D-94E1-7C6448EF71BB}"/>
              </a:ext>
            </a:extLst>
          </p:cNvPr>
          <p:cNvSpPr>
            <a:spLocks xmlns:a="http://schemas.openxmlformats.org/drawingml/2006/main" noGrp="1"/>
          </p:cNvSpPr>
          <p:nvPr/>
        </p:nvSpPr>
        <p:spPr>
          <a:xfrm xmlns:a="http://schemas.openxmlformats.org/drawingml/2006/main">
            <a:off x="6096000" y="4752975"/>
            <a:ext cx="471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211C"/>
                </a:solidFill>
              </a:defRPr>
            </a:pPr>
            <a:r>
              <a:rPr sz="1725" b="1">
                <a:solidFill>
                  <a:srgbClr val="17211C"/>
                </a:solidFill>
              </a:rPr>
              <a:t>Reveal order + human takeover</a:t>
            </a:r>
          </a:p>
        </p:txBody>
      </p:sp>
      <p:sp>
        <p:nvSpPr>
          <p:cNvPr id="30" name="">
            <a:extLst xmlns:a="http://schemas.openxmlformats.org/drawingml/2006/main">
              <a:ext uri="{FF2B5EF4-FFF2-40B4-BE49-F238E27FC236}">
                <a16:creationId xmlns:a16="http://schemas.microsoft.com/office/drawing/2014/main" id="{01AC4385-0656-4042-93C8-D36A5A31B1AC}"/>
              </a:ext>
            </a:extLst>
          </p:cNvPr>
          <p:cNvSpPr>
            <a:spLocks xmlns:a="http://schemas.openxmlformats.org/drawingml/2006/main" noGrp="1"/>
          </p:cNvSpPr>
          <p:nvPr/>
        </p:nvSpPr>
        <p:spPr>
          <a:xfrm xmlns:a="http://schemas.openxmlformats.org/drawingml/2006/main">
            <a:off x="4857750" y="5619750"/>
            <a:ext cx="5953125" cy="495300"/>
          </a:xfrm>
          <a:prstGeom xmlns:a="http://schemas.openxmlformats.org/drawingml/2006/main" prst="roundRect">
            <a:avLst>
              <a:gd name="adj" fmla="val 23077"/>
            </a:avLst>
          </a:prstGeom>
          <a:solidFill xmlns:a="http://schemas.openxmlformats.org/drawingml/2006/main">
            <a:srgbClr val="EEEAFE"/>
          </a:solidFill>
          <a:ln xmlns:a="http://schemas.openxmlformats.org/drawingml/2006/main" w="9525">
            <a:solidFill>
              <a:srgbClr val="EEEAFE"/>
            </a:solidFill>
            <a:prstDash val="solid"/>
          </a:ln>
        </p:spPr>
      </p:sp>
      <p:sp>
        <p:nvSpPr>
          <p:cNvPr id="31" name="">
            <a:extLst xmlns:a="http://schemas.openxmlformats.org/drawingml/2006/main">
              <a:ext uri="{FF2B5EF4-FFF2-40B4-BE49-F238E27FC236}">
                <a16:creationId xmlns:a16="http://schemas.microsoft.com/office/drawing/2014/main" id="{76EE72AB-A142-441A-A773-1349DAE45346}"/>
              </a:ext>
            </a:extLst>
          </p:cNvPr>
          <p:cNvSpPr>
            <a:spLocks xmlns:a="http://schemas.openxmlformats.org/drawingml/2006/main" noGrp="1"/>
          </p:cNvSpPr>
          <p:nvPr/>
        </p:nvSpPr>
        <p:spPr>
          <a:xfrm xmlns:a="http://schemas.openxmlformats.org/drawingml/2006/main">
            <a:off x="5048250" y="5695950"/>
            <a:ext cx="5572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6C4CF1"/>
                </a:solidFill>
              </a:defRPr>
            </a:pPr>
            <a:r>
              <a:rPr sz="1275" b="1">
                <a:solidFill>
                  <a:srgbClr val="6C4CF1"/>
                </a:solidFill>
              </a:rPr>
              <a:t>Demo promise: show the workflow — never depend on a live AI flourish.</a:t>
            </a:r>
          </a:p>
        </p:txBody>
      </p:sp>
      <p:sp>
        <p:nvSpPr>
          <p:cNvPr id="32" name="">
            <a:extLst xmlns:a="http://schemas.openxmlformats.org/drawingml/2006/main">
              <a:ext uri="{FF2B5EF4-FFF2-40B4-BE49-F238E27FC236}">
                <a16:creationId xmlns:a16="http://schemas.microsoft.com/office/drawing/2014/main" id="{749D7AAA-DABE-4BDD-9044-AC0A0216CC02}"/>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1244635860"/>
      </p:ext>
    </p:extLst>
  </p:cSld>
</p:sld>
</file>

<file path=ppt/slides/slide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E3D90448-B423-467E-A7B0-679F37645358}"/>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MVP SCOPE</a:t>
            </a:r>
          </a:p>
        </p:txBody>
      </p:sp>
      <p:sp>
        <p:nvSpPr>
          <p:cNvPr id="2" name="title">
            <a:extLst xmlns:a="http://schemas.openxmlformats.org/drawingml/2006/main">
              <a:ext uri="{FF2B5EF4-FFF2-40B4-BE49-F238E27FC236}">
                <a16:creationId xmlns:a16="http://schemas.microsoft.com/office/drawing/2014/main" id="{FE091B6B-4C0B-47B9-8900-B0E3D97A08D5}"/>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Working core. Honest edges. Clear next steps.</a:t>
            </a:r>
          </a:p>
        </p:txBody>
      </p:sp>
      <p:sp>
        <p:nvSpPr>
          <p:cNvPr id="3" name="">
            <a:extLst xmlns:a="http://schemas.openxmlformats.org/drawingml/2006/main">
              <a:ext uri="{FF2B5EF4-FFF2-40B4-BE49-F238E27FC236}">
                <a16:creationId xmlns:a16="http://schemas.microsoft.com/office/drawing/2014/main" id="{A4D95891-08E7-4B21-8E96-479491A587FE}"/>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07</a:t>
            </a:r>
          </a:p>
        </p:txBody>
      </p:sp>
      <p:sp>
        <p:nvSpPr>
          <p:cNvPr id="4" name="">
            <a:extLst xmlns:a="http://schemas.openxmlformats.org/drawingml/2006/main">
              <a:ext uri="{FF2B5EF4-FFF2-40B4-BE49-F238E27FC236}">
                <a16:creationId xmlns:a16="http://schemas.microsoft.com/office/drawing/2014/main" id="{54782C58-3088-47BC-BE00-30B74307237B}"/>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A51CD737-1B44-43AF-B430-B2F12704E159}"/>
              </a:ext>
            </a:extLst>
          </p:cNvPr>
          <p:cNvSpPr>
            <a:spLocks xmlns:a="http://schemas.openxmlformats.org/drawingml/2006/main" noGrp="1"/>
          </p:cNvSpPr>
          <p:nvPr/>
        </p:nvSpPr>
        <p:spPr>
          <a:xfrm xmlns:a="http://schemas.openxmlformats.org/drawingml/2006/main">
            <a:off x="685800" y="16668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5D366"/>
                </a:solidFill>
              </a:defRPr>
            </a:pPr>
            <a:r>
              <a:rPr sz="1125" b="1">
                <a:solidFill>
                  <a:srgbClr val="25D366"/>
                </a:solidFill>
              </a:rPr>
              <a:t>IMPLEMENTED</a:t>
            </a:r>
          </a:p>
        </p:txBody>
      </p:sp>
      <p:sp>
        <p:nvSpPr>
          <p:cNvPr id="6" name="">
            <a:extLst xmlns:a="http://schemas.openxmlformats.org/drawingml/2006/main">
              <a:ext uri="{FF2B5EF4-FFF2-40B4-BE49-F238E27FC236}">
                <a16:creationId xmlns:a16="http://schemas.microsoft.com/office/drawing/2014/main" id="{EA033562-1FA8-4939-8933-25208235E3B4}"/>
              </a:ext>
            </a:extLst>
          </p:cNvPr>
          <p:cNvSpPr>
            <a:spLocks xmlns:a="http://schemas.openxmlformats.org/drawingml/2006/main" noGrp="1"/>
          </p:cNvSpPr>
          <p:nvPr/>
        </p:nvSpPr>
        <p:spPr>
          <a:xfrm xmlns:a="http://schemas.openxmlformats.org/drawingml/2006/main">
            <a:off x="685800" y="2047875"/>
            <a:ext cx="3771900" cy="28575"/>
          </a:xfrm>
          <a:prstGeom xmlns:a="http://schemas.openxmlformats.org/drawingml/2006/main" prst="rect">
            <a:avLst/>
          </a:prstGeom>
          <a:solidFill xmlns:a="http://schemas.openxmlformats.org/drawingml/2006/main">
            <a:srgbClr val="25D366"/>
          </a:solidFill>
          <a:ln xmlns:a="http://schemas.openxmlformats.org/drawingml/2006/main" w="0">
            <a:solidFill>
              <a:srgbClr val="25D366"/>
            </a:solidFill>
            <a:prstDash val="solid"/>
          </a:ln>
        </p:spPr>
      </p:sp>
      <p:sp>
        <p:nvSpPr>
          <p:cNvPr id="7" name="">
            <a:extLst xmlns:a="http://schemas.openxmlformats.org/drawingml/2006/main">
              <a:ext uri="{FF2B5EF4-FFF2-40B4-BE49-F238E27FC236}">
                <a16:creationId xmlns:a16="http://schemas.microsoft.com/office/drawing/2014/main" id="{F1055ADB-2B01-434A-9927-3BE36BCFDB80}"/>
              </a:ext>
            </a:extLst>
          </p:cNvPr>
          <p:cNvSpPr>
            <a:spLocks xmlns:a="http://schemas.openxmlformats.org/drawingml/2006/main" noGrp="1"/>
          </p:cNvSpPr>
          <p:nvPr/>
        </p:nvSpPr>
        <p:spPr>
          <a:xfrm xmlns:a="http://schemas.openxmlformats.org/drawingml/2006/main">
            <a:off x="685800" y="2305050"/>
            <a:ext cx="152400" cy="15240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8" name="">
            <a:extLst xmlns:a="http://schemas.openxmlformats.org/drawingml/2006/main">
              <a:ext uri="{FF2B5EF4-FFF2-40B4-BE49-F238E27FC236}">
                <a16:creationId xmlns:a16="http://schemas.microsoft.com/office/drawing/2014/main" id="{EC84D364-B641-4C34-B975-F1259E1C89D5}"/>
              </a:ext>
            </a:extLst>
          </p:cNvPr>
          <p:cNvSpPr>
            <a:spLocks xmlns:a="http://schemas.openxmlformats.org/drawingml/2006/main" noGrp="1"/>
          </p:cNvSpPr>
          <p:nvPr/>
        </p:nvSpPr>
        <p:spPr>
          <a:xfrm xmlns:a="http://schemas.openxmlformats.org/drawingml/2006/main">
            <a:off x="952500" y="2209800"/>
            <a:ext cx="3638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English, Urdu &amp; Roman Urdu text</a:t>
            </a:r>
          </a:p>
        </p:txBody>
      </p:sp>
      <p:sp>
        <p:nvSpPr>
          <p:cNvPr id="9" name="">
            <a:extLst xmlns:a="http://schemas.openxmlformats.org/drawingml/2006/main">
              <a:ext uri="{FF2B5EF4-FFF2-40B4-BE49-F238E27FC236}">
                <a16:creationId xmlns:a16="http://schemas.microsoft.com/office/drawing/2014/main" id="{251AF820-EB4F-4BED-8262-05A1F71E7EEC}"/>
              </a:ext>
            </a:extLst>
          </p:cNvPr>
          <p:cNvSpPr>
            <a:spLocks xmlns:a="http://schemas.openxmlformats.org/drawingml/2006/main" noGrp="1"/>
          </p:cNvSpPr>
          <p:nvPr/>
        </p:nvSpPr>
        <p:spPr>
          <a:xfrm xmlns:a="http://schemas.openxmlformats.org/drawingml/2006/main">
            <a:off x="685800" y="2828925"/>
            <a:ext cx="152400" cy="15240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0" name="">
            <a:extLst xmlns:a="http://schemas.openxmlformats.org/drawingml/2006/main">
              <a:ext uri="{FF2B5EF4-FFF2-40B4-BE49-F238E27FC236}">
                <a16:creationId xmlns:a16="http://schemas.microsoft.com/office/drawing/2014/main" id="{ADF3A8BF-7401-4927-A9AE-E645E6DE41DA}"/>
              </a:ext>
            </a:extLst>
          </p:cNvPr>
          <p:cNvSpPr>
            <a:spLocks xmlns:a="http://schemas.openxmlformats.org/drawingml/2006/main" noGrp="1"/>
          </p:cNvSpPr>
          <p:nvPr/>
        </p:nvSpPr>
        <p:spPr>
          <a:xfrm xmlns:a="http://schemas.openxmlformats.org/drawingml/2006/main">
            <a:off x="952500" y="2733675"/>
            <a:ext cx="3638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Catalog search, variants, price &amp; stock</a:t>
            </a:r>
          </a:p>
        </p:txBody>
      </p:sp>
      <p:sp>
        <p:nvSpPr>
          <p:cNvPr id="11" name="">
            <a:extLst xmlns:a="http://schemas.openxmlformats.org/drawingml/2006/main">
              <a:ext uri="{FF2B5EF4-FFF2-40B4-BE49-F238E27FC236}">
                <a16:creationId xmlns:a16="http://schemas.microsoft.com/office/drawing/2014/main" id="{24846A1E-148E-4EE3-8711-7C89094D6836}"/>
              </a:ext>
            </a:extLst>
          </p:cNvPr>
          <p:cNvSpPr>
            <a:spLocks xmlns:a="http://schemas.openxmlformats.org/drawingml/2006/main" noGrp="1"/>
          </p:cNvSpPr>
          <p:nvPr/>
        </p:nvSpPr>
        <p:spPr>
          <a:xfrm xmlns:a="http://schemas.openxmlformats.org/drawingml/2006/main">
            <a:off x="685800" y="3352800"/>
            <a:ext cx="152400" cy="15240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2" name="">
            <a:extLst xmlns:a="http://schemas.openxmlformats.org/drawingml/2006/main">
              <a:ext uri="{FF2B5EF4-FFF2-40B4-BE49-F238E27FC236}">
                <a16:creationId xmlns:a16="http://schemas.microsoft.com/office/drawing/2014/main" id="{31BB1130-1189-42E1-B780-98D8FFB26AAE}"/>
              </a:ext>
            </a:extLst>
          </p:cNvPr>
          <p:cNvSpPr>
            <a:spLocks xmlns:a="http://schemas.openxmlformats.org/drawingml/2006/main" noGrp="1"/>
          </p:cNvSpPr>
          <p:nvPr/>
        </p:nvSpPr>
        <p:spPr>
          <a:xfrm xmlns:a="http://schemas.openxmlformats.org/drawingml/2006/main">
            <a:off x="952500" y="3257550"/>
            <a:ext cx="3638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Conversation memory and order creation</a:t>
            </a:r>
          </a:p>
        </p:txBody>
      </p:sp>
      <p:sp>
        <p:nvSpPr>
          <p:cNvPr id="13" name="">
            <a:extLst xmlns:a="http://schemas.openxmlformats.org/drawingml/2006/main">
              <a:ext uri="{FF2B5EF4-FFF2-40B4-BE49-F238E27FC236}">
                <a16:creationId xmlns:a16="http://schemas.microsoft.com/office/drawing/2014/main" id="{4BE4FFDD-3C53-4C81-9BBB-58B1ECD486CF}"/>
              </a:ext>
            </a:extLst>
          </p:cNvPr>
          <p:cNvSpPr>
            <a:spLocks xmlns:a="http://schemas.openxmlformats.org/drawingml/2006/main" noGrp="1"/>
          </p:cNvSpPr>
          <p:nvPr/>
        </p:nvSpPr>
        <p:spPr>
          <a:xfrm xmlns:a="http://schemas.openxmlformats.org/drawingml/2006/main">
            <a:off x="685800" y="3876675"/>
            <a:ext cx="152400" cy="15240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4" name="">
            <a:extLst xmlns:a="http://schemas.openxmlformats.org/drawingml/2006/main">
              <a:ext uri="{FF2B5EF4-FFF2-40B4-BE49-F238E27FC236}">
                <a16:creationId xmlns:a16="http://schemas.microsoft.com/office/drawing/2014/main" id="{01BD005A-C74A-4B32-BC80-14EA3FF61C61}"/>
              </a:ext>
            </a:extLst>
          </p:cNvPr>
          <p:cNvSpPr>
            <a:spLocks xmlns:a="http://schemas.openxmlformats.org/drawingml/2006/main" noGrp="1"/>
          </p:cNvSpPr>
          <p:nvPr/>
        </p:nvSpPr>
        <p:spPr>
          <a:xfrm xmlns:a="http://schemas.openxmlformats.org/drawingml/2006/main">
            <a:off x="952500" y="3781425"/>
            <a:ext cx="3638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Dashboard, catalog, orders, human takeover</a:t>
            </a:r>
          </a:p>
        </p:txBody>
      </p:sp>
      <p:sp>
        <p:nvSpPr>
          <p:cNvPr id="15" name="">
            <a:extLst xmlns:a="http://schemas.openxmlformats.org/drawingml/2006/main">
              <a:ext uri="{FF2B5EF4-FFF2-40B4-BE49-F238E27FC236}">
                <a16:creationId xmlns:a16="http://schemas.microsoft.com/office/drawing/2014/main" id="{1439BAC5-8242-480D-9867-364A5BA1FA26}"/>
              </a:ext>
            </a:extLst>
          </p:cNvPr>
          <p:cNvSpPr>
            <a:spLocks xmlns:a="http://schemas.openxmlformats.org/drawingml/2006/main" noGrp="1"/>
          </p:cNvSpPr>
          <p:nvPr/>
        </p:nvSpPr>
        <p:spPr>
          <a:xfrm xmlns:a="http://schemas.openxmlformats.org/drawingml/2006/main">
            <a:off x="685800" y="4400550"/>
            <a:ext cx="152400" cy="15240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6" name="">
            <a:extLst xmlns:a="http://schemas.openxmlformats.org/drawingml/2006/main">
              <a:ext uri="{FF2B5EF4-FFF2-40B4-BE49-F238E27FC236}">
                <a16:creationId xmlns:a16="http://schemas.microsoft.com/office/drawing/2014/main" id="{03E3009D-38AA-4D5E-8D0A-EAC346363013}"/>
              </a:ext>
            </a:extLst>
          </p:cNvPr>
          <p:cNvSpPr>
            <a:spLocks xmlns:a="http://schemas.openxmlformats.org/drawingml/2006/main" noGrp="1"/>
          </p:cNvSpPr>
          <p:nvPr/>
        </p:nvSpPr>
        <p:spPr>
          <a:xfrm xmlns:a="http://schemas.openxmlformats.org/drawingml/2006/main">
            <a:off x="952500" y="4305300"/>
            <a:ext cx="3638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Multi-store scoping</a:t>
            </a:r>
          </a:p>
        </p:txBody>
      </p:sp>
      <p:sp>
        <p:nvSpPr>
          <p:cNvPr id="17" name="">
            <a:extLst xmlns:a="http://schemas.openxmlformats.org/drawingml/2006/main">
              <a:ext uri="{FF2B5EF4-FFF2-40B4-BE49-F238E27FC236}">
                <a16:creationId xmlns:a16="http://schemas.microsoft.com/office/drawing/2014/main" id="{219EC180-FF24-4937-9263-C0BF09EB0C0A}"/>
              </a:ext>
            </a:extLst>
          </p:cNvPr>
          <p:cNvSpPr>
            <a:spLocks xmlns:a="http://schemas.openxmlformats.org/drawingml/2006/main" noGrp="1"/>
          </p:cNvSpPr>
          <p:nvPr/>
        </p:nvSpPr>
        <p:spPr>
          <a:xfrm xmlns:a="http://schemas.openxmlformats.org/drawingml/2006/main">
            <a:off x="685800" y="4924425"/>
            <a:ext cx="152400" cy="152400"/>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8" name="">
            <a:extLst xmlns:a="http://schemas.openxmlformats.org/drawingml/2006/main">
              <a:ext uri="{FF2B5EF4-FFF2-40B4-BE49-F238E27FC236}">
                <a16:creationId xmlns:a16="http://schemas.microsoft.com/office/drawing/2014/main" id="{0AD526CC-8415-4337-A148-4F57D1D50991}"/>
              </a:ext>
            </a:extLst>
          </p:cNvPr>
          <p:cNvSpPr>
            <a:spLocks xmlns:a="http://schemas.openxmlformats.org/drawingml/2006/main" noGrp="1"/>
          </p:cNvSpPr>
          <p:nvPr/>
        </p:nvSpPr>
        <p:spPr>
          <a:xfrm xmlns:a="http://schemas.openxmlformats.org/drawingml/2006/main">
            <a:off x="952500" y="4829175"/>
            <a:ext cx="3638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QR and phone-pairing interfaces</a:t>
            </a:r>
          </a:p>
        </p:txBody>
      </p:sp>
      <p:sp>
        <p:nvSpPr>
          <p:cNvPr id="19" name="">
            <a:extLst xmlns:a="http://schemas.openxmlformats.org/drawingml/2006/main">
              <a:ext uri="{FF2B5EF4-FFF2-40B4-BE49-F238E27FC236}">
                <a16:creationId xmlns:a16="http://schemas.microsoft.com/office/drawing/2014/main" id="{DFCD6B1B-E50A-487B-89AB-872A4B9D386A}"/>
              </a:ext>
            </a:extLst>
          </p:cNvPr>
          <p:cNvSpPr>
            <a:spLocks xmlns:a="http://schemas.openxmlformats.org/drawingml/2006/main" noGrp="1"/>
          </p:cNvSpPr>
          <p:nvPr/>
        </p:nvSpPr>
        <p:spPr>
          <a:xfrm xmlns:a="http://schemas.openxmlformats.org/drawingml/2006/main">
            <a:off x="4953000" y="16668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2A93B"/>
                </a:solidFill>
              </a:defRPr>
            </a:pPr>
            <a:r>
              <a:rPr sz="1125" b="1">
                <a:solidFill>
                  <a:srgbClr val="F2A93B"/>
                </a:solidFill>
              </a:rPr>
              <a:t>CONFIG-DEPENDENT / PARTIAL</a:t>
            </a:r>
          </a:p>
        </p:txBody>
      </p:sp>
      <p:sp>
        <p:nvSpPr>
          <p:cNvPr id="20" name="">
            <a:extLst xmlns:a="http://schemas.openxmlformats.org/drawingml/2006/main">
              <a:ext uri="{FF2B5EF4-FFF2-40B4-BE49-F238E27FC236}">
                <a16:creationId xmlns:a16="http://schemas.microsoft.com/office/drawing/2014/main" id="{E99BE2DF-90B6-42D1-B84F-975FF2DCA3F5}"/>
              </a:ext>
            </a:extLst>
          </p:cNvPr>
          <p:cNvSpPr>
            <a:spLocks xmlns:a="http://schemas.openxmlformats.org/drawingml/2006/main" noGrp="1"/>
          </p:cNvSpPr>
          <p:nvPr/>
        </p:nvSpPr>
        <p:spPr>
          <a:xfrm xmlns:a="http://schemas.openxmlformats.org/drawingml/2006/main">
            <a:off x="4953000" y="2047875"/>
            <a:ext cx="3105150" cy="28575"/>
          </a:xfrm>
          <a:prstGeom xmlns:a="http://schemas.openxmlformats.org/drawingml/2006/main" prst="rect">
            <a:avLst/>
          </a:prstGeom>
          <a:solidFill xmlns:a="http://schemas.openxmlformats.org/drawingml/2006/main">
            <a:srgbClr val="F2A93B"/>
          </a:solidFill>
          <a:ln xmlns:a="http://schemas.openxmlformats.org/drawingml/2006/main" w="0">
            <a:solidFill>
              <a:srgbClr val="F2A93B"/>
            </a:solidFill>
            <a:prstDash val="solid"/>
          </a:ln>
        </p:spPr>
      </p:sp>
      <p:sp>
        <p:nvSpPr>
          <p:cNvPr id="21" name="">
            <a:extLst xmlns:a="http://schemas.openxmlformats.org/drawingml/2006/main">
              <a:ext uri="{FF2B5EF4-FFF2-40B4-BE49-F238E27FC236}">
                <a16:creationId xmlns:a16="http://schemas.microsoft.com/office/drawing/2014/main" id="{B23CA9E5-7BC7-42B5-8238-7DB7531087D3}"/>
              </a:ext>
            </a:extLst>
          </p:cNvPr>
          <p:cNvSpPr>
            <a:spLocks xmlns:a="http://schemas.openxmlformats.org/drawingml/2006/main" noGrp="1"/>
          </p:cNvSpPr>
          <p:nvPr/>
        </p:nvSpPr>
        <p:spPr>
          <a:xfrm xmlns:a="http://schemas.openxmlformats.org/drawingml/2006/main">
            <a:off x="4953000" y="2305050"/>
            <a:ext cx="152400" cy="152400"/>
          </a:xfrm>
          <a:prstGeom xmlns:a="http://schemas.openxmlformats.org/drawingml/2006/main" prst="ellipse">
            <a:avLst/>
          </a:prstGeom>
          <a:solidFill xmlns:a="http://schemas.openxmlformats.org/drawingml/2006/main">
            <a:srgbClr val="F2A93B"/>
          </a:solidFill>
          <a:ln xmlns:a="http://schemas.openxmlformats.org/drawingml/2006/main" w="9525">
            <a:solidFill>
              <a:srgbClr val="F2A93B"/>
            </a:solidFill>
            <a:prstDash val="solid"/>
          </a:ln>
        </p:spPr>
      </p:sp>
      <p:sp>
        <p:nvSpPr>
          <p:cNvPr id="22" name="">
            <a:extLst xmlns:a="http://schemas.openxmlformats.org/drawingml/2006/main">
              <a:ext uri="{FF2B5EF4-FFF2-40B4-BE49-F238E27FC236}">
                <a16:creationId xmlns:a16="http://schemas.microsoft.com/office/drawing/2014/main" id="{167EC5CC-41A3-423B-B2E7-569C65EEBD85}"/>
              </a:ext>
            </a:extLst>
          </p:cNvPr>
          <p:cNvSpPr>
            <a:spLocks xmlns:a="http://schemas.openxmlformats.org/drawingml/2006/main" noGrp="1"/>
          </p:cNvSpPr>
          <p:nvPr/>
        </p:nvSpPr>
        <p:spPr>
          <a:xfrm xmlns:a="http://schemas.openxmlformats.org/drawingml/2006/main">
            <a:off x="5219700" y="2209800"/>
            <a:ext cx="297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Gemini-assisted interpretation</a:t>
            </a:r>
          </a:p>
        </p:txBody>
      </p:sp>
      <p:sp>
        <p:nvSpPr>
          <p:cNvPr id="23" name="">
            <a:extLst xmlns:a="http://schemas.openxmlformats.org/drawingml/2006/main">
              <a:ext uri="{FF2B5EF4-FFF2-40B4-BE49-F238E27FC236}">
                <a16:creationId xmlns:a16="http://schemas.microsoft.com/office/drawing/2014/main" id="{8EB99DD9-94A1-4841-95FE-710766D0AD6C}"/>
              </a:ext>
            </a:extLst>
          </p:cNvPr>
          <p:cNvSpPr>
            <a:spLocks xmlns:a="http://schemas.openxmlformats.org/drawingml/2006/main" noGrp="1"/>
          </p:cNvSpPr>
          <p:nvPr/>
        </p:nvSpPr>
        <p:spPr>
          <a:xfrm xmlns:a="http://schemas.openxmlformats.org/drawingml/2006/main">
            <a:off x="4953000" y="2828925"/>
            <a:ext cx="152400" cy="152400"/>
          </a:xfrm>
          <a:prstGeom xmlns:a="http://schemas.openxmlformats.org/drawingml/2006/main" prst="ellipse">
            <a:avLst/>
          </a:prstGeom>
          <a:solidFill xmlns:a="http://schemas.openxmlformats.org/drawingml/2006/main">
            <a:srgbClr val="F2A93B"/>
          </a:solidFill>
          <a:ln xmlns:a="http://schemas.openxmlformats.org/drawingml/2006/main" w="9525">
            <a:solidFill>
              <a:srgbClr val="F2A93B"/>
            </a:solidFill>
            <a:prstDash val="solid"/>
          </a:ln>
        </p:spPr>
      </p:sp>
      <p:sp>
        <p:nvSpPr>
          <p:cNvPr id="24" name="">
            <a:extLst xmlns:a="http://schemas.openxmlformats.org/drawingml/2006/main">
              <a:ext uri="{FF2B5EF4-FFF2-40B4-BE49-F238E27FC236}">
                <a16:creationId xmlns:a16="http://schemas.microsoft.com/office/drawing/2014/main" id="{9FC7FA0B-8BD4-458A-8367-43E52D8721D5}"/>
              </a:ext>
            </a:extLst>
          </p:cNvPr>
          <p:cNvSpPr>
            <a:spLocks xmlns:a="http://schemas.openxmlformats.org/drawingml/2006/main" noGrp="1"/>
          </p:cNvSpPr>
          <p:nvPr/>
        </p:nvSpPr>
        <p:spPr>
          <a:xfrm xmlns:a="http://schemas.openxmlformats.org/drawingml/2006/main">
            <a:off x="5219700" y="2733675"/>
            <a:ext cx="297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Image understanding and catalog matching</a:t>
            </a:r>
          </a:p>
        </p:txBody>
      </p:sp>
      <p:sp>
        <p:nvSpPr>
          <p:cNvPr id="25" name="">
            <a:extLst xmlns:a="http://schemas.openxmlformats.org/drawingml/2006/main">
              <a:ext uri="{FF2B5EF4-FFF2-40B4-BE49-F238E27FC236}">
                <a16:creationId xmlns:a16="http://schemas.microsoft.com/office/drawing/2014/main" id="{B7B9F6A4-AACB-440B-9433-D3E7610E4D9D}"/>
              </a:ext>
            </a:extLst>
          </p:cNvPr>
          <p:cNvSpPr>
            <a:spLocks xmlns:a="http://schemas.openxmlformats.org/drawingml/2006/main" noGrp="1"/>
          </p:cNvSpPr>
          <p:nvPr/>
        </p:nvSpPr>
        <p:spPr>
          <a:xfrm xmlns:a="http://schemas.openxmlformats.org/drawingml/2006/main">
            <a:off x="4953000" y="3352800"/>
            <a:ext cx="152400" cy="152400"/>
          </a:xfrm>
          <a:prstGeom xmlns:a="http://schemas.openxmlformats.org/drawingml/2006/main" prst="ellipse">
            <a:avLst/>
          </a:prstGeom>
          <a:solidFill xmlns:a="http://schemas.openxmlformats.org/drawingml/2006/main">
            <a:srgbClr val="F2A93B"/>
          </a:solidFill>
          <a:ln xmlns:a="http://schemas.openxmlformats.org/drawingml/2006/main" w="9525">
            <a:solidFill>
              <a:srgbClr val="F2A93B"/>
            </a:solidFill>
            <a:prstDash val="solid"/>
          </a:ln>
        </p:spPr>
      </p:sp>
      <p:sp>
        <p:nvSpPr>
          <p:cNvPr id="26" name="">
            <a:extLst xmlns:a="http://schemas.openxmlformats.org/drawingml/2006/main">
              <a:ext uri="{FF2B5EF4-FFF2-40B4-BE49-F238E27FC236}">
                <a16:creationId xmlns:a16="http://schemas.microsoft.com/office/drawing/2014/main" id="{CE1AA042-C939-4086-A767-EED57D029AF9}"/>
              </a:ext>
            </a:extLst>
          </p:cNvPr>
          <p:cNvSpPr>
            <a:spLocks xmlns:a="http://schemas.openxmlformats.org/drawingml/2006/main" noGrp="1"/>
          </p:cNvSpPr>
          <p:nvPr/>
        </p:nvSpPr>
        <p:spPr>
          <a:xfrm xmlns:a="http://schemas.openxmlformats.org/drawingml/2006/main">
            <a:off x="5219700" y="3257550"/>
            <a:ext cx="297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Voice transcription</a:t>
            </a:r>
          </a:p>
        </p:txBody>
      </p:sp>
      <p:sp>
        <p:nvSpPr>
          <p:cNvPr id="27" name="">
            <a:extLst xmlns:a="http://schemas.openxmlformats.org/drawingml/2006/main">
              <a:ext uri="{FF2B5EF4-FFF2-40B4-BE49-F238E27FC236}">
                <a16:creationId xmlns:a16="http://schemas.microsoft.com/office/drawing/2014/main" id="{40AB8D65-FD13-4022-846E-8650D625CC19}"/>
              </a:ext>
            </a:extLst>
          </p:cNvPr>
          <p:cNvSpPr>
            <a:spLocks xmlns:a="http://schemas.openxmlformats.org/drawingml/2006/main" noGrp="1"/>
          </p:cNvSpPr>
          <p:nvPr/>
        </p:nvSpPr>
        <p:spPr>
          <a:xfrm xmlns:a="http://schemas.openxmlformats.org/drawingml/2006/main">
            <a:off x="4953000" y="3876675"/>
            <a:ext cx="152400" cy="152400"/>
          </a:xfrm>
          <a:prstGeom xmlns:a="http://schemas.openxmlformats.org/drawingml/2006/main" prst="ellipse">
            <a:avLst/>
          </a:prstGeom>
          <a:solidFill xmlns:a="http://schemas.openxmlformats.org/drawingml/2006/main">
            <a:srgbClr val="F2A93B"/>
          </a:solidFill>
          <a:ln xmlns:a="http://schemas.openxmlformats.org/drawingml/2006/main" w="9525">
            <a:solidFill>
              <a:srgbClr val="F2A93B"/>
            </a:solidFill>
            <a:prstDash val="solid"/>
          </a:ln>
        </p:spPr>
      </p:sp>
      <p:sp>
        <p:nvSpPr>
          <p:cNvPr id="28" name="">
            <a:extLst xmlns:a="http://schemas.openxmlformats.org/drawingml/2006/main">
              <a:ext uri="{FF2B5EF4-FFF2-40B4-BE49-F238E27FC236}">
                <a16:creationId xmlns:a16="http://schemas.microsoft.com/office/drawing/2014/main" id="{AE4A8E20-66F9-4B66-9877-5AE07BD892E4}"/>
              </a:ext>
            </a:extLst>
          </p:cNvPr>
          <p:cNvSpPr>
            <a:spLocks xmlns:a="http://schemas.openxmlformats.org/drawingml/2006/main" noGrp="1"/>
          </p:cNvSpPr>
          <p:nvPr/>
        </p:nvSpPr>
        <p:spPr>
          <a:xfrm xmlns:a="http://schemas.openxmlformats.org/drawingml/2006/main">
            <a:off x="5219700" y="3781425"/>
            <a:ext cx="297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Real-device WhatsApp lifecycle reliability</a:t>
            </a:r>
          </a:p>
        </p:txBody>
      </p:sp>
      <p:sp>
        <p:nvSpPr>
          <p:cNvPr id="29" name="">
            <a:extLst xmlns:a="http://schemas.openxmlformats.org/drawingml/2006/main">
              <a:ext uri="{FF2B5EF4-FFF2-40B4-BE49-F238E27FC236}">
                <a16:creationId xmlns:a16="http://schemas.microsoft.com/office/drawing/2014/main" id="{8D89A873-9A0B-4C71-B1A8-6FA4B3CB5F69}"/>
              </a:ext>
            </a:extLst>
          </p:cNvPr>
          <p:cNvSpPr>
            <a:spLocks xmlns:a="http://schemas.openxmlformats.org/drawingml/2006/main" noGrp="1"/>
          </p:cNvSpPr>
          <p:nvPr/>
        </p:nvSpPr>
        <p:spPr>
          <a:xfrm xmlns:a="http://schemas.openxmlformats.org/drawingml/2006/main">
            <a:off x="8553450" y="16668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C4CF1"/>
                </a:solidFill>
              </a:defRPr>
            </a:pPr>
            <a:r>
              <a:rPr sz="1125" b="1">
                <a:solidFill>
                  <a:srgbClr val="6C4CF1"/>
                </a:solidFill>
              </a:rPr>
              <a:t>PLANNED</a:t>
            </a:r>
          </a:p>
        </p:txBody>
      </p:sp>
      <p:sp>
        <p:nvSpPr>
          <p:cNvPr id="30" name="">
            <a:extLst xmlns:a="http://schemas.openxmlformats.org/drawingml/2006/main">
              <a:ext uri="{FF2B5EF4-FFF2-40B4-BE49-F238E27FC236}">
                <a16:creationId xmlns:a16="http://schemas.microsoft.com/office/drawing/2014/main" id="{B3ECD97D-96EC-4F4B-850E-CFC5390F3B90}"/>
              </a:ext>
            </a:extLst>
          </p:cNvPr>
          <p:cNvSpPr>
            <a:spLocks xmlns:a="http://schemas.openxmlformats.org/drawingml/2006/main" noGrp="1"/>
          </p:cNvSpPr>
          <p:nvPr/>
        </p:nvSpPr>
        <p:spPr>
          <a:xfrm xmlns:a="http://schemas.openxmlformats.org/drawingml/2006/main">
            <a:off x="8553450" y="2047875"/>
            <a:ext cx="2724150" cy="28575"/>
          </a:xfrm>
          <a:prstGeom xmlns:a="http://schemas.openxmlformats.org/drawingml/2006/main" prst="rect">
            <a:avLst/>
          </a:prstGeom>
          <a:solidFill xmlns:a="http://schemas.openxmlformats.org/drawingml/2006/main">
            <a:srgbClr val="6C4CF1"/>
          </a:solidFill>
          <a:ln xmlns:a="http://schemas.openxmlformats.org/drawingml/2006/main" w="0">
            <a:solidFill>
              <a:srgbClr val="6C4CF1"/>
            </a:solidFill>
            <a:prstDash val="solid"/>
          </a:ln>
        </p:spPr>
      </p:sp>
      <p:sp>
        <p:nvSpPr>
          <p:cNvPr id="31" name="">
            <a:extLst xmlns:a="http://schemas.openxmlformats.org/drawingml/2006/main">
              <a:ext uri="{FF2B5EF4-FFF2-40B4-BE49-F238E27FC236}">
                <a16:creationId xmlns:a16="http://schemas.microsoft.com/office/drawing/2014/main" id="{23E4125E-5657-4382-98FF-500DAACE4902}"/>
              </a:ext>
            </a:extLst>
          </p:cNvPr>
          <p:cNvSpPr>
            <a:spLocks xmlns:a="http://schemas.openxmlformats.org/drawingml/2006/main" noGrp="1"/>
          </p:cNvSpPr>
          <p:nvPr/>
        </p:nvSpPr>
        <p:spPr>
          <a:xfrm xmlns:a="http://schemas.openxmlformats.org/drawingml/2006/main">
            <a:off x="8553450" y="2305050"/>
            <a:ext cx="152400" cy="152400"/>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32" name="">
            <a:extLst xmlns:a="http://schemas.openxmlformats.org/drawingml/2006/main">
              <a:ext uri="{FF2B5EF4-FFF2-40B4-BE49-F238E27FC236}">
                <a16:creationId xmlns:a16="http://schemas.microsoft.com/office/drawing/2014/main" id="{544176C6-295D-4B30-9CD9-5C6EF35EE89A}"/>
              </a:ext>
            </a:extLst>
          </p:cNvPr>
          <p:cNvSpPr>
            <a:spLocks xmlns:a="http://schemas.openxmlformats.org/drawingml/2006/main" noGrp="1"/>
          </p:cNvSpPr>
          <p:nvPr/>
        </p:nvSpPr>
        <p:spPr>
          <a:xfrm xmlns:a="http://schemas.openxmlformats.org/drawingml/2006/main">
            <a:off x="8820150" y="220980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Production authentication &amp; onboarding</a:t>
            </a:r>
          </a:p>
        </p:txBody>
      </p:sp>
      <p:sp>
        <p:nvSpPr>
          <p:cNvPr id="33" name="">
            <a:extLst xmlns:a="http://schemas.openxmlformats.org/drawingml/2006/main">
              <a:ext uri="{FF2B5EF4-FFF2-40B4-BE49-F238E27FC236}">
                <a16:creationId xmlns:a16="http://schemas.microsoft.com/office/drawing/2014/main" id="{FB9FC760-402C-4DE6-AD95-7A3DFD13BF1C}"/>
              </a:ext>
            </a:extLst>
          </p:cNvPr>
          <p:cNvSpPr>
            <a:spLocks xmlns:a="http://schemas.openxmlformats.org/drawingml/2006/main" noGrp="1"/>
          </p:cNvSpPr>
          <p:nvPr/>
        </p:nvSpPr>
        <p:spPr>
          <a:xfrm xmlns:a="http://schemas.openxmlformats.org/drawingml/2006/main">
            <a:off x="8553450" y="2828925"/>
            <a:ext cx="152400" cy="152400"/>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34" name="">
            <a:extLst xmlns:a="http://schemas.openxmlformats.org/drawingml/2006/main">
              <a:ext uri="{FF2B5EF4-FFF2-40B4-BE49-F238E27FC236}">
                <a16:creationId xmlns:a16="http://schemas.microsoft.com/office/drawing/2014/main" id="{6EE78383-A0E9-48BA-A59B-C3B89F2C2D56}"/>
              </a:ext>
            </a:extLst>
          </p:cNvPr>
          <p:cNvSpPr>
            <a:spLocks xmlns:a="http://schemas.openxmlformats.org/drawingml/2006/main" noGrp="1"/>
          </p:cNvSpPr>
          <p:nvPr/>
        </p:nvSpPr>
        <p:spPr>
          <a:xfrm xmlns:a="http://schemas.openxmlformats.org/drawingml/2006/main">
            <a:off x="8820150" y="2733675"/>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Analytics and team access</a:t>
            </a:r>
          </a:p>
        </p:txBody>
      </p:sp>
      <p:sp>
        <p:nvSpPr>
          <p:cNvPr id="35" name="">
            <a:extLst xmlns:a="http://schemas.openxmlformats.org/drawingml/2006/main">
              <a:ext uri="{FF2B5EF4-FFF2-40B4-BE49-F238E27FC236}">
                <a16:creationId xmlns:a16="http://schemas.microsoft.com/office/drawing/2014/main" id="{44F1880E-F068-41D8-AE6A-EF55BA6C5533}"/>
              </a:ext>
            </a:extLst>
          </p:cNvPr>
          <p:cNvSpPr>
            <a:spLocks xmlns:a="http://schemas.openxmlformats.org/drawingml/2006/main" noGrp="1"/>
          </p:cNvSpPr>
          <p:nvPr/>
        </p:nvSpPr>
        <p:spPr>
          <a:xfrm xmlns:a="http://schemas.openxmlformats.org/drawingml/2006/main">
            <a:off x="8553450" y="3352800"/>
            <a:ext cx="152400" cy="152400"/>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36" name="">
            <a:extLst xmlns:a="http://schemas.openxmlformats.org/drawingml/2006/main">
              <a:ext uri="{FF2B5EF4-FFF2-40B4-BE49-F238E27FC236}">
                <a16:creationId xmlns:a16="http://schemas.microsoft.com/office/drawing/2014/main" id="{E4EC99E6-BF19-440F-9550-60CA324025F8}"/>
              </a:ext>
            </a:extLst>
          </p:cNvPr>
          <p:cNvSpPr>
            <a:spLocks xmlns:a="http://schemas.openxmlformats.org/drawingml/2006/main" noGrp="1"/>
          </p:cNvSpPr>
          <p:nvPr/>
        </p:nvSpPr>
        <p:spPr>
          <a:xfrm xmlns:a="http://schemas.openxmlformats.org/drawingml/2006/main">
            <a:off x="8820150" y="3257550"/>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Official WhatsApp Business transport</a:t>
            </a:r>
          </a:p>
        </p:txBody>
      </p:sp>
      <p:sp>
        <p:nvSpPr>
          <p:cNvPr id="37" name="">
            <a:extLst xmlns:a="http://schemas.openxmlformats.org/drawingml/2006/main">
              <a:ext uri="{FF2B5EF4-FFF2-40B4-BE49-F238E27FC236}">
                <a16:creationId xmlns:a16="http://schemas.microsoft.com/office/drawing/2014/main" id="{0183B810-B08A-4EDC-8736-C4E941AEDE51}"/>
              </a:ext>
            </a:extLst>
          </p:cNvPr>
          <p:cNvSpPr>
            <a:spLocks xmlns:a="http://schemas.openxmlformats.org/drawingml/2006/main" noGrp="1"/>
          </p:cNvSpPr>
          <p:nvPr/>
        </p:nvSpPr>
        <p:spPr>
          <a:xfrm xmlns:a="http://schemas.openxmlformats.org/drawingml/2006/main">
            <a:off x="8553450" y="3876675"/>
            <a:ext cx="152400" cy="152400"/>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38" name="">
            <a:extLst xmlns:a="http://schemas.openxmlformats.org/drawingml/2006/main">
              <a:ext uri="{FF2B5EF4-FFF2-40B4-BE49-F238E27FC236}">
                <a16:creationId xmlns:a16="http://schemas.microsoft.com/office/drawing/2014/main" id="{53183D8C-0C61-426C-A33B-2BEE0DC51F36}"/>
              </a:ext>
            </a:extLst>
          </p:cNvPr>
          <p:cNvSpPr>
            <a:spLocks xmlns:a="http://schemas.openxmlformats.org/drawingml/2006/main" noGrp="1"/>
          </p:cNvSpPr>
          <p:nvPr/>
        </p:nvSpPr>
        <p:spPr>
          <a:xfrm xmlns:a="http://schemas.openxmlformats.org/drawingml/2006/main">
            <a:off x="8820150" y="3781425"/>
            <a:ext cx="259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Merchant pilots and quality dataset</a:t>
            </a:r>
          </a:p>
        </p:txBody>
      </p:sp>
      <p:sp>
        <p:nvSpPr>
          <p:cNvPr id="39" name="">
            <a:extLst xmlns:a="http://schemas.openxmlformats.org/drawingml/2006/main">
              <a:ext uri="{FF2B5EF4-FFF2-40B4-BE49-F238E27FC236}">
                <a16:creationId xmlns:a16="http://schemas.microsoft.com/office/drawing/2014/main" id="{56094A6F-30F1-4ADD-8FDE-0C93C3F33319}"/>
              </a:ext>
            </a:extLst>
          </p:cNvPr>
          <p:cNvSpPr>
            <a:spLocks xmlns:a="http://schemas.openxmlformats.org/drawingml/2006/main" noGrp="1"/>
          </p:cNvSpPr>
          <p:nvPr/>
        </p:nvSpPr>
        <p:spPr>
          <a:xfrm xmlns:a="http://schemas.openxmlformats.org/drawingml/2006/main">
            <a:off x="685800" y="5857875"/>
            <a:ext cx="10820400" cy="381000"/>
          </a:xfrm>
          <a:prstGeom xmlns:a="http://schemas.openxmlformats.org/drawingml/2006/main" prst="roundRect">
            <a:avLst>
              <a:gd name="adj" fmla="val 30000"/>
            </a:avLst>
          </a:prstGeom>
          <a:solidFill xmlns:a="http://schemas.openxmlformats.org/drawingml/2006/main">
            <a:srgbClr val="101A15"/>
          </a:solidFill>
          <a:ln xmlns:a="http://schemas.openxmlformats.org/drawingml/2006/main" w="9525">
            <a:solidFill>
              <a:srgbClr val="101A15"/>
            </a:solidFill>
            <a:prstDash val="solid"/>
          </a:ln>
        </p:spPr>
      </p:sp>
      <p:sp>
        <p:nvSpPr>
          <p:cNvPr id="40" name="">
            <a:extLst xmlns:a="http://schemas.openxmlformats.org/drawingml/2006/main">
              <a:ext uri="{FF2B5EF4-FFF2-40B4-BE49-F238E27FC236}">
                <a16:creationId xmlns:a16="http://schemas.microsoft.com/office/drawing/2014/main" id="{F5E6EF39-5832-462B-A9E7-7DF9AF10EFDB}"/>
              </a:ext>
            </a:extLst>
          </p:cNvPr>
          <p:cNvSpPr>
            <a:spLocks xmlns:a="http://schemas.openxmlformats.org/drawingml/2006/main" noGrp="1"/>
          </p:cNvSpPr>
          <p:nvPr/>
        </p:nvSpPr>
        <p:spPr>
          <a:xfrm xmlns:a="http://schemas.openxmlformats.org/drawingml/2006/main">
            <a:off x="876300" y="5886450"/>
            <a:ext cx="1043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Current verification: 294 backend tests + 85 gateway tests passing on 20 Aug 2026</a:t>
            </a:r>
          </a:p>
        </p:txBody>
      </p:sp>
      <p:sp>
        <p:nvSpPr>
          <p:cNvPr id="41" name="">
            <a:extLst xmlns:a="http://schemas.openxmlformats.org/drawingml/2006/main">
              <a:ext uri="{FF2B5EF4-FFF2-40B4-BE49-F238E27FC236}">
                <a16:creationId xmlns:a16="http://schemas.microsoft.com/office/drawing/2014/main" id="{138B9973-05C1-43F7-8AC2-22CBAD04A6D4}"/>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2009020491"/>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2DDAC12B-FB81-44F3-AB29-7750A67CADED}"/>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DIFFERENTIATION</a:t>
            </a:r>
          </a:p>
        </p:txBody>
      </p:sp>
      <p:sp>
        <p:nvSpPr>
          <p:cNvPr id="2" name="title">
            <a:extLst xmlns:a="http://schemas.openxmlformats.org/drawingml/2006/main">
              <a:ext uri="{FF2B5EF4-FFF2-40B4-BE49-F238E27FC236}">
                <a16:creationId xmlns:a16="http://schemas.microsoft.com/office/drawing/2014/main" id="{F1651FDA-CD36-4F36-B122-FB615F015F13}"/>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The advantage is the complete commerce loop.</a:t>
            </a:r>
          </a:p>
        </p:txBody>
      </p:sp>
      <p:sp>
        <p:nvSpPr>
          <p:cNvPr id="3" name="">
            <a:extLst xmlns:a="http://schemas.openxmlformats.org/drawingml/2006/main">
              <a:ext uri="{FF2B5EF4-FFF2-40B4-BE49-F238E27FC236}">
                <a16:creationId xmlns:a16="http://schemas.microsoft.com/office/drawing/2014/main" id="{08B371E6-5E39-4DA2-A291-C1438E1ABBDC}"/>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08</a:t>
            </a:r>
          </a:p>
        </p:txBody>
      </p:sp>
      <p:sp>
        <p:nvSpPr>
          <p:cNvPr id="4" name="">
            <a:extLst xmlns:a="http://schemas.openxmlformats.org/drawingml/2006/main">
              <a:ext uri="{FF2B5EF4-FFF2-40B4-BE49-F238E27FC236}">
                <a16:creationId xmlns:a16="http://schemas.microsoft.com/office/drawing/2014/main" id="{B85F6C4B-44AC-48FC-80AE-5C56494B45C4}"/>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E95DBBB5-3F0A-40DA-9CED-449ED812B6FD}"/>
              </a:ext>
            </a:extLst>
          </p:cNvPr>
          <p:cNvSpPr>
            <a:spLocks xmlns:a="http://schemas.openxmlformats.org/drawingml/2006/main" noGrp="1"/>
          </p:cNvSpPr>
          <p:nvPr/>
        </p:nvSpPr>
        <p:spPr>
          <a:xfrm xmlns:a="http://schemas.openxmlformats.org/drawingml/2006/main">
            <a:off x="685800" y="16668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F6B64"/>
                </a:solidFill>
              </a:defRPr>
            </a:pPr>
            <a:r>
              <a:rPr sz="1050" b="1">
                <a:solidFill>
                  <a:srgbClr val="5F6B64"/>
                </a:solidFill>
              </a:rPr>
              <a:t>CAPABILITY</a:t>
            </a:r>
          </a:p>
        </p:txBody>
      </p:sp>
      <p:sp>
        <p:nvSpPr>
          <p:cNvPr id="6" name="">
            <a:extLst xmlns:a="http://schemas.openxmlformats.org/drawingml/2006/main">
              <a:ext uri="{FF2B5EF4-FFF2-40B4-BE49-F238E27FC236}">
                <a16:creationId xmlns:a16="http://schemas.microsoft.com/office/drawing/2014/main" id="{349A265F-2561-4F74-81BF-C7067BEE9588}"/>
              </a:ext>
            </a:extLst>
          </p:cNvPr>
          <p:cNvSpPr>
            <a:spLocks xmlns:a="http://schemas.openxmlformats.org/drawingml/2006/main" noGrp="1"/>
          </p:cNvSpPr>
          <p:nvPr/>
        </p:nvSpPr>
        <p:spPr>
          <a:xfrm xmlns:a="http://schemas.openxmlformats.org/drawingml/2006/main">
            <a:off x="3190875" y="16668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211C"/>
                </a:solidFill>
              </a:defRPr>
            </a:pPr>
            <a:r>
              <a:rPr sz="1200" b="1">
                <a:solidFill>
                  <a:srgbClr val="17211C"/>
                </a:solidFill>
              </a:rPr>
              <a:t>Manual</a:t>
            </a:r>
          </a:p>
        </p:txBody>
      </p:sp>
      <p:sp>
        <p:nvSpPr>
          <p:cNvPr id="7" name="">
            <a:extLst xmlns:a="http://schemas.openxmlformats.org/drawingml/2006/main">
              <a:ext uri="{FF2B5EF4-FFF2-40B4-BE49-F238E27FC236}">
                <a16:creationId xmlns:a16="http://schemas.microsoft.com/office/drawing/2014/main" id="{829C82C6-CC0D-443F-BD2B-8BE823D4FDED}"/>
              </a:ext>
            </a:extLst>
          </p:cNvPr>
          <p:cNvSpPr>
            <a:spLocks xmlns:a="http://schemas.openxmlformats.org/drawingml/2006/main" noGrp="1"/>
          </p:cNvSpPr>
          <p:nvPr/>
        </p:nvSpPr>
        <p:spPr>
          <a:xfrm xmlns:a="http://schemas.openxmlformats.org/drawingml/2006/main">
            <a:off x="5191125" y="16668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211C"/>
                </a:solidFill>
              </a:defRPr>
            </a:pPr>
            <a:r>
              <a:rPr sz="1200" b="1">
                <a:solidFill>
                  <a:srgbClr val="17211C"/>
                </a:solidFill>
              </a:rPr>
              <a:t>Generic bot</a:t>
            </a:r>
          </a:p>
        </p:txBody>
      </p:sp>
      <p:sp>
        <p:nvSpPr>
          <p:cNvPr id="8" name="">
            <a:extLst xmlns:a="http://schemas.openxmlformats.org/drawingml/2006/main">
              <a:ext uri="{FF2B5EF4-FFF2-40B4-BE49-F238E27FC236}">
                <a16:creationId xmlns:a16="http://schemas.microsoft.com/office/drawing/2014/main" id="{5139A85E-01F0-450F-BB1E-A3C1461FBAD2}"/>
              </a:ext>
            </a:extLst>
          </p:cNvPr>
          <p:cNvSpPr>
            <a:spLocks xmlns:a="http://schemas.openxmlformats.org/drawingml/2006/main" noGrp="1"/>
          </p:cNvSpPr>
          <p:nvPr/>
        </p:nvSpPr>
        <p:spPr>
          <a:xfrm xmlns:a="http://schemas.openxmlformats.org/drawingml/2006/main">
            <a:off x="7191375" y="16668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211C"/>
                </a:solidFill>
              </a:defRPr>
            </a:pPr>
            <a:r>
              <a:rPr sz="1200" b="1">
                <a:solidFill>
                  <a:srgbClr val="17211C"/>
                </a:solidFill>
              </a:rPr>
              <a:t>Web store</a:t>
            </a:r>
          </a:p>
        </p:txBody>
      </p:sp>
      <p:sp>
        <p:nvSpPr>
          <p:cNvPr id="9" name="">
            <a:extLst xmlns:a="http://schemas.openxmlformats.org/drawingml/2006/main">
              <a:ext uri="{FF2B5EF4-FFF2-40B4-BE49-F238E27FC236}">
                <a16:creationId xmlns:a16="http://schemas.microsoft.com/office/drawing/2014/main" id="{6EF3A0D2-F224-426F-8871-A334C8E355F4}"/>
              </a:ext>
            </a:extLst>
          </p:cNvPr>
          <p:cNvSpPr>
            <a:spLocks xmlns:a="http://schemas.openxmlformats.org/drawingml/2006/main" noGrp="1"/>
          </p:cNvSpPr>
          <p:nvPr/>
        </p:nvSpPr>
        <p:spPr>
          <a:xfrm xmlns:a="http://schemas.openxmlformats.org/drawingml/2006/main">
            <a:off x="9191625" y="16668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75E54"/>
                </a:solidFill>
              </a:defRPr>
            </a:pPr>
            <a:r>
              <a:rPr sz="1200" b="1">
                <a:solidFill>
                  <a:srgbClr val="075E54"/>
                </a:solidFill>
              </a:rPr>
              <a:t>Copilot</a:t>
            </a:r>
          </a:p>
        </p:txBody>
      </p:sp>
      <p:sp>
        <p:nvSpPr>
          <p:cNvPr id="10" name="">
            <a:extLst xmlns:a="http://schemas.openxmlformats.org/drawingml/2006/main">
              <a:ext uri="{FF2B5EF4-FFF2-40B4-BE49-F238E27FC236}">
                <a16:creationId xmlns:a16="http://schemas.microsoft.com/office/drawing/2014/main" id="{3DC03338-0379-401C-A798-1EEDAC7BC00A}"/>
              </a:ext>
            </a:extLst>
          </p:cNvPr>
          <p:cNvSpPr>
            <a:spLocks xmlns:a="http://schemas.openxmlformats.org/drawingml/2006/main" noGrp="1"/>
          </p:cNvSpPr>
          <p:nvPr/>
        </p:nvSpPr>
        <p:spPr>
          <a:xfrm xmlns:a="http://schemas.openxmlformats.org/drawingml/2006/main">
            <a:off x="685800" y="204787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11" name="">
            <a:extLst xmlns:a="http://schemas.openxmlformats.org/drawingml/2006/main">
              <a:ext uri="{FF2B5EF4-FFF2-40B4-BE49-F238E27FC236}">
                <a16:creationId xmlns:a16="http://schemas.microsoft.com/office/drawing/2014/main" id="{C3A2C5AE-943E-46F8-AC89-F0EC6CBE1F28}"/>
              </a:ext>
            </a:extLst>
          </p:cNvPr>
          <p:cNvSpPr>
            <a:spLocks xmlns:a="http://schemas.openxmlformats.org/drawingml/2006/main" noGrp="1"/>
          </p:cNvSpPr>
          <p:nvPr/>
        </p:nvSpPr>
        <p:spPr>
          <a:xfrm xmlns:a="http://schemas.openxmlformats.org/drawingml/2006/main">
            <a:off x="685800" y="2162175"/>
            <a:ext cx="10820400" cy="419100"/>
          </a:xfrm>
          <a:prstGeom xmlns:a="http://schemas.openxmlformats.org/drawingml/2006/main" prst="roundRect">
            <a:avLst>
              <a:gd name="adj" fmla="val 27273"/>
            </a:avLst>
          </a:prstGeom>
          <a:solidFill xmlns:a="http://schemas.openxmlformats.org/drawingml/2006/main">
            <a:srgbClr val="F0F3F0"/>
          </a:solidFill>
          <a:ln xmlns:a="http://schemas.openxmlformats.org/drawingml/2006/main" w="9525">
            <a:solidFill>
              <a:srgbClr val="F0F3F0"/>
            </a:solidFill>
            <a:prstDash val="solid"/>
          </a:ln>
        </p:spPr>
      </p:sp>
      <p:sp>
        <p:nvSpPr>
          <p:cNvPr id="12" name="">
            <a:extLst xmlns:a="http://schemas.openxmlformats.org/drawingml/2006/main">
              <a:ext uri="{FF2B5EF4-FFF2-40B4-BE49-F238E27FC236}">
                <a16:creationId xmlns:a16="http://schemas.microsoft.com/office/drawing/2014/main" id="{E4FC10EA-8995-4AEA-B9C1-4D02355E0E52}"/>
              </a:ext>
            </a:extLst>
          </p:cNvPr>
          <p:cNvSpPr>
            <a:spLocks xmlns:a="http://schemas.openxmlformats.org/drawingml/2006/main" noGrp="1"/>
          </p:cNvSpPr>
          <p:nvPr/>
        </p:nvSpPr>
        <p:spPr>
          <a:xfrm xmlns:a="http://schemas.openxmlformats.org/drawingml/2006/main">
            <a:off x="838200" y="2190750"/>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Inside WhatsApp</a:t>
            </a:r>
          </a:p>
        </p:txBody>
      </p:sp>
      <p:sp>
        <p:nvSpPr>
          <p:cNvPr id="13" name="">
            <a:extLst xmlns:a="http://schemas.openxmlformats.org/drawingml/2006/main">
              <a:ext uri="{FF2B5EF4-FFF2-40B4-BE49-F238E27FC236}">
                <a16:creationId xmlns:a16="http://schemas.microsoft.com/office/drawing/2014/main" id="{7DC6A3C6-DD7E-49E8-ADC3-FB28690B3713}"/>
              </a:ext>
            </a:extLst>
          </p:cNvPr>
          <p:cNvSpPr>
            <a:spLocks xmlns:a="http://schemas.openxmlformats.org/drawingml/2006/main" noGrp="1"/>
          </p:cNvSpPr>
          <p:nvPr/>
        </p:nvSpPr>
        <p:spPr>
          <a:xfrm xmlns:a="http://schemas.openxmlformats.org/drawingml/2006/main">
            <a:off x="3190875" y="2190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14" name="">
            <a:extLst xmlns:a="http://schemas.openxmlformats.org/drawingml/2006/main">
              <a:ext uri="{FF2B5EF4-FFF2-40B4-BE49-F238E27FC236}">
                <a16:creationId xmlns:a16="http://schemas.microsoft.com/office/drawing/2014/main" id="{A6BB5B7B-A2FE-4CF3-ADB0-D261F339A2BA}"/>
              </a:ext>
            </a:extLst>
          </p:cNvPr>
          <p:cNvSpPr>
            <a:spLocks xmlns:a="http://schemas.openxmlformats.org/drawingml/2006/main" noGrp="1"/>
          </p:cNvSpPr>
          <p:nvPr/>
        </p:nvSpPr>
        <p:spPr>
          <a:xfrm xmlns:a="http://schemas.openxmlformats.org/drawingml/2006/main">
            <a:off x="5191125" y="2190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15" name="">
            <a:extLst xmlns:a="http://schemas.openxmlformats.org/drawingml/2006/main">
              <a:ext uri="{FF2B5EF4-FFF2-40B4-BE49-F238E27FC236}">
                <a16:creationId xmlns:a16="http://schemas.microsoft.com/office/drawing/2014/main" id="{E3CDD30E-079C-49BF-9AF7-4AB653C8E854}"/>
              </a:ext>
            </a:extLst>
          </p:cNvPr>
          <p:cNvSpPr>
            <a:spLocks xmlns:a="http://schemas.openxmlformats.org/drawingml/2006/main" noGrp="1"/>
          </p:cNvSpPr>
          <p:nvPr/>
        </p:nvSpPr>
        <p:spPr>
          <a:xfrm xmlns:a="http://schemas.openxmlformats.org/drawingml/2006/main">
            <a:off x="7191375" y="2190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16" name="">
            <a:extLst xmlns:a="http://schemas.openxmlformats.org/drawingml/2006/main">
              <a:ext uri="{FF2B5EF4-FFF2-40B4-BE49-F238E27FC236}">
                <a16:creationId xmlns:a16="http://schemas.microsoft.com/office/drawing/2014/main" id="{EC7221AC-CC21-4564-8A88-CF5B8CC65884}"/>
              </a:ext>
            </a:extLst>
          </p:cNvPr>
          <p:cNvSpPr>
            <a:spLocks xmlns:a="http://schemas.openxmlformats.org/drawingml/2006/main" noGrp="1"/>
          </p:cNvSpPr>
          <p:nvPr/>
        </p:nvSpPr>
        <p:spPr>
          <a:xfrm xmlns:a="http://schemas.openxmlformats.org/drawingml/2006/main">
            <a:off x="9191625" y="2190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a:t>
            </a:r>
          </a:p>
        </p:txBody>
      </p:sp>
      <p:sp>
        <p:nvSpPr>
          <p:cNvPr id="17" name="">
            <a:extLst xmlns:a="http://schemas.openxmlformats.org/drawingml/2006/main">
              <a:ext uri="{FF2B5EF4-FFF2-40B4-BE49-F238E27FC236}">
                <a16:creationId xmlns:a16="http://schemas.microsoft.com/office/drawing/2014/main" id="{B15A5797-4D51-4987-BDFF-C9E89EC9DA68}"/>
              </a:ext>
            </a:extLst>
          </p:cNvPr>
          <p:cNvSpPr>
            <a:spLocks xmlns:a="http://schemas.openxmlformats.org/drawingml/2006/main" noGrp="1"/>
          </p:cNvSpPr>
          <p:nvPr/>
        </p:nvSpPr>
        <p:spPr>
          <a:xfrm xmlns:a="http://schemas.openxmlformats.org/drawingml/2006/main">
            <a:off x="838200" y="2657475"/>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Multilingual</a:t>
            </a:r>
          </a:p>
        </p:txBody>
      </p:sp>
      <p:sp>
        <p:nvSpPr>
          <p:cNvPr id="18" name="">
            <a:extLst xmlns:a="http://schemas.openxmlformats.org/drawingml/2006/main">
              <a:ext uri="{FF2B5EF4-FFF2-40B4-BE49-F238E27FC236}">
                <a16:creationId xmlns:a16="http://schemas.microsoft.com/office/drawing/2014/main" id="{1A945996-681C-4F58-9E07-ADAC57060E34}"/>
              </a:ext>
            </a:extLst>
          </p:cNvPr>
          <p:cNvSpPr>
            <a:spLocks xmlns:a="http://schemas.openxmlformats.org/drawingml/2006/main" noGrp="1"/>
          </p:cNvSpPr>
          <p:nvPr/>
        </p:nvSpPr>
        <p:spPr>
          <a:xfrm xmlns:a="http://schemas.openxmlformats.org/drawingml/2006/main">
            <a:off x="3190875" y="26574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19" name="">
            <a:extLst xmlns:a="http://schemas.openxmlformats.org/drawingml/2006/main">
              <a:ext uri="{FF2B5EF4-FFF2-40B4-BE49-F238E27FC236}">
                <a16:creationId xmlns:a16="http://schemas.microsoft.com/office/drawing/2014/main" id="{635F55D7-66A4-4AD3-BE4F-08B6F8A1F901}"/>
              </a:ext>
            </a:extLst>
          </p:cNvPr>
          <p:cNvSpPr>
            <a:spLocks xmlns:a="http://schemas.openxmlformats.org/drawingml/2006/main" noGrp="1"/>
          </p:cNvSpPr>
          <p:nvPr/>
        </p:nvSpPr>
        <p:spPr>
          <a:xfrm xmlns:a="http://schemas.openxmlformats.org/drawingml/2006/main">
            <a:off x="5191125" y="26574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20" name="">
            <a:extLst xmlns:a="http://schemas.openxmlformats.org/drawingml/2006/main">
              <a:ext uri="{FF2B5EF4-FFF2-40B4-BE49-F238E27FC236}">
                <a16:creationId xmlns:a16="http://schemas.microsoft.com/office/drawing/2014/main" id="{A3C34F86-9AB8-45B9-BBD0-97F3E2ABF021}"/>
              </a:ext>
            </a:extLst>
          </p:cNvPr>
          <p:cNvSpPr>
            <a:spLocks xmlns:a="http://schemas.openxmlformats.org/drawingml/2006/main" noGrp="1"/>
          </p:cNvSpPr>
          <p:nvPr/>
        </p:nvSpPr>
        <p:spPr>
          <a:xfrm xmlns:a="http://schemas.openxmlformats.org/drawingml/2006/main">
            <a:off x="7191375" y="26574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21" name="">
            <a:extLst xmlns:a="http://schemas.openxmlformats.org/drawingml/2006/main">
              <a:ext uri="{FF2B5EF4-FFF2-40B4-BE49-F238E27FC236}">
                <a16:creationId xmlns:a16="http://schemas.microsoft.com/office/drawing/2014/main" id="{BFBE5D62-512E-4D3D-B8BA-A03E0A2D9B7E}"/>
              </a:ext>
            </a:extLst>
          </p:cNvPr>
          <p:cNvSpPr>
            <a:spLocks xmlns:a="http://schemas.openxmlformats.org/drawingml/2006/main" noGrp="1"/>
          </p:cNvSpPr>
          <p:nvPr/>
        </p:nvSpPr>
        <p:spPr>
          <a:xfrm xmlns:a="http://schemas.openxmlformats.org/drawingml/2006/main">
            <a:off x="9191625" y="26574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a:t>
            </a:r>
          </a:p>
        </p:txBody>
      </p:sp>
      <p:sp>
        <p:nvSpPr>
          <p:cNvPr id="22" name="">
            <a:extLst xmlns:a="http://schemas.openxmlformats.org/drawingml/2006/main">
              <a:ext uri="{FF2B5EF4-FFF2-40B4-BE49-F238E27FC236}">
                <a16:creationId xmlns:a16="http://schemas.microsoft.com/office/drawing/2014/main" id="{C8402567-ACBA-412C-A2D1-512C527F1DB3}"/>
              </a:ext>
            </a:extLst>
          </p:cNvPr>
          <p:cNvSpPr>
            <a:spLocks xmlns:a="http://schemas.openxmlformats.org/drawingml/2006/main" noGrp="1"/>
          </p:cNvSpPr>
          <p:nvPr/>
        </p:nvSpPr>
        <p:spPr>
          <a:xfrm xmlns:a="http://schemas.openxmlformats.org/drawingml/2006/main">
            <a:off x="685800" y="3095625"/>
            <a:ext cx="10820400" cy="419100"/>
          </a:xfrm>
          <a:prstGeom xmlns:a="http://schemas.openxmlformats.org/drawingml/2006/main" prst="roundRect">
            <a:avLst>
              <a:gd name="adj" fmla="val 27273"/>
            </a:avLst>
          </a:prstGeom>
          <a:solidFill xmlns:a="http://schemas.openxmlformats.org/drawingml/2006/main">
            <a:srgbClr val="F0F3F0"/>
          </a:solidFill>
          <a:ln xmlns:a="http://schemas.openxmlformats.org/drawingml/2006/main" w="9525">
            <a:solidFill>
              <a:srgbClr val="F0F3F0"/>
            </a:solidFill>
            <a:prstDash val="solid"/>
          </a:ln>
        </p:spPr>
      </p:sp>
      <p:sp>
        <p:nvSpPr>
          <p:cNvPr id="23" name="">
            <a:extLst xmlns:a="http://schemas.openxmlformats.org/drawingml/2006/main">
              <a:ext uri="{FF2B5EF4-FFF2-40B4-BE49-F238E27FC236}">
                <a16:creationId xmlns:a16="http://schemas.microsoft.com/office/drawing/2014/main" id="{383B4999-8343-4822-8CD3-3F997B352094}"/>
              </a:ext>
            </a:extLst>
          </p:cNvPr>
          <p:cNvSpPr>
            <a:spLocks xmlns:a="http://schemas.openxmlformats.org/drawingml/2006/main" noGrp="1"/>
          </p:cNvSpPr>
          <p:nvPr/>
        </p:nvSpPr>
        <p:spPr>
          <a:xfrm xmlns:a="http://schemas.openxmlformats.org/drawingml/2006/main">
            <a:off x="838200" y="3124200"/>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1C"/>
                </a:solidFill>
              </a:defRPr>
            </a:pPr>
            <a:r>
              <a:rPr sz="1200" b="1">
                <a:solidFill>
                  <a:srgbClr val="17211C"/>
                </a:solidFill>
              </a:rPr>
              <a:t>Catalog-grounded</a:t>
            </a:r>
          </a:p>
        </p:txBody>
      </p:sp>
      <p:sp>
        <p:nvSpPr>
          <p:cNvPr id="24" name="">
            <a:extLst xmlns:a="http://schemas.openxmlformats.org/drawingml/2006/main">
              <a:ext uri="{FF2B5EF4-FFF2-40B4-BE49-F238E27FC236}">
                <a16:creationId xmlns:a16="http://schemas.microsoft.com/office/drawing/2014/main" id="{28EE8CA7-EE27-41A3-9628-46049061B344}"/>
              </a:ext>
            </a:extLst>
          </p:cNvPr>
          <p:cNvSpPr>
            <a:spLocks xmlns:a="http://schemas.openxmlformats.org/drawingml/2006/main" noGrp="1"/>
          </p:cNvSpPr>
          <p:nvPr/>
        </p:nvSpPr>
        <p:spPr>
          <a:xfrm xmlns:a="http://schemas.openxmlformats.org/drawingml/2006/main">
            <a:off x="3190875" y="31242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25" name="">
            <a:extLst xmlns:a="http://schemas.openxmlformats.org/drawingml/2006/main">
              <a:ext uri="{FF2B5EF4-FFF2-40B4-BE49-F238E27FC236}">
                <a16:creationId xmlns:a16="http://schemas.microsoft.com/office/drawing/2014/main" id="{7D70149F-5766-46DD-A8D9-8ADA8438990D}"/>
              </a:ext>
            </a:extLst>
          </p:cNvPr>
          <p:cNvSpPr>
            <a:spLocks xmlns:a="http://schemas.openxmlformats.org/drawingml/2006/main" noGrp="1"/>
          </p:cNvSpPr>
          <p:nvPr/>
        </p:nvSpPr>
        <p:spPr>
          <a:xfrm xmlns:a="http://schemas.openxmlformats.org/drawingml/2006/main">
            <a:off x="5191125" y="31242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26" name="">
            <a:extLst xmlns:a="http://schemas.openxmlformats.org/drawingml/2006/main">
              <a:ext uri="{FF2B5EF4-FFF2-40B4-BE49-F238E27FC236}">
                <a16:creationId xmlns:a16="http://schemas.microsoft.com/office/drawing/2014/main" id="{8C7753E4-0FF3-4BAF-BE71-0C24C511797B}"/>
              </a:ext>
            </a:extLst>
          </p:cNvPr>
          <p:cNvSpPr>
            <a:spLocks xmlns:a="http://schemas.openxmlformats.org/drawingml/2006/main" noGrp="1"/>
          </p:cNvSpPr>
          <p:nvPr/>
        </p:nvSpPr>
        <p:spPr>
          <a:xfrm xmlns:a="http://schemas.openxmlformats.org/drawingml/2006/main">
            <a:off x="7191375" y="31242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27" name="">
            <a:extLst xmlns:a="http://schemas.openxmlformats.org/drawingml/2006/main">
              <a:ext uri="{FF2B5EF4-FFF2-40B4-BE49-F238E27FC236}">
                <a16:creationId xmlns:a16="http://schemas.microsoft.com/office/drawing/2014/main" id="{9198330D-7011-4DE9-A075-438F47DF5221}"/>
              </a:ext>
            </a:extLst>
          </p:cNvPr>
          <p:cNvSpPr>
            <a:spLocks xmlns:a="http://schemas.openxmlformats.org/drawingml/2006/main" noGrp="1"/>
          </p:cNvSpPr>
          <p:nvPr/>
        </p:nvSpPr>
        <p:spPr>
          <a:xfrm xmlns:a="http://schemas.openxmlformats.org/drawingml/2006/main">
            <a:off x="9191625" y="31242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a:t>
            </a:r>
          </a:p>
        </p:txBody>
      </p:sp>
      <p:sp>
        <p:nvSpPr>
          <p:cNvPr id="28" name="">
            <a:extLst xmlns:a="http://schemas.openxmlformats.org/drawingml/2006/main">
              <a:ext uri="{FF2B5EF4-FFF2-40B4-BE49-F238E27FC236}">
                <a16:creationId xmlns:a16="http://schemas.microsoft.com/office/drawing/2014/main" id="{BA3DE7F7-A4D9-4420-8D45-2672E7847424}"/>
              </a:ext>
            </a:extLst>
          </p:cNvPr>
          <p:cNvSpPr>
            <a:spLocks xmlns:a="http://schemas.openxmlformats.org/drawingml/2006/main" noGrp="1"/>
          </p:cNvSpPr>
          <p:nvPr/>
        </p:nvSpPr>
        <p:spPr>
          <a:xfrm xmlns:a="http://schemas.openxmlformats.org/drawingml/2006/main">
            <a:off x="838200" y="3590925"/>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Image / voice</a:t>
            </a:r>
          </a:p>
        </p:txBody>
      </p:sp>
      <p:sp>
        <p:nvSpPr>
          <p:cNvPr id="29" name="">
            <a:extLst xmlns:a="http://schemas.openxmlformats.org/drawingml/2006/main">
              <a:ext uri="{FF2B5EF4-FFF2-40B4-BE49-F238E27FC236}">
                <a16:creationId xmlns:a16="http://schemas.microsoft.com/office/drawing/2014/main" id="{AADE6C7B-9867-4855-8817-8E170D75FC85}"/>
              </a:ext>
            </a:extLst>
          </p:cNvPr>
          <p:cNvSpPr>
            <a:spLocks xmlns:a="http://schemas.openxmlformats.org/drawingml/2006/main" noGrp="1"/>
          </p:cNvSpPr>
          <p:nvPr/>
        </p:nvSpPr>
        <p:spPr>
          <a:xfrm xmlns:a="http://schemas.openxmlformats.org/drawingml/2006/main">
            <a:off x="3190875" y="35909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30" name="">
            <a:extLst xmlns:a="http://schemas.openxmlformats.org/drawingml/2006/main">
              <a:ext uri="{FF2B5EF4-FFF2-40B4-BE49-F238E27FC236}">
                <a16:creationId xmlns:a16="http://schemas.microsoft.com/office/drawing/2014/main" id="{2A7DF8FB-9281-4F01-AC30-E2C9373C1DCA}"/>
              </a:ext>
            </a:extLst>
          </p:cNvPr>
          <p:cNvSpPr>
            <a:spLocks xmlns:a="http://schemas.openxmlformats.org/drawingml/2006/main" noGrp="1"/>
          </p:cNvSpPr>
          <p:nvPr/>
        </p:nvSpPr>
        <p:spPr>
          <a:xfrm xmlns:a="http://schemas.openxmlformats.org/drawingml/2006/main">
            <a:off x="5191125" y="35909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31" name="">
            <a:extLst xmlns:a="http://schemas.openxmlformats.org/drawingml/2006/main">
              <a:ext uri="{FF2B5EF4-FFF2-40B4-BE49-F238E27FC236}">
                <a16:creationId xmlns:a16="http://schemas.microsoft.com/office/drawing/2014/main" id="{2ACB71F0-75EC-474E-86DC-BAA3C2FF5F2F}"/>
              </a:ext>
            </a:extLst>
          </p:cNvPr>
          <p:cNvSpPr>
            <a:spLocks xmlns:a="http://schemas.openxmlformats.org/drawingml/2006/main" noGrp="1"/>
          </p:cNvSpPr>
          <p:nvPr/>
        </p:nvSpPr>
        <p:spPr>
          <a:xfrm xmlns:a="http://schemas.openxmlformats.org/drawingml/2006/main">
            <a:off x="7191375" y="35909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32" name="">
            <a:extLst xmlns:a="http://schemas.openxmlformats.org/drawingml/2006/main">
              <a:ext uri="{FF2B5EF4-FFF2-40B4-BE49-F238E27FC236}">
                <a16:creationId xmlns:a16="http://schemas.microsoft.com/office/drawing/2014/main" id="{8A244A17-43E1-4DED-8385-79FB1B9E0598}"/>
              </a:ext>
            </a:extLst>
          </p:cNvPr>
          <p:cNvSpPr>
            <a:spLocks xmlns:a="http://schemas.openxmlformats.org/drawingml/2006/main" noGrp="1"/>
          </p:cNvSpPr>
          <p:nvPr/>
        </p:nvSpPr>
        <p:spPr>
          <a:xfrm xmlns:a="http://schemas.openxmlformats.org/drawingml/2006/main">
            <a:off x="9191625" y="35909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a:t>
            </a:r>
          </a:p>
        </p:txBody>
      </p:sp>
      <p:sp>
        <p:nvSpPr>
          <p:cNvPr id="33" name="">
            <a:extLst xmlns:a="http://schemas.openxmlformats.org/drawingml/2006/main">
              <a:ext uri="{FF2B5EF4-FFF2-40B4-BE49-F238E27FC236}">
                <a16:creationId xmlns:a16="http://schemas.microsoft.com/office/drawing/2014/main" id="{6F921768-C61F-4375-89B9-A216EAB58A1A}"/>
              </a:ext>
            </a:extLst>
          </p:cNvPr>
          <p:cNvSpPr>
            <a:spLocks xmlns:a="http://schemas.openxmlformats.org/drawingml/2006/main" noGrp="1"/>
          </p:cNvSpPr>
          <p:nvPr/>
        </p:nvSpPr>
        <p:spPr>
          <a:xfrm xmlns:a="http://schemas.openxmlformats.org/drawingml/2006/main">
            <a:off x="685800" y="4029075"/>
            <a:ext cx="10820400" cy="419100"/>
          </a:xfrm>
          <a:prstGeom xmlns:a="http://schemas.openxmlformats.org/drawingml/2006/main" prst="roundRect">
            <a:avLst>
              <a:gd name="adj" fmla="val 27273"/>
            </a:avLst>
          </a:prstGeom>
          <a:solidFill xmlns:a="http://schemas.openxmlformats.org/drawingml/2006/main">
            <a:srgbClr val="F0F3F0"/>
          </a:solidFill>
          <a:ln xmlns:a="http://schemas.openxmlformats.org/drawingml/2006/main" w="9525">
            <a:solidFill>
              <a:srgbClr val="F0F3F0"/>
            </a:solidFill>
            <a:prstDash val="solid"/>
          </a:ln>
        </p:spPr>
      </p:sp>
      <p:sp>
        <p:nvSpPr>
          <p:cNvPr id="34" name="">
            <a:extLst xmlns:a="http://schemas.openxmlformats.org/drawingml/2006/main">
              <a:ext uri="{FF2B5EF4-FFF2-40B4-BE49-F238E27FC236}">
                <a16:creationId xmlns:a16="http://schemas.microsoft.com/office/drawing/2014/main" id="{5237EF55-DC3F-45E7-9DC8-1D77A621E96F}"/>
              </a:ext>
            </a:extLst>
          </p:cNvPr>
          <p:cNvSpPr>
            <a:spLocks xmlns:a="http://schemas.openxmlformats.org/drawingml/2006/main" noGrp="1"/>
          </p:cNvSpPr>
          <p:nvPr/>
        </p:nvSpPr>
        <p:spPr>
          <a:xfrm xmlns:a="http://schemas.openxmlformats.org/drawingml/2006/main">
            <a:off x="838200" y="4057650"/>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7211C"/>
                </a:solidFill>
              </a:defRPr>
            </a:pPr>
            <a:r>
              <a:rPr sz="1200" b="1">
                <a:solidFill>
                  <a:srgbClr val="17211C"/>
                </a:solidFill>
              </a:rPr>
              <a:t>Structured orders</a:t>
            </a:r>
          </a:p>
        </p:txBody>
      </p:sp>
      <p:sp>
        <p:nvSpPr>
          <p:cNvPr id="35" name="">
            <a:extLst xmlns:a="http://schemas.openxmlformats.org/drawingml/2006/main">
              <a:ext uri="{FF2B5EF4-FFF2-40B4-BE49-F238E27FC236}">
                <a16:creationId xmlns:a16="http://schemas.microsoft.com/office/drawing/2014/main" id="{179BA7A0-CB90-4C45-ACC2-A7B17E1AF43D}"/>
              </a:ext>
            </a:extLst>
          </p:cNvPr>
          <p:cNvSpPr>
            <a:spLocks xmlns:a="http://schemas.openxmlformats.org/drawingml/2006/main" noGrp="1"/>
          </p:cNvSpPr>
          <p:nvPr/>
        </p:nvSpPr>
        <p:spPr>
          <a:xfrm xmlns:a="http://schemas.openxmlformats.org/drawingml/2006/main">
            <a:off x="3190875" y="40576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36" name="">
            <a:extLst xmlns:a="http://schemas.openxmlformats.org/drawingml/2006/main">
              <a:ext uri="{FF2B5EF4-FFF2-40B4-BE49-F238E27FC236}">
                <a16:creationId xmlns:a16="http://schemas.microsoft.com/office/drawing/2014/main" id="{7B50004F-30E0-4D9A-9129-18B4606A2199}"/>
              </a:ext>
            </a:extLst>
          </p:cNvPr>
          <p:cNvSpPr>
            <a:spLocks xmlns:a="http://schemas.openxmlformats.org/drawingml/2006/main" noGrp="1"/>
          </p:cNvSpPr>
          <p:nvPr/>
        </p:nvSpPr>
        <p:spPr>
          <a:xfrm xmlns:a="http://schemas.openxmlformats.org/drawingml/2006/main">
            <a:off x="5191125" y="40576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37" name="">
            <a:extLst xmlns:a="http://schemas.openxmlformats.org/drawingml/2006/main">
              <a:ext uri="{FF2B5EF4-FFF2-40B4-BE49-F238E27FC236}">
                <a16:creationId xmlns:a16="http://schemas.microsoft.com/office/drawing/2014/main" id="{3C75A41E-DCFF-4398-B7A6-078AB57016D3}"/>
              </a:ext>
            </a:extLst>
          </p:cNvPr>
          <p:cNvSpPr>
            <a:spLocks xmlns:a="http://schemas.openxmlformats.org/drawingml/2006/main" noGrp="1"/>
          </p:cNvSpPr>
          <p:nvPr/>
        </p:nvSpPr>
        <p:spPr>
          <a:xfrm xmlns:a="http://schemas.openxmlformats.org/drawingml/2006/main">
            <a:off x="7191375" y="40576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38" name="">
            <a:extLst xmlns:a="http://schemas.openxmlformats.org/drawingml/2006/main">
              <a:ext uri="{FF2B5EF4-FFF2-40B4-BE49-F238E27FC236}">
                <a16:creationId xmlns:a16="http://schemas.microsoft.com/office/drawing/2014/main" id="{76D44951-4871-4E51-A517-9DFFD28F9C38}"/>
              </a:ext>
            </a:extLst>
          </p:cNvPr>
          <p:cNvSpPr>
            <a:spLocks xmlns:a="http://schemas.openxmlformats.org/drawingml/2006/main" noGrp="1"/>
          </p:cNvSpPr>
          <p:nvPr/>
        </p:nvSpPr>
        <p:spPr>
          <a:xfrm xmlns:a="http://schemas.openxmlformats.org/drawingml/2006/main">
            <a:off x="9191625" y="40576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a:t>
            </a:r>
          </a:p>
        </p:txBody>
      </p:sp>
      <p:sp>
        <p:nvSpPr>
          <p:cNvPr id="39" name="">
            <a:extLst xmlns:a="http://schemas.openxmlformats.org/drawingml/2006/main">
              <a:ext uri="{FF2B5EF4-FFF2-40B4-BE49-F238E27FC236}">
                <a16:creationId xmlns:a16="http://schemas.microsoft.com/office/drawing/2014/main" id="{1B5E0303-5319-4B61-A59E-432408C71798}"/>
              </a:ext>
            </a:extLst>
          </p:cNvPr>
          <p:cNvSpPr>
            <a:spLocks xmlns:a="http://schemas.openxmlformats.org/drawingml/2006/main" noGrp="1"/>
          </p:cNvSpPr>
          <p:nvPr/>
        </p:nvSpPr>
        <p:spPr>
          <a:xfrm xmlns:a="http://schemas.openxmlformats.org/drawingml/2006/main">
            <a:off x="838200" y="4524375"/>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Human handoff</a:t>
            </a:r>
          </a:p>
        </p:txBody>
      </p:sp>
      <p:sp>
        <p:nvSpPr>
          <p:cNvPr id="40" name="">
            <a:extLst xmlns:a="http://schemas.openxmlformats.org/drawingml/2006/main">
              <a:ext uri="{FF2B5EF4-FFF2-40B4-BE49-F238E27FC236}">
                <a16:creationId xmlns:a16="http://schemas.microsoft.com/office/drawing/2014/main" id="{1C5C8C15-069A-428B-A4D2-683FD17EFB4D}"/>
              </a:ext>
            </a:extLst>
          </p:cNvPr>
          <p:cNvSpPr>
            <a:spLocks xmlns:a="http://schemas.openxmlformats.org/drawingml/2006/main" noGrp="1"/>
          </p:cNvSpPr>
          <p:nvPr/>
        </p:nvSpPr>
        <p:spPr>
          <a:xfrm xmlns:a="http://schemas.openxmlformats.org/drawingml/2006/main">
            <a:off x="3190875" y="45243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41" name="">
            <a:extLst xmlns:a="http://schemas.openxmlformats.org/drawingml/2006/main">
              <a:ext uri="{FF2B5EF4-FFF2-40B4-BE49-F238E27FC236}">
                <a16:creationId xmlns:a16="http://schemas.microsoft.com/office/drawing/2014/main" id="{F566D38C-276C-4B49-B46E-FDF48DAACD8D}"/>
              </a:ext>
            </a:extLst>
          </p:cNvPr>
          <p:cNvSpPr>
            <a:spLocks xmlns:a="http://schemas.openxmlformats.org/drawingml/2006/main" noGrp="1"/>
          </p:cNvSpPr>
          <p:nvPr/>
        </p:nvSpPr>
        <p:spPr>
          <a:xfrm xmlns:a="http://schemas.openxmlformats.org/drawingml/2006/main">
            <a:off x="5191125" y="45243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42" name="">
            <a:extLst xmlns:a="http://schemas.openxmlformats.org/drawingml/2006/main">
              <a:ext uri="{FF2B5EF4-FFF2-40B4-BE49-F238E27FC236}">
                <a16:creationId xmlns:a16="http://schemas.microsoft.com/office/drawing/2014/main" id="{0AC870AB-FB5D-4E1E-A1A7-7421499FD19F}"/>
              </a:ext>
            </a:extLst>
          </p:cNvPr>
          <p:cNvSpPr>
            <a:spLocks xmlns:a="http://schemas.openxmlformats.org/drawingml/2006/main" noGrp="1"/>
          </p:cNvSpPr>
          <p:nvPr/>
        </p:nvSpPr>
        <p:spPr>
          <a:xfrm xmlns:a="http://schemas.openxmlformats.org/drawingml/2006/main">
            <a:off x="7191375" y="45243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43" name="">
            <a:extLst xmlns:a="http://schemas.openxmlformats.org/drawingml/2006/main">
              <a:ext uri="{FF2B5EF4-FFF2-40B4-BE49-F238E27FC236}">
                <a16:creationId xmlns:a16="http://schemas.microsoft.com/office/drawing/2014/main" id="{2CAC2171-F4CB-484D-A1D7-6F5D01065F2F}"/>
              </a:ext>
            </a:extLst>
          </p:cNvPr>
          <p:cNvSpPr>
            <a:spLocks xmlns:a="http://schemas.openxmlformats.org/drawingml/2006/main" noGrp="1"/>
          </p:cNvSpPr>
          <p:nvPr/>
        </p:nvSpPr>
        <p:spPr>
          <a:xfrm xmlns:a="http://schemas.openxmlformats.org/drawingml/2006/main">
            <a:off x="9191625" y="45243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a:t>
            </a:r>
          </a:p>
        </p:txBody>
      </p:sp>
      <p:sp>
        <p:nvSpPr>
          <p:cNvPr id="44" name="">
            <a:extLst xmlns:a="http://schemas.openxmlformats.org/drawingml/2006/main">
              <a:ext uri="{FF2B5EF4-FFF2-40B4-BE49-F238E27FC236}">
                <a16:creationId xmlns:a16="http://schemas.microsoft.com/office/drawing/2014/main" id="{657FEB85-7ACE-47AC-A20A-32150CF9CAB1}"/>
              </a:ext>
            </a:extLst>
          </p:cNvPr>
          <p:cNvSpPr>
            <a:spLocks xmlns:a="http://schemas.openxmlformats.org/drawingml/2006/main" noGrp="1"/>
          </p:cNvSpPr>
          <p:nvPr/>
        </p:nvSpPr>
        <p:spPr>
          <a:xfrm xmlns:a="http://schemas.openxmlformats.org/drawingml/2006/main">
            <a:off x="685800" y="4962525"/>
            <a:ext cx="10820400" cy="419100"/>
          </a:xfrm>
          <a:prstGeom xmlns:a="http://schemas.openxmlformats.org/drawingml/2006/main" prst="roundRect">
            <a:avLst>
              <a:gd name="adj" fmla="val 27273"/>
            </a:avLst>
          </a:prstGeom>
          <a:solidFill xmlns:a="http://schemas.openxmlformats.org/drawingml/2006/main">
            <a:srgbClr val="F0F3F0"/>
          </a:solidFill>
          <a:ln xmlns:a="http://schemas.openxmlformats.org/drawingml/2006/main" w="9525">
            <a:solidFill>
              <a:srgbClr val="F0F3F0"/>
            </a:solidFill>
            <a:prstDash val="solid"/>
          </a:ln>
        </p:spPr>
      </p:sp>
      <p:sp>
        <p:nvSpPr>
          <p:cNvPr id="45" name="">
            <a:extLst xmlns:a="http://schemas.openxmlformats.org/drawingml/2006/main">
              <a:ext uri="{FF2B5EF4-FFF2-40B4-BE49-F238E27FC236}">
                <a16:creationId xmlns:a16="http://schemas.microsoft.com/office/drawing/2014/main" id="{A0E1E5FB-6688-4182-A9A6-E4ECFD8B04B9}"/>
              </a:ext>
            </a:extLst>
          </p:cNvPr>
          <p:cNvSpPr>
            <a:spLocks xmlns:a="http://schemas.openxmlformats.org/drawingml/2006/main" noGrp="1"/>
          </p:cNvSpPr>
          <p:nvPr/>
        </p:nvSpPr>
        <p:spPr>
          <a:xfrm xmlns:a="http://schemas.openxmlformats.org/drawingml/2006/main">
            <a:off x="838200" y="4991100"/>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Merchant dashboard</a:t>
            </a:r>
          </a:p>
        </p:txBody>
      </p:sp>
      <p:sp>
        <p:nvSpPr>
          <p:cNvPr id="46" name="">
            <a:extLst xmlns:a="http://schemas.openxmlformats.org/drawingml/2006/main">
              <a:ext uri="{FF2B5EF4-FFF2-40B4-BE49-F238E27FC236}">
                <a16:creationId xmlns:a16="http://schemas.microsoft.com/office/drawing/2014/main" id="{E738F219-064B-4B92-822E-DC2A54D51257}"/>
              </a:ext>
            </a:extLst>
          </p:cNvPr>
          <p:cNvSpPr>
            <a:spLocks xmlns:a="http://schemas.openxmlformats.org/drawingml/2006/main" noGrp="1"/>
          </p:cNvSpPr>
          <p:nvPr/>
        </p:nvSpPr>
        <p:spPr>
          <a:xfrm xmlns:a="http://schemas.openxmlformats.org/drawingml/2006/main">
            <a:off x="3190875" y="4991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47" name="">
            <a:extLst xmlns:a="http://schemas.openxmlformats.org/drawingml/2006/main">
              <a:ext uri="{FF2B5EF4-FFF2-40B4-BE49-F238E27FC236}">
                <a16:creationId xmlns:a16="http://schemas.microsoft.com/office/drawing/2014/main" id="{3FFC126F-EE9C-4395-9074-6A48E534D6EF}"/>
              </a:ext>
            </a:extLst>
          </p:cNvPr>
          <p:cNvSpPr>
            <a:spLocks xmlns:a="http://schemas.openxmlformats.org/drawingml/2006/main" noGrp="1"/>
          </p:cNvSpPr>
          <p:nvPr/>
        </p:nvSpPr>
        <p:spPr>
          <a:xfrm xmlns:a="http://schemas.openxmlformats.org/drawingml/2006/main">
            <a:off x="5191125" y="4991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48" name="">
            <a:extLst xmlns:a="http://schemas.openxmlformats.org/drawingml/2006/main">
              <a:ext uri="{FF2B5EF4-FFF2-40B4-BE49-F238E27FC236}">
                <a16:creationId xmlns:a16="http://schemas.microsoft.com/office/drawing/2014/main" id="{23AE28C7-DDC0-457E-A1E4-BF89A430B96F}"/>
              </a:ext>
            </a:extLst>
          </p:cNvPr>
          <p:cNvSpPr>
            <a:spLocks xmlns:a="http://schemas.openxmlformats.org/drawingml/2006/main" noGrp="1"/>
          </p:cNvSpPr>
          <p:nvPr/>
        </p:nvSpPr>
        <p:spPr>
          <a:xfrm xmlns:a="http://schemas.openxmlformats.org/drawingml/2006/main">
            <a:off x="7191375" y="4991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a:t>
            </a:r>
          </a:p>
        </p:txBody>
      </p:sp>
      <p:sp>
        <p:nvSpPr>
          <p:cNvPr id="49" name="">
            <a:extLst xmlns:a="http://schemas.openxmlformats.org/drawingml/2006/main">
              <a:ext uri="{FF2B5EF4-FFF2-40B4-BE49-F238E27FC236}">
                <a16:creationId xmlns:a16="http://schemas.microsoft.com/office/drawing/2014/main" id="{951CA6A7-0B5A-4F49-AC5E-FB399445739C}"/>
              </a:ext>
            </a:extLst>
          </p:cNvPr>
          <p:cNvSpPr>
            <a:spLocks xmlns:a="http://schemas.openxmlformats.org/drawingml/2006/main" noGrp="1"/>
          </p:cNvSpPr>
          <p:nvPr/>
        </p:nvSpPr>
        <p:spPr>
          <a:xfrm xmlns:a="http://schemas.openxmlformats.org/drawingml/2006/main">
            <a:off x="9191625" y="4991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a:t>
            </a:r>
          </a:p>
        </p:txBody>
      </p:sp>
      <p:sp>
        <p:nvSpPr>
          <p:cNvPr id="50" name="">
            <a:extLst xmlns:a="http://schemas.openxmlformats.org/drawingml/2006/main">
              <a:ext uri="{FF2B5EF4-FFF2-40B4-BE49-F238E27FC236}">
                <a16:creationId xmlns:a16="http://schemas.microsoft.com/office/drawing/2014/main" id="{25F1663D-AB98-43A3-B993-2E0863F8CD5F}"/>
              </a:ext>
            </a:extLst>
          </p:cNvPr>
          <p:cNvSpPr>
            <a:spLocks xmlns:a="http://schemas.openxmlformats.org/drawingml/2006/main" noGrp="1"/>
          </p:cNvSpPr>
          <p:nvPr/>
        </p:nvSpPr>
        <p:spPr>
          <a:xfrm xmlns:a="http://schemas.openxmlformats.org/drawingml/2006/main">
            <a:off x="838200" y="5457825"/>
            <a:ext cx="2143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11C"/>
                </a:solidFill>
              </a:defRPr>
            </a:pPr>
            <a:r>
              <a:rPr sz="1200" b="0">
                <a:solidFill>
                  <a:srgbClr val="17211C"/>
                </a:solidFill>
              </a:rPr>
              <a:t>Setup complexity</a:t>
            </a:r>
          </a:p>
        </p:txBody>
      </p:sp>
      <p:sp>
        <p:nvSpPr>
          <p:cNvPr id="51" name="">
            <a:extLst xmlns:a="http://schemas.openxmlformats.org/drawingml/2006/main">
              <a:ext uri="{FF2B5EF4-FFF2-40B4-BE49-F238E27FC236}">
                <a16:creationId xmlns:a16="http://schemas.microsoft.com/office/drawing/2014/main" id="{183A8BEC-7EEB-45E3-8CFE-2F2074A6B929}"/>
              </a:ext>
            </a:extLst>
          </p:cNvPr>
          <p:cNvSpPr>
            <a:spLocks xmlns:a="http://schemas.openxmlformats.org/drawingml/2006/main" noGrp="1"/>
          </p:cNvSpPr>
          <p:nvPr/>
        </p:nvSpPr>
        <p:spPr>
          <a:xfrm xmlns:a="http://schemas.openxmlformats.org/drawingml/2006/main">
            <a:off x="3190875" y="5457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Low</a:t>
            </a:r>
          </a:p>
        </p:txBody>
      </p:sp>
      <p:sp>
        <p:nvSpPr>
          <p:cNvPr id="52" name="">
            <a:extLst xmlns:a="http://schemas.openxmlformats.org/drawingml/2006/main">
              <a:ext uri="{FF2B5EF4-FFF2-40B4-BE49-F238E27FC236}">
                <a16:creationId xmlns:a16="http://schemas.microsoft.com/office/drawing/2014/main" id="{2453FB62-D0F1-409B-9106-869F4D86CADE}"/>
              </a:ext>
            </a:extLst>
          </p:cNvPr>
          <p:cNvSpPr>
            <a:spLocks xmlns:a="http://schemas.openxmlformats.org/drawingml/2006/main" noGrp="1"/>
          </p:cNvSpPr>
          <p:nvPr/>
        </p:nvSpPr>
        <p:spPr>
          <a:xfrm xmlns:a="http://schemas.openxmlformats.org/drawingml/2006/main">
            <a:off x="5191125" y="5457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Medium</a:t>
            </a:r>
          </a:p>
        </p:txBody>
      </p:sp>
      <p:sp>
        <p:nvSpPr>
          <p:cNvPr id="53" name="">
            <a:extLst xmlns:a="http://schemas.openxmlformats.org/drawingml/2006/main">
              <a:ext uri="{FF2B5EF4-FFF2-40B4-BE49-F238E27FC236}">
                <a16:creationId xmlns:a16="http://schemas.microsoft.com/office/drawing/2014/main" id="{AF78F880-A3CB-41C7-979E-E8588DE68C78}"/>
              </a:ext>
            </a:extLst>
          </p:cNvPr>
          <p:cNvSpPr>
            <a:spLocks xmlns:a="http://schemas.openxmlformats.org/drawingml/2006/main" noGrp="1"/>
          </p:cNvSpPr>
          <p:nvPr/>
        </p:nvSpPr>
        <p:spPr>
          <a:xfrm xmlns:a="http://schemas.openxmlformats.org/drawingml/2006/main">
            <a:off x="7191375" y="5457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5F6B64"/>
                </a:solidFill>
              </a:defRPr>
            </a:pPr>
            <a:r>
              <a:rPr sz="1275" b="0">
                <a:solidFill>
                  <a:srgbClr val="5F6B64"/>
                </a:solidFill>
              </a:rPr>
              <a:t>High</a:t>
            </a:r>
          </a:p>
        </p:txBody>
      </p:sp>
      <p:sp>
        <p:nvSpPr>
          <p:cNvPr id="54" name="">
            <a:extLst xmlns:a="http://schemas.openxmlformats.org/drawingml/2006/main">
              <a:ext uri="{FF2B5EF4-FFF2-40B4-BE49-F238E27FC236}">
                <a16:creationId xmlns:a16="http://schemas.microsoft.com/office/drawing/2014/main" id="{331E0719-FEBB-4A40-B045-D5AABC9B5B39}"/>
              </a:ext>
            </a:extLst>
          </p:cNvPr>
          <p:cNvSpPr>
            <a:spLocks xmlns:a="http://schemas.openxmlformats.org/drawingml/2006/main" noGrp="1"/>
          </p:cNvSpPr>
          <p:nvPr/>
        </p:nvSpPr>
        <p:spPr>
          <a:xfrm xmlns:a="http://schemas.openxmlformats.org/drawingml/2006/main">
            <a:off x="9191625" y="54578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75E54"/>
                </a:solidFill>
              </a:defRPr>
            </a:pPr>
            <a:r>
              <a:rPr sz="1275" b="1">
                <a:solidFill>
                  <a:srgbClr val="075E54"/>
                </a:solidFill>
              </a:rPr>
              <a:t>Low–med</a:t>
            </a:r>
          </a:p>
        </p:txBody>
      </p:sp>
      <p:sp>
        <p:nvSpPr>
          <p:cNvPr id="55" name="">
            <a:extLst xmlns:a="http://schemas.openxmlformats.org/drawingml/2006/main">
              <a:ext uri="{FF2B5EF4-FFF2-40B4-BE49-F238E27FC236}">
                <a16:creationId xmlns:a16="http://schemas.microsoft.com/office/drawing/2014/main" id="{A071F8C4-F520-4379-BD11-29267109333F}"/>
              </a:ext>
            </a:extLst>
          </p:cNvPr>
          <p:cNvSpPr>
            <a:spLocks xmlns:a="http://schemas.openxmlformats.org/drawingml/2006/main" noGrp="1"/>
          </p:cNvSpPr>
          <p:nvPr/>
        </p:nvSpPr>
        <p:spPr>
          <a:xfrm xmlns:a="http://schemas.openxmlformats.org/drawingml/2006/main">
            <a:off x="685800" y="61531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0">
                <a:solidFill>
                  <a:srgbClr val="5F6B64"/>
                </a:solidFill>
              </a:defRPr>
            </a:pPr>
            <a:r>
              <a:rPr sz="900" b="0">
                <a:solidFill>
                  <a:srgbClr val="5F6B64"/>
                </a:solidFill>
              </a:rPr>
              <a:t>✓ built-in   △ varies by implementation   — not native   * configuration-dependent</a:t>
            </a:r>
          </a:p>
        </p:txBody>
      </p:sp>
      <p:sp>
        <p:nvSpPr>
          <p:cNvPr id="56" name="">
            <a:extLst xmlns:a="http://schemas.openxmlformats.org/drawingml/2006/main">
              <a:ext uri="{FF2B5EF4-FFF2-40B4-BE49-F238E27FC236}">
                <a16:creationId xmlns:a16="http://schemas.microsoft.com/office/drawing/2014/main" id="{B603B058-9842-4F7C-9394-2A5ABE752244}"/>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98942132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512A4A-E53F-4AAA-8057-0F9292A30117}"/>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MARKET</a:t>
            </a:r>
          </a:p>
        </p:txBody>
      </p:sp>
      <p:sp>
        <p:nvSpPr>
          <p:cNvPr id="2" name="title">
            <a:extLst xmlns:a="http://schemas.openxmlformats.org/drawingml/2006/main">
              <a:ext uri="{FF2B5EF4-FFF2-40B4-BE49-F238E27FC236}">
                <a16:creationId xmlns:a16="http://schemas.microsoft.com/office/drawing/2014/main" id="{0B4E6A75-14AB-4990-A743-063DB90CB8E0}"/>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Start narrow. Measure the real opportunity bottom-up.</a:t>
            </a:r>
          </a:p>
        </p:txBody>
      </p:sp>
      <p:sp>
        <p:nvSpPr>
          <p:cNvPr id="3" name="">
            <a:extLst xmlns:a="http://schemas.openxmlformats.org/drawingml/2006/main">
              <a:ext uri="{FF2B5EF4-FFF2-40B4-BE49-F238E27FC236}">
                <a16:creationId xmlns:a16="http://schemas.microsoft.com/office/drawing/2014/main" id="{CE16A4EB-DBA3-422F-B493-A280CF653C45}"/>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09</a:t>
            </a:r>
          </a:p>
        </p:txBody>
      </p:sp>
      <p:sp>
        <p:nvSpPr>
          <p:cNvPr id="4" name="">
            <a:extLst xmlns:a="http://schemas.openxmlformats.org/drawingml/2006/main">
              <a:ext uri="{FF2B5EF4-FFF2-40B4-BE49-F238E27FC236}">
                <a16:creationId xmlns:a16="http://schemas.microsoft.com/office/drawing/2014/main" id="{E979FA98-F749-406B-886B-EE6DC0A39BB8}"/>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5ED53E62-0F86-4652-B24C-AC7307FB154D}"/>
              </a:ext>
            </a:extLst>
          </p:cNvPr>
          <p:cNvSpPr>
            <a:spLocks xmlns:a="http://schemas.openxmlformats.org/drawingml/2006/main" noGrp="1"/>
          </p:cNvSpPr>
          <p:nvPr/>
        </p:nvSpPr>
        <p:spPr>
          <a:xfrm xmlns:a="http://schemas.openxmlformats.org/drawingml/2006/main">
            <a:off x="685800" y="1714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5D366"/>
                </a:solidFill>
              </a:defRPr>
            </a:pPr>
            <a:r>
              <a:rPr sz="1050" b="1">
                <a:solidFill>
                  <a:srgbClr val="25D366"/>
                </a:solidFill>
              </a:rPr>
              <a:t>BEACHHEAD</a:t>
            </a:r>
          </a:p>
        </p:txBody>
      </p:sp>
      <p:sp>
        <p:nvSpPr>
          <p:cNvPr id="6" name="">
            <a:extLst xmlns:a="http://schemas.openxmlformats.org/drawingml/2006/main">
              <a:ext uri="{FF2B5EF4-FFF2-40B4-BE49-F238E27FC236}">
                <a16:creationId xmlns:a16="http://schemas.microsoft.com/office/drawing/2014/main" id="{9C69F017-F6C3-4083-ADC8-15F9EBA345B6}"/>
              </a:ext>
            </a:extLst>
          </p:cNvPr>
          <p:cNvSpPr>
            <a:spLocks xmlns:a="http://schemas.openxmlformats.org/drawingml/2006/main" noGrp="1"/>
          </p:cNvSpPr>
          <p:nvPr/>
        </p:nvSpPr>
        <p:spPr>
          <a:xfrm xmlns:a="http://schemas.openxmlformats.org/drawingml/2006/main">
            <a:off x="2333625" y="1685925"/>
            <a:ext cx="819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211C"/>
                </a:solidFill>
              </a:defRPr>
            </a:pPr>
            <a:r>
              <a:rPr sz="1650" b="1">
                <a:solidFill>
                  <a:srgbClr val="17211C"/>
                </a:solidFill>
              </a:rPr>
              <a:t>Pakistan’s WhatsApp-first fashion, footwear, cosmetics and home sellers</a:t>
            </a:r>
          </a:p>
        </p:txBody>
      </p:sp>
      <p:sp>
        <p:nvSpPr>
          <p:cNvPr id="7" name="">
            <a:extLst xmlns:a="http://schemas.openxmlformats.org/drawingml/2006/main">
              <a:ext uri="{FF2B5EF4-FFF2-40B4-BE49-F238E27FC236}">
                <a16:creationId xmlns:a16="http://schemas.microsoft.com/office/drawing/2014/main" id="{47C64627-62EB-442C-8594-B0EA9732CAC5}"/>
              </a:ext>
            </a:extLst>
          </p:cNvPr>
          <p:cNvSpPr>
            <a:spLocks xmlns:a="http://schemas.openxmlformats.org/drawingml/2006/main" noGrp="1"/>
          </p:cNvSpPr>
          <p:nvPr/>
        </p:nvSpPr>
        <p:spPr>
          <a:xfrm xmlns:a="http://schemas.openxmlformats.org/drawingml/2006/main">
            <a:off x="2333625" y="2333625"/>
            <a:ext cx="8191500" cy="9525"/>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8" name="">
            <a:extLst xmlns:a="http://schemas.openxmlformats.org/drawingml/2006/main">
              <a:ext uri="{FF2B5EF4-FFF2-40B4-BE49-F238E27FC236}">
                <a16:creationId xmlns:a16="http://schemas.microsoft.com/office/drawing/2014/main" id="{9A3113DA-F6E4-4D09-80DE-786AC2E1ED40}"/>
              </a:ext>
            </a:extLst>
          </p:cNvPr>
          <p:cNvSpPr>
            <a:spLocks xmlns:a="http://schemas.openxmlformats.org/drawingml/2006/main" noGrp="1"/>
          </p:cNvSpPr>
          <p:nvPr/>
        </p:nvSpPr>
        <p:spPr>
          <a:xfrm xmlns:a="http://schemas.openxmlformats.org/drawingml/2006/main">
            <a:off x="685800" y="26670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C4CF1"/>
                </a:solidFill>
              </a:defRPr>
            </a:pPr>
            <a:r>
              <a:rPr sz="1050" b="1">
                <a:solidFill>
                  <a:srgbClr val="6C4CF1"/>
                </a:solidFill>
              </a:rPr>
              <a:t>EXPANSION</a:t>
            </a:r>
          </a:p>
        </p:txBody>
      </p:sp>
      <p:sp>
        <p:nvSpPr>
          <p:cNvPr id="9" name="">
            <a:extLst xmlns:a="http://schemas.openxmlformats.org/drawingml/2006/main">
              <a:ext uri="{FF2B5EF4-FFF2-40B4-BE49-F238E27FC236}">
                <a16:creationId xmlns:a16="http://schemas.microsoft.com/office/drawing/2014/main" id="{444E839D-3B78-4066-975A-5A58BF36323A}"/>
              </a:ext>
            </a:extLst>
          </p:cNvPr>
          <p:cNvSpPr>
            <a:spLocks xmlns:a="http://schemas.openxmlformats.org/drawingml/2006/main" noGrp="1"/>
          </p:cNvSpPr>
          <p:nvPr/>
        </p:nvSpPr>
        <p:spPr>
          <a:xfrm xmlns:a="http://schemas.openxmlformats.org/drawingml/2006/main">
            <a:off x="2333625" y="2638425"/>
            <a:ext cx="819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211C"/>
                </a:solidFill>
              </a:defRPr>
            </a:pPr>
            <a:r>
              <a:rPr sz="1650" b="1">
                <a:solidFill>
                  <a:srgbClr val="17211C"/>
                </a:solidFill>
              </a:rPr>
              <a:t>Instagram-to-WhatsApp merchants, local retailers, service businesses</a:t>
            </a:r>
          </a:p>
        </p:txBody>
      </p:sp>
      <p:sp>
        <p:nvSpPr>
          <p:cNvPr id="10" name="">
            <a:extLst xmlns:a="http://schemas.openxmlformats.org/drawingml/2006/main">
              <a:ext uri="{FF2B5EF4-FFF2-40B4-BE49-F238E27FC236}">
                <a16:creationId xmlns:a16="http://schemas.microsoft.com/office/drawing/2014/main" id="{7BC19316-33C7-4281-ABA4-C947DF6DFDE7}"/>
              </a:ext>
            </a:extLst>
          </p:cNvPr>
          <p:cNvSpPr>
            <a:spLocks xmlns:a="http://schemas.openxmlformats.org/drawingml/2006/main" noGrp="1"/>
          </p:cNvSpPr>
          <p:nvPr/>
        </p:nvSpPr>
        <p:spPr>
          <a:xfrm xmlns:a="http://schemas.openxmlformats.org/drawingml/2006/main">
            <a:off x="2333625" y="3286125"/>
            <a:ext cx="8191500" cy="9525"/>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11" name="">
            <a:extLst xmlns:a="http://schemas.openxmlformats.org/drawingml/2006/main">
              <a:ext uri="{FF2B5EF4-FFF2-40B4-BE49-F238E27FC236}">
                <a16:creationId xmlns:a16="http://schemas.microsoft.com/office/drawing/2014/main" id="{CFD3F687-1702-4E9F-B2E8-C2C55302BF9D}"/>
              </a:ext>
            </a:extLst>
          </p:cNvPr>
          <p:cNvSpPr>
            <a:spLocks xmlns:a="http://schemas.openxmlformats.org/drawingml/2006/main" noGrp="1"/>
          </p:cNvSpPr>
          <p:nvPr/>
        </p:nvSpPr>
        <p:spPr>
          <a:xfrm xmlns:a="http://schemas.openxmlformats.org/drawingml/2006/main">
            <a:off x="685800" y="36195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75E54"/>
                </a:solidFill>
              </a:defRPr>
            </a:pPr>
            <a:r>
              <a:rPr sz="1050" b="1">
                <a:solidFill>
                  <a:srgbClr val="075E54"/>
                </a:solidFill>
              </a:rPr>
              <a:t>GEOGRAPHY</a:t>
            </a:r>
          </a:p>
        </p:txBody>
      </p:sp>
      <p:sp>
        <p:nvSpPr>
          <p:cNvPr id="12" name="">
            <a:extLst xmlns:a="http://schemas.openxmlformats.org/drawingml/2006/main">
              <a:ext uri="{FF2B5EF4-FFF2-40B4-BE49-F238E27FC236}">
                <a16:creationId xmlns:a16="http://schemas.microsoft.com/office/drawing/2014/main" id="{16559D13-3BD5-4709-B5F6-F4989099A939}"/>
              </a:ext>
            </a:extLst>
          </p:cNvPr>
          <p:cNvSpPr>
            <a:spLocks xmlns:a="http://schemas.openxmlformats.org/drawingml/2006/main" noGrp="1"/>
          </p:cNvSpPr>
          <p:nvPr/>
        </p:nvSpPr>
        <p:spPr>
          <a:xfrm xmlns:a="http://schemas.openxmlformats.org/drawingml/2006/main">
            <a:off x="2333625" y="3590925"/>
            <a:ext cx="819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211C"/>
                </a:solidFill>
              </a:defRPr>
            </a:pPr>
            <a:r>
              <a:rPr sz="1650" b="1">
                <a:solidFill>
                  <a:srgbClr val="17211C"/>
                </a:solidFill>
              </a:rPr>
              <a:t>Markets with chat-led selling, multilingual buyers and COD workflows</a:t>
            </a:r>
          </a:p>
        </p:txBody>
      </p:sp>
      <p:sp>
        <p:nvSpPr>
          <p:cNvPr id="13" name="">
            <a:extLst xmlns:a="http://schemas.openxmlformats.org/drawingml/2006/main">
              <a:ext uri="{FF2B5EF4-FFF2-40B4-BE49-F238E27FC236}">
                <a16:creationId xmlns:a16="http://schemas.microsoft.com/office/drawing/2014/main" id="{60D23523-E8BE-44F0-BD9D-9E4503B7FCFE}"/>
              </a:ext>
            </a:extLst>
          </p:cNvPr>
          <p:cNvSpPr>
            <a:spLocks xmlns:a="http://schemas.openxmlformats.org/drawingml/2006/main" noGrp="1"/>
          </p:cNvSpPr>
          <p:nvPr/>
        </p:nvSpPr>
        <p:spPr>
          <a:xfrm xmlns:a="http://schemas.openxmlformats.org/drawingml/2006/main">
            <a:off x="2333625" y="4238625"/>
            <a:ext cx="8191500" cy="9525"/>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14" name="">
            <a:extLst xmlns:a="http://schemas.openxmlformats.org/drawingml/2006/main">
              <a:ext uri="{FF2B5EF4-FFF2-40B4-BE49-F238E27FC236}">
                <a16:creationId xmlns:a16="http://schemas.microsoft.com/office/drawing/2014/main" id="{AF05246C-7B6C-4874-BEFD-F38A81A51E23}"/>
              </a:ext>
            </a:extLst>
          </p:cNvPr>
          <p:cNvSpPr>
            <a:spLocks xmlns:a="http://schemas.openxmlformats.org/drawingml/2006/main" noGrp="1"/>
          </p:cNvSpPr>
          <p:nvPr/>
        </p:nvSpPr>
        <p:spPr>
          <a:xfrm xmlns:a="http://schemas.openxmlformats.org/drawingml/2006/main">
            <a:off x="685800" y="4791075"/>
            <a:ext cx="10820400" cy="1123950"/>
          </a:xfrm>
          <a:prstGeom xmlns:a="http://schemas.openxmlformats.org/drawingml/2006/main" prst="roundRect">
            <a:avLst>
              <a:gd name="adj" fmla="val 10169"/>
            </a:avLst>
          </a:prstGeom>
          <a:solidFill xmlns:a="http://schemas.openxmlformats.org/drawingml/2006/main">
            <a:srgbClr val="101A15"/>
          </a:solidFill>
          <a:ln xmlns:a="http://schemas.openxmlformats.org/drawingml/2006/main" w="9525">
            <a:solidFill>
              <a:srgbClr val="101A15"/>
            </a:solidFill>
            <a:prstDash val="solid"/>
          </a:ln>
        </p:spPr>
      </p:sp>
      <p:sp>
        <p:nvSpPr>
          <p:cNvPr id="15" name="">
            <a:extLst xmlns:a="http://schemas.openxmlformats.org/drawingml/2006/main">
              <a:ext uri="{FF2B5EF4-FFF2-40B4-BE49-F238E27FC236}">
                <a16:creationId xmlns:a16="http://schemas.microsoft.com/office/drawing/2014/main" id="{E1A4AF81-E2D2-4C54-BA88-5B13B8AD36A2}"/>
              </a:ext>
            </a:extLst>
          </p:cNvPr>
          <p:cNvSpPr>
            <a:spLocks xmlns:a="http://schemas.openxmlformats.org/drawingml/2006/main" noGrp="1"/>
          </p:cNvSpPr>
          <p:nvPr/>
        </p:nvSpPr>
        <p:spPr>
          <a:xfrm xmlns:a="http://schemas.openxmlformats.org/drawingml/2006/main">
            <a:off x="952500" y="49815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5D366"/>
                </a:solidFill>
              </a:defRPr>
            </a:pPr>
            <a:r>
              <a:rPr sz="1350" b="1">
                <a:solidFill>
                  <a:srgbClr val="25D366"/>
                </a:solidFill>
              </a:rPr>
              <a:t>Bottom-up model</a:t>
            </a:r>
          </a:p>
        </p:txBody>
      </p:sp>
      <p:sp>
        <p:nvSpPr>
          <p:cNvPr id="16" name="">
            <a:extLst xmlns:a="http://schemas.openxmlformats.org/drawingml/2006/main">
              <a:ext uri="{FF2B5EF4-FFF2-40B4-BE49-F238E27FC236}">
                <a16:creationId xmlns:a16="http://schemas.microsoft.com/office/drawing/2014/main" id="{A79CF708-8939-457F-94EC-B67743A5095F}"/>
              </a:ext>
            </a:extLst>
          </p:cNvPr>
          <p:cNvSpPr>
            <a:spLocks xmlns:a="http://schemas.openxmlformats.org/drawingml/2006/main" noGrp="1"/>
          </p:cNvSpPr>
          <p:nvPr/>
        </p:nvSpPr>
        <p:spPr>
          <a:xfrm xmlns:a="http://schemas.openxmlformats.org/drawingml/2006/main">
            <a:off x="3190875" y="49339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Target merchants</a:t>
            </a:r>
          </a:p>
        </p:txBody>
      </p:sp>
      <p:sp>
        <p:nvSpPr>
          <p:cNvPr id="17" name="">
            <a:extLst xmlns:a="http://schemas.openxmlformats.org/drawingml/2006/main">
              <a:ext uri="{FF2B5EF4-FFF2-40B4-BE49-F238E27FC236}">
                <a16:creationId xmlns:a16="http://schemas.microsoft.com/office/drawing/2014/main" id="{8DA1368B-19BC-49F5-B5AF-F9EC0EE22A1C}"/>
              </a:ext>
            </a:extLst>
          </p:cNvPr>
          <p:cNvSpPr>
            <a:spLocks xmlns:a="http://schemas.openxmlformats.org/drawingml/2006/main" noGrp="1"/>
          </p:cNvSpPr>
          <p:nvPr/>
        </p:nvSpPr>
        <p:spPr>
          <a:xfrm xmlns:a="http://schemas.openxmlformats.org/drawingml/2006/main">
            <a:off x="5095875" y="4933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25D366"/>
                </a:solidFill>
              </a:defRPr>
            </a:pPr>
            <a:r>
              <a:rPr sz="1950" b="1">
                <a:solidFill>
                  <a:srgbClr val="25D366"/>
                </a:solidFill>
              </a:rPr>
              <a:t>×</a:t>
            </a:r>
          </a:p>
        </p:txBody>
      </p:sp>
      <p:sp>
        <p:nvSpPr>
          <p:cNvPr id="18" name="">
            <a:extLst xmlns:a="http://schemas.openxmlformats.org/drawingml/2006/main">
              <a:ext uri="{FF2B5EF4-FFF2-40B4-BE49-F238E27FC236}">
                <a16:creationId xmlns:a16="http://schemas.microsoft.com/office/drawing/2014/main" id="{D20C2615-6B96-405A-A146-B153A7E51613}"/>
              </a:ext>
            </a:extLst>
          </p:cNvPr>
          <p:cNvSpPr>
            <a:spLocks xmlns:a="http://schemas.openxmlformats.org/drawingml/2006/main" noGrp="1"/>
          </p:cNvSpPr>
          <p:nvPr/>
        </p:nvSpPr>
        <p:spPr>
          <a:xfrm xmlns:a="http://schemas.openxmlformats.org/drawingml/2006/main">
            <a:off x="5667375" y="4933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Monthly subscription</a:t>
            </a:r>
          </a:p>
        </p:txBody>
      </p:sp>
      <p:sp>
        <p:nvSpPr>
          <p:cNvPr id="19" name="">
            <a:extLst xmlns:a="http://schemas.openxmlformats.org/drawingml/2006/main">
              <a:ext uri="{FF2B5EF4-FFF2-40B4-BE49-F238E27FC236}">
                <a16:creationId xmlns:a16="http://schemas.microsoft.com/office/drawing/2014/main" id="{EC19AC03-229F-4755-853C-28D553D5CF4C}"/>
              </a:ext>
            </a:extLst>
          </p:cNvPr>
          <p:cNvSpPr>
            <a:spLocks xmlns:a="http://schemas.openxmlformats.org/drawingml/2006/main" noGrp="1"/>
          </p:cNvSpPr>
          <p:nvPr/>
        </p:nvSpPr>
        <p:spPr>
          <a:xfrm xmlns:a="http://schemas.openxmlformats.org/drawingml/2006/main">
            <a:off x="8143875" y="49339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25D366"/>
                </a:solidFill>
              </a:defRPr>
            </a:pPr>
            <a:r>
              <a:rPr sz="1950" b="1">
                <a:solidFill>
                  <a:srgbClr val="25D366"/>
                </a:solidFill>
              </a:rPr>
              <a:t>=</a:t>
            </a:r>
          </a:p>
        </p:txBody>
      </p:sp>
      <p:sp>
        <p:nvSpPr>
          <p:cNvPr id="20" name="">
            <a:extLst xmlns:a="http://schemas.openxmlformats.org/drawingml/2006/main">
              <a:ext uri="{FF2B5EF4-FFF2-40B4-BE49-F238E27FC236}">
                <a16:creationId xmlns:a16="http://schemas.microsoft.com/office/drawing/2014/main" id="{2AA0A877-9244-474F-A5AF-305000F80120}"/>
              </a:ext>
            </a:extLst>
          </p:cNvPr>
          <p:cNvSpPr>
            <a:spLocks xmlns:a="http://schemas.openxmlformats.org/drawingml/2006/main" noGrp="1"/>
          </p:cNvSpPr>
          <p:nvPr/>
        </p:nvSpPr>
        <p:spPr>
          <a:xfrm xmlns:a="http://schemas.openxmlformats.org/drawingml/2006/main">
            <a:off x="8715375" y="493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Potential MRR</a:t>
            </a:r>
          </a:p>
        </p:txBody>
      </p:sp>
      <p:sp>
        <p:nvSpPr>
          <p:cNvPr id="21" name="">
            <a:extLst xmlns:a="http://schemas.openxmlformats.org/drawingml/2006/main">
              <a:ext uri="{FF2B5EF4-FFF2-40B4-BE49-F238E27FC236}">
                <a16:creationId xmlns:a16="http://schemas.microsoft.com/office/drawing/2014/main" id="{DB7210D2-6315-4A70-8987-0F5350DE2822}"/>
              </a:ext>
            </a:extLst>
          </p:cNvPr>
          <p:cNvSpPr>
            <a:spLocks xmlns:a="http://schemas.openxmlformats.org/drawingml/2006/main" noGrp="1"/>
          </p:cNvSpPr>
          <p:nvPr/>
        </p:nvSpPr>
        <p:spPr>
          <a:xfrm xmlns:a="http://schemas.openxmlformats.org/drawingml/2006/main">
            <a:off x="952500" y="5429250"/>
            <a:ext cx="985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C8D2CC"/>
                </a:solidFill>
              </a:defRPr>
            </a:pPr>
            <a:r>
              <a:rPr sz="1125" b="0">
                <a:solidFill>
                  <a:srgbClr val="C8D2CC"/>
                </a:solidFill>
              </a:rPr>
              <a:t>Research required: size the reachable merchant base, willingness to pay and acquisition channels through pilots.</a:t>
            </a:r>
          </a:p>
        </p:txBody>
      </p:sp>
      <p:sp>
        <p:nvSpPr>
          <p:cNvPr id="22" name="">
            <a:extLst xmlns:a="http://schemas.openxmlformats.org/drawingml/2006/main">
              <a:ext uri="{FF2B5EF4-FFF2-40B4-BE49-F238E27FC236}">
                <a16:creationId xmlns:a16="http://schemas.microsoft.com/office/drawing/2014/main" id="{A29471CE-C854-4CBE-ACEF-53D39B4C6CE8}"/>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2137213027"/>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0C0CEA2-B9CE-4806-A623-050C85064D97}"/>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BUSINESS MODEL</a:t>
            </a:r>
          </a:p>
        </p:txBody>
      </p:sp>
      <p:sp>
        <p:nvSpPr>
          <p:cNvPr id="2" name="title">
            <a:extLst xmlns:a="http://schemas.openxmlformats.org/drawingml/2006/main">
              <a:ext uri="{FF2B5EF4-FFF2-40B4-BE49-F238E27FC236}">
                <a16:creationId xmlns:a16="http://schemas.microsoft.com/office/drawing/2014/main" id="{4DE8A59A-C2E2-48C4-BEF4-EC6843A320B3}"/>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Price against recovered time and captured orders.</a:t>
            </a:r>
          </a:p>
        </p:txBody>
      </p:sp>
      <p:sp>
        <p:nvSpPr>
          <p:cNvPr id="3" name="">
            <a:extLst xmlns:a="http://schemas.openxmlformats.org/drawingml/2006/main">
              <a:ext uri="{FF2B5EF4-FFF2-40B4-BE49-F238E27FC236}">
                <a16:creationId xmlns:a16="http://schemas.microsoft.com/office/drawing/2014/main" id="{30BDF3B9-C230-4A4C-9101-4FFAF6606B8F}"/>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10</a:t>
            </a:r>
          </a:p>
        </p:txBody>
      </p:sp>
      <p:sp>
        <p:nvSpPr>
          <p:cNvPr id="4" name="">
            <a:extLst xmlns:a="http://schemas.openxmlformats.org/drawingml/2006/main">
              <a:ext uri="{FF2B5EF4-FFF2-40B4-BE49-F238E27FC236}">
                <a16:creationId xmlns:a16="http://schemas.microsoft.com/office/drawing/2014/main" id="{1B8B6327-D030-409D-81C6-241E28BABD95}"/>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FF820BE7-6F9A-4F7A-9C06-E30CA578806E}"/>
              </a:ext>
            </a:extLst>
          </p:cNvPr>
          <p:cNvSpPr>
            <a:spLocks xmlns:a="http://schemas.openxmlformats.org/drawingml/2006/main" noGrp="1"/>
          </p:cNvSpPr>
          <p:nvPr/>
        </p:nvSpPr>
        <p:spPr>
          <a:xfrm xmlns:a="http://schemas.openxmlformats.org/drawingml/2006/main">
            <a:off x="685800" y="1714500"/>
            <a:ext cx="323850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D9E0DB"/>
            </a:solidFill>
            <a:prstDash val="solid"/>
          </a:ln>
        </p:spPr>
      </p:sp>
      <p:sp>
        <p:nvSpPr>
          <p:cNvPr id="6" name="">
            <a:extLst xmlns:a="http://schemas.openxmlformats.org/drawingml/2006/main">
              <a:ext uri="{FF2B5EF4-FFF2-40B4-BE49-F238E27FC236}">
                <a16:creationId xmlns:a16="http://schemas.microsoft.com/office/drawing/2014/main" id="{33D2A231-F15F-4987-8400-6A6BF5BF7390}"/>
              </a:ext>
            </a:extLst>
          </p:cNvPr>
          <p:cNvSpPr>
            <a:spLocks xmlns:a="http://schemas.openxmlformats.org/drawingml/2006/main" noGrp="1"/>
          </p:cNvSpPr>
          <p:nvPr/>
        </p:nvSpPr>
        <p:spPr>
          <a:xfrm xmlns:a="http://schemas.openxmlformats.org/drawingml/2006/main">
            <a:off x="933450" y="1952625"/>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F6B64"/>
                </a:solidFill>
              </a:defRPr>
            </a:pPr>
            <a:r>
              <a:rPr sz="1050" b="1">
                <a:solidFill>
                  <a:srgbClr val="5F6B64"/>
                </a:solidFill>
              </a:rPr>
              <a:t>STARTER</a:t>
            </a:r>
          </a:p>
        </p:txBody>
      </p:sp>
      <p:sp>
        <p:nvSpPr>
          <p:cNvPr id="7" name="">
            <a:extLst xmlns:a="http://schemas.openxmlformats.org/drawingml/2006/main">
              <a:ext uri="{FF2B5EF4-FFF2-40B4-BE49-F238E27FC236}">
                <a16:creationId xmlns:a16="http://schemas.microsoft.com/office/drawing/2014/main" id="{CAACFF22-093A-466A-AFB0-D7C8D3CD3FFC}"/>
              </a:ext>
            </a:extLst>
          </p:cNvPr>
          <p:cNvSpPr>
            <a:spLocks xmlns:a="http://schemas.openxmlformats.org/drawingml/2006/main" noGrp="1"/>
          </p:cNvSpPr>
          <p:nvPr/>
        </p:nvSpPr>
        <p:spPr>
          <a:xfrm xmlns:a="http://schemas.openxmlformats.org/drawingml/2006/main">
            <a:off x="933450" y="2381250"/>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7211C"/>
                </a:solidFill>
              </a:defRPr>
            </a:pPr>
            <a:r>
              <a:rPr sz="2100" b="1">
                <a:solidFill>
                  <a:srgbClr val="17211C"/>
                </a:solidFill>
              </a:rPr>
              <a:t>PKR 3k–5k / mo*</a:t>
            </a:r>
          </a:p>
        </p:txBody>
      </p:sp>
      <p:sp>
        <p:nvSpPr>
          <p:cNvPr id="8" name="">
            <a:extLst xmlns:a="http://schemas.openxmlformats.org/drawingml/2006/main">
              <a:ext uri="{FF2B5EF4-FFF2-40B4-BE49-F238E27FC236}">
                <a16:creationId xmlns:a16="http://schemas.microsoft.com/office/drawing/2014/main" id="{96C6873E-EE26-4960-98E9-512B9A2B0B69}"/>
              </a:ext>
            </a:extLst>
          </p:cNvPr>
          <p:cNvSpPr>
            <a:spLocks xmlns:a="http://schemas.openxmlformats.org/drawingml/2006/main" noGrp="1"/>
          </p:cNvSpPr>
          <p:nvPr/>
        </p:nvSpPr>
        <p:spPr>
          <a:xfrm xmlns:a="http://schemas.openxmlformats.org/drawingml/2006/main">
            <a:off x="933450" y="304800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Small catalog • text workflows • conversation cap</a:t>
            </a:r>
          </a:p>
        </p:txBody>
      </p:sp>
      <p:sp>
        <p:nvSpPr>
          <p:cNvPr id="9" name="">
            <a:extLst xmlns:a="http://schemas.openxmlformats.org/drawingml/2006/main">
              <a:ext uri="{FF2B5EF4-FFF2-40B4-BE49-F238E27FC236}">
                <a16:creationId xmlns:a16="http://schemas.microsoft.com/office/drawing/2014/main" id="{EC152B42-382F-4CF7-A1AA-6495367F6075}"/>
              </a:ext>
            </a:extLst>
          </p:cNvPr>
          <p:cNvSpPr>
            <a:spLocks xmlns:a="http://schemas.openxmlformats.org/drawingml/2006/main" noGrp="1"/>
          </p:cNvSpPr>
          <p:nvPr/>
        </p:nvSpPr>
        <p:spPr>
          <a:xfrm xmlns:a="http://schemas.openxmlformats.org/drawingml/2006/main">
            <a:off x="4229100" y="1714500"/>
            <a:ext cx="3238500" cy="2476500"/>
          </a:xfrm>
          <a:prstGeom xmlns:a="http://schemas.openxmlformats.org/drawingml/2006/main" prst="roundRect">
            <a:avLst>
              <a:gd name="adj" fmla="val 4615"/>
            </a:avLst>
          </a:prstGeom>
          <a:solidFill xmlns:a="http://schemas.openxmlformats.org/drawingml/2006/main">
            <a:srgbClr val="E8F8EE"/>
          </a:solidFill>
          <a:ln xmlns:a="http://schemas.openxmlformats.org/drawingml/2006/main" w="9525">
            <a:solidFill>
              <a:srgbClr val="25D366"/>
            </a:solidFill>
            <a:prstDash val="solid"/>
          </a:ln>
        </p:spPr>
      </p:sp>
      <p:sp>
        <p:nvSpPr>
          <p:cNvPr id="10" name="">
            <a:extLst xmlns:a="http://schemas.openxmlformats.org/drawingml/2006/main">
              <a:ext uri="{FF2B5EF4-FFF2-40B4-BE49-F238E27FC236}">
                <a16:creationId xmlns:a16="http://schemas.microsoft.com/office/drawing/2014/main" id="{457EB62F-F953-4C10-A258-3A08703CD406}"/>
              </a:ext>
            </a:extLst>
          </p:cNvPr>
          <p:cNvSpPr>
            <a:spLocks xmlns:a="http://schemas.openxmlformats.org/drawingml/2006/main" noGrp="1"/>
          </p:cNvSpPr>
          <p:nvPr/>
        </p:nvSpPr>
        <p:spPr>
          <a:xfrm xmlns:a="http://schemas.openxmlformats.org/drawingml/2006/main">
            <a:off x="4476750" y="1952625"/>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75E54"/>
                </a:solidFill>
              </a:defRPr>
            </a:pPr>
            <a:r>
              <a:rPr sz="1050" b="1">
                <a:solidFill>
                  <a:srgbClr val="075E54"/>
                </a:solidFill>
              </a:rPr>
              <a:t>GROWTH</a:t>
            </a:r>
          </a:p>
        </p:txBody>
      </p:sp>
      <p:sp>
        <p:nvSpPr>
          <p:cNvPr id="11" name="">
            <a:extLst xmlns:a="http://schemas.openxmlformats.org/drawingml/2006/main">
              <a:ext uri="{FF2B5EF4-FFF2-40B4-BE49-F238E27FC236}">
                <a16:creationId xmlns:a16="http://schemas.microsoft.com/office/drawing/2014/main" id="{B24CD8BD-6F4A-43AE-88EB-B0C830E3A981}"/>
              </a:ext>
            </a:extLst>
          </p:cNvPr>
          <p:cNvSpPr>
            <a:spLocks xmlns:a="http://schemas.openxmlformats.org/drawingml/2006/main" noGrp="1"/>
          </p:cNvSpPr>
          <p:nvPr/>
        </p:nvSpPr>
        <p:spPr>
          <a:xfrm xmlns:a="http://schemas.openxmlformats.org/drawingml/2006/main">
            <a:off x="4476750" y="2381250"/>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7211C"/>
                </a:solidFill>
              </a:defRPr>
            </a:pPr>
            <a:r>
              <a:rPr sz="2100" b="1">
                <a:solidFill>
                  <a:srgbClr val="17211C"/>
                </a:solidFill>
              </a:rPr>
              <a:t>PKR 8k–15k / mo*</a:t>
            </a:r>
          </a:p>
        </p:txBody>
      </p:sp>
      <p:sp>
        <p:nvSpPr>
          <p:cNvPr id="12" name="">
            <a:extLst xmlns:a="http://schemas.openxmlformats.org/drawingml/2006/main">
              <a:ext uri="{FF2B5EF4-FFF2-40B4-BE49-F238E27FC236}">
                <a16:creationId xmlns:a16="http://schemas.microsoft.com/office/drawing/2014/main" id="{5B9E712A-45A4-4234-87AC-89C91006C863}"/>
              </a:ext>
            </a:extLst>
          </p:cNvPr>
          <p:cNvSpPr>
            <a:spLocks xmlns:a="http://schemas.openxmlformats.org/drawingml/2006/main" noGrp="1"/>
          </p:cNvSpPr>
          <p:nvPr/>
        </p:nvSpPr>
        <p:spPr>
          <a:xfrm xmlns:a="http://schemas.openxmlformats.org/drawingml/2006/main">
            <a:off x="4476750" y="304800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More volume • image/voice • analytics</a:t>
            </a:r>
          </a:p>
        </p:txBody>
      </p:sp>
      <p:sp>
        <p:nvSpPr>
          <p:cNvPr id="13" name="">
            <a:extLst xmlns:a="http://schemas.openxmlformats.org/drawingml/2006/main">
              <a:ext uri="{FF2B5EF4-FFF2-40B4-BE49-F238E27FC236}">
                <a16:creationId xmlns:a16="http://schemas.microsoft.com/office/drawing/2014/main" id="{66FFE1A2-4B2A-4D96-8E71-4117C36F7C9B}"/>
              </a:ext>
            </a:extLst>
          </p:cNvPr>
          <p:cNvSpPr>
            <a:spLocks xmlns:a="http://schemas.openxmlformats.org/drawingml/2006/main" noGrp="1"/>
          </p:cNvSpPr>
          <p:nvPr/>
        </p:nvSpPr>
        <p:spPr>
          <a:xfrm xmlns:a="http://schemas.openxmlformats.org/drawingml/2006/main">
            <a:off x="7772400" y="1714500"/>
            <a:ext cx="323850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D9E0DB"/>
            </a:solidFill>
            <a:prstDash val="solid"/>
          </a:ln>
        </p:spPr>
      </p:sp>
      <p:sp>
        <p:nvSpPr>
          <p:cNvPr id="14" name="">
            <a:extLst xmlns:a="http://schemas.openxmlformats.org/drawingml/2006/main">
              <a:ext uri="{FF2B5EF4-FFF2-40B4-BE49-F238E27FC236}">
                <a16:creationId xmlns:a16="http://schemas.microsoft.com/office/drawing/2014/main" id="{BE3C20C3-3827-4816-93F3-F9819CD3592F}"/>
              </a:ext>
            </a:extLst>
          </p:cNvPr>
          <p:cNvSpPr>
            <a:spLocks xmlns:a="http://schemas.openxmlformats.org/drawingml/2006/main" noGrp="1"/>
          </p:cNvSpPr>
          <p:nvPr/>
        </p:nvSpPr>
        <p:spPr>
          <a:xfrm xmlns:a="http://schemas.openxmlformats.org/drawingml/2006/main">
            <a:off x="8020050" y="1952625"/>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F6B64"/>
                </a:solidFill>
              </a:defRPr>
            </a:pPr>
            <a:r>
              <a:rPr sz="1050" b="1">
                <a:solidFill>
                  <a:srgbClr val="5F6B64"/>
                </a:solidFill>
              </a:rPr>
              <a:t>BUSINESS</a:t>
            </a:r>
          </a:p>
        </p:txBody>
      </p:sp>
      <p:sp>
        <p:nvSpPr>
          <p:cNvPr id="15" name="">
            <a:extLst xmlns:a="http://schemas.openxmlformats.org/drawingml/2006/main">
              <a:ext uri="{FF2B5EF4-FFF2-40B4-BE49-F238E27FC236}">
                <a16:creationId xmlns:a16="http://schemas.microsoft.com/office/drawing/2014/main" id="{9C5C398F-7A87-4EE6-B633-CBC7546CB0FB}"/>
              </a:ext>
            </a:extLst>
          </p:cNvPr>
          <p:cNvSpPr>
            <a:spLocks xmlns:a="http://schemas.openxmlformats.org/drawingml/2006/main" noGrp="1"/>
          </p:cNvSpPr>
          <p:nvPr/>
        </p:nvSpPr>
        <p:spPr>
          <a:xfrm xmlns:a="http://schemas.openxmlformats.org/drawingml/2006/main">
            <a:off x="8020050" y="2381250"/>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7211C"/>
                </a:solidFill>
              </a:defRPr>
            </a:pPr>
            <a:r>
              <a:rPr sz="2100" b="1">
                <a:solidFill>
                  <a:srgbClr val="17211C"/>
                </a:solidFill>
              </a:rPr>
              <a:t>Custom*</a:t>
            </a:r>
          </a:p>
        </p:txBody>
      </p:sp>
      <p:sp>
        <p:nvSpPr>
          <p:cNvPr id="16" name="">
            <a:extLst xmlns:a="http://schemas.openxmlformats.org/drawingml/2006/main">
              <a:ext uri="{FF2B5EF4-FFF2-40B4-BE49-F238E27FC236}">
                <a16:creationId xmlns:a16="http://schemas.microsoft.com/office/drawing/2014/main" id="{25023CBD-7803-4E55-BB4E-F43D6A546C0A}"/>
              </a:ext>
            </a:extLst>
          </p:cNvPr>
          <p:cNvSpPr>
            <a:spLocks xmlns:a="http://schemas.openxmlformats.org/drawingml/2006/main" noGrp="1"/>
          </p:cNvSpPr>
          <p:nvPr/>
        </p:nvSpPr>
        <p:spPr>
          <a:xfrm xmlns:a="http://schemas.openxmlformats.org/drawingml/2006/main">
            <a:off x="8020050" y="304800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F6B64"/>
                </a:solidFill>
              </a:defRPr>
            </a:pPr>
            <a:r>
              <a:rPr sz="1350" b="0">
                <a:solidFill>
                  <a:srgbClr val="5F6B64"/>
                </a:solidFill>
              </a:rPr>
              <a:t>Multiple stores • teams • integrations</a:t>
            </a:r>
          </a:p>
        </p:txBody>
      </p:sp>
      <p:sp>
        <p:nvSpPr>
          <p:cNvPr id="17" name="">
            <a:extLst xmlns:a="http://schemas.openxmlformats.org/drawingml/2006/main">
              <a:ext uri="{FF2B5EF4-FFF2-40B4-BE49-F238E27FC236}">
                <a16:creationId xmlns:a16="http://schemas.microsoft.com/office/drawing/2014/main" id="{4BF43C36-A7C8-4A1F-9D23-1BE2A8500E8B}"/>
              </a:ext>
            </a:extLst>
          </p:cNvPr>
          <p:cNvSpPr>
            <a:spLocks xmlns:a="http://schemas.openxmlformats.org/drawingml/2006/main" noGrp="1"/>
          </p:cNvSpPr>
          <p:nvPr/>
        </p:nvSpPr>
        <p:spPr>
          <a:xfrm xmlns:a="http://schemas.openxmlformats.org/drawingml/2006/main">
            <a:off x="685800" y="44291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2A93B"/>
                </a:solidFill>
              </a:defRPr>
            </a:pPr>
            <a:r>
              <a:rPr sz="1350" b="1">
                <a:solidFill>
                  <a:srgbClr val="F2A93B"/>
                </a:solidFill>
              </a:rPr>
              <a:t>Pricing hypothesis — validate in pilots</a:t>
            </a:r>
          </a:p>
        </p:txBody>
      </p:sp>
      <p:sp>
        <p:nvSpPr>
          <p:cNvPr id="18" name="">
            <a:extLst xmlns:a="http://schemas.openxmlformats.org/drawingml/2006/main">
              <a:ext uri="{FF2B5EF4-FFF2-40B4-BE49-F238E27FC236}">
                <a16:creationId xmlns:a16="http://schemas.microsoft.com/office/drawing/2014/main" id="{AC5BD4CB-4E80-4289-966D-3D55EF905FF9}"/>
              </a:ext>
            </a:extLst>
          </p:cNvPr>
          <p:cNvSpPr>
            <a:spLocks xmlns:a="http://schemas.openxmlformats.org/drawingml/2006/main" noGrp="1"/>
          </p:cNvSpPr>
          <p:nvPr/>
        </p:nvSpPr>
        <p:spPr>
          <a:xfrm xmlns:a="http://schemas.openxmlformats.org/drawingml/2006/main">
            <a:off x="685800" y="490537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75E54"/>
                </a:solidFill>
              </a:defRPr>
            </a:pPr>
            <a:r>
              <a:rPr sz="1200" b="1">
                <a:solidFill>
                  <a:srgbClr val="075E54"/>
                </a:solidFill>
              </a:rPr>
              <a:t>Value</a:t>
            </a:r>
          </a:p>
        </p:txBody>
      </p:sp>
      <p:sp>
        <p:nvSpPr>
          <p:cNvPr id="19" name="">
            <a:extLst xmlns:a="http://schemas.openxmlformats.org/drawingml/2006/main">
              <a:ext uri="{FF2B5EF4-FFF2-40B4-BE49-F238E27FC236}">
                <a16:creationId xmlns:a16="http://schemas.microsoft.com/office/drawing/2014/main" id="{F61852F0-915C-4BD1-9010-47084181934B}"/>
              </a:ext>
            </a:extLst>
          </p:cNvPr>
          <p:cNvSpPr>
            <a:spLocks xmlns:a="http://schemas.openxmlformats.org/drawingml/2006/main" noGrp="1"/>
          </p:cNvSpPr>
          <p:nvPr/>
        </p:nvSpPr>
        <p:spPr>
          <a:xfrm xmlns:a="http://schemas.openxmlformats.org/drawingml/2006/main">
            <a:off x="2095500" y="490537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211C"/>
                </a:solidFill>
              </a:defRPr>
            </a:pPr>
            <a:r>
              <a:rPr sz="1350" b="0">
                <a:solidFill>
                  <a:srgbClr val="17211C"/>
                </a:solidFill>
              </a:rPr>
              <a:t>Faster replies + fewer manual order errors</a:t>
            </a:r>
          </a:p>
        </p:txBody>
      </p:sp>
      <p:sp>
        <p:nvSpPr>
          <p:cNvPr id="20" name="">
            <a:extLst xmlns:a="http://schemas.openxmlformats.org/drawingml/2006/main">
              <a:ext uri="{FF2B5EF4-FFF2-40B4-BE49-F238E27FC236}">
                <a16:creationId xmlns:a16="http://schemas.microsoft.com/office/drawing/2014/main" id="{EE4DC3C6-B6DB-4A11-B307-CD06D11D5C71}"/>
              </a:ext>
            </a:extLst>
          </p:cNvPr>
          <p:cNvSpPr>
            <a:spLocks xmlns:a="http://schemas.openxmlformats.org/drawingml/2006/main" noGrp="1"/>
          </p:cNvSpPr>
          <p:nvPr/>
        </p:nvSpPr>
        <p:spPr>
          <a:xfrm xmlns:a="http://schemas.openxmlformats.org/drawingml/2006/main">
            <a:off x="685800" y="532447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75E54"/>
                </a:solidFill>
              </a:defRPr>
            </a:pPr>
            <a:r>
              <a:rPr sz="1200" b="1">
                <a:solidFill>
                  <a:srgbClr val="075E54"/>
                </a:solidFill>
              </a:rPr>
              <a:t>Add-ons</a:t>
            </a:r>
          </a:p>
        </p:txBody>
      </p:sp>
      <p:sp>
        <p:nvSpPr>
          <p:cNvPr id="21" name="">
            <a:extLst xmlns:a="http://schemas.openxmlformats.org/drawingml/2006/main">
              <a:ext uri="{FF2B5EF4-FFF2-40B4-BE49-F238E27FC236}">
                <a16:creationId xmlns:a16="http://schemas.microsoft.com/office/drawing/2014/main" id="{69971FC8-2E62-44A0-B1AB-EF6B1904E928}"/>
              </a:ext>
            </a:extLst>
          </p:cNvPr>
          <p:cNvSpPr>
            <a:spLocks xmlns:a="http://schemas.openxmlformats.org/drawingml/2006/main" noGrp="1"/>
          </p:cNvSpPr>
          <p:nvPr/>
        </p:nvSpPr>
        <p:spPr>
          <a:xfrm xmlns:a="http://schemas.openxmlformats.org/drawingml/2006/main">
            <a:off x="2095500" y="532447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211C"/>
                </a:solidFill>
              </a:defRPr>
            </a:pPr>
            <a:r>
              <a:rPr sz="1350" b="0">
                <a:solidFill>
                  <a:srgbClr val="17211C"/>
                </a:solidFill>
              </a:rPr>
              <a:t>Onboarding/setup; usage-based AI/media</a:t>
            </a:r>
          </a:p>
        </p:txBody>
      </p:sp>
      <p:sp>
        <p:nvSpPr>
          <p:cNvPr id="22" name="">
            <a:extLst xmlns:a="http://schemas.openxmlformats.org/drawingml/2006/main">
              <a:ext uri="{FF2B5EF4-FFF2-40B4-BE49-F238E27FC236}">
                <a16:creationId xmlns:a16="http://schemas.microsoft.com/office/drawing/2014/main" id="{AE7FF548-DD30-43D0-A917-6A10B701BFFB}"/>
              </a:ext>
            </a:extLst>
          </p:cNvPr>
          <p:cNvSpPr>
            <a:spLocks xmlns:a="http://schemas.openxmlformats.org/drawingml/2006/main" noGrp="1"/>
          </p:cNvSpPr>
          <p:nvPr/>
        </p:nvSpPr>
        <p:spPr>
          <a:xfrm xmlns:a="http://schemas.openxmlformats.org/drawingml/2006/main">
            <a:off x="685800" y="574357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75E54"/>
                </a:solidFill>
              </a:defRPr>
            </a:pPr>
            <a:r>
              <a:rPr sz="1200" b="1">
                <a:solidFill>
                  <a:srgbClr val="075E54"/>
                </a:solidFill>
              </a:rPr>
              <a:t>Guardrail</a:t>
            </a:r>
          </a:p>
        </p:txBody>
      </p:sp>
      <p:sp>
        <p:nvSpPr>
          <p:cNvPr id="23" name="">
            <a:extLst xmlns:a="http://schemas.openxmlformats.org/drawingml/2006/main">
              <a:ext uri="{FF2B5EF4-FFF2-40B4-BE49-F238E27FC236}">
                <a16:creationId xmlns:a16="http://schemas.microsoft.com/office/drawing/2014/main" id="{BFB5C22D-2D7D-4345-A184-A3CBAC96F7F4}"/>
              </a:ext>
            </a:extLst>
          </p:cNvPr>
          <p:cNvSpPr>
            <a:spLocks xmlns:a="http://schemas.openxmlformats.org/drawingml/2006/main" noGrp="1"/>
          </p:cNvSpPr>
          <p:nvPr/>
        </p:nvSpPr>
        <p:spPr>
          <a:xfrm xmlns:a="http://schemas.openxmlformats.org/drawingml/2006/main">
            <a:off x="2095500" y="574357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211C"/>
                </a:solidFill>
              </a:defRPr>
            </a:pPr>
            <a:r>
              <a:rPr sz="1350" b="0">
                <a:solidFill>
                  <a:srgbClr val="17211C"/>
                </a:solidFill>
              </a:rPr>
              <a:t>Gross margin tracked by message and media cost</a:t>
            </a:r>
          </a:p>
        </p:txBody>
      </p:sp>
      <p:sp>
        <p:nvSpPr>
          <p:cNvPr id="24" name="">
            <a:extLst xmlns:a="http://schemas.openxmlformats.org/drawingml/2006/main">
              <a:ext uri="{FF2B5EF4-FFF2-40B4-BE49-F238E27FC236}">
                <a16:creationId xmlns:a16="http://schemas.microsoft.com/office/drawing/2014/main" id="{DCD0F0CE-5B8F-4B4D-ACA2-E61850F4023C}"/>
              </a:ext>
            </a:extLst>
          </p:cNvPr>
          <p:cNvSpPr>
            <a:spLocks xmlns:a="http://schemas.openxmlformats.org/drawingml/2006/main" noGrp="1"/>
          </p:cNvSpPr>
          <p:nvPr/>
        </p:nvSpPr>
        <p:spPr>
          <a:xfrm xmlns:a="http://schemas.openxmlformats.org/drawingml/2006/main">
            <a:off x="8858250" y="61531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0">
                <a:solidFill>
                  <a:srgbClr val="5F6B64"/>
                </a:solidFill>
              </a:defRPr>
            </a:pPr>
            <a:r>
              <a:rPr sz="900" b="0">
                <a:solidFill>
                  <a:srgbClr val="5F6B64"/>
                </a:solidFill>
              </a:rPr>
              <a:t>* Assumption, not validated pricing</a:t>
            </a:r>
          </a:p>
        </p:txBody>
      </p:sp>
      <p:sp>
        <p:nvSpPr>
          <p:cNvPr id="25" name="">
            <a:extLst xmlns:a="http://schemas.openxmlformats.org/drawingml/2006/main">
              <a:ext uri="{FF2B5EF4-FFF2-40B4-BE49-F238E27FC236}">
                <a16:creationId xmlns:a16="http://schemas.microsoft.com/office/drawing/2014/main" id="{13EFEF68-CEDA-45E1-9E35-F89651DDDB8E}"/>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1881522282"/>
      </p:ext>
    </p:extLst>
  </p:cSld>
</p:sld>
</file>

<file path=ppt/slides/slide1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84305A1-29C6-4CFD-B0B8-F4B113AC68D3}"/>
              </a:ext>
            </a:extLst>
          </p:cNvPr>
          <p:cNvSpPr>
            <a:spLocks xmlns:a="http://schemas.openxmlformats.org/drawingml/2006/main" noGrp="1"/>
          </p:cNvSpPr>
          <p:nvPr/>
        </p:nvSpPr>
        <p:spPr>
          <a:xfrm xmlns:a="http://schemas.openxmlformats.org/drawingml/2006/main">
            <a:off x="685800" y="3810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75E54"/>
                </a:solidFill>
              </a:defRPr>
            </a:pPr>
            <a:r>
              <a:rPr sz="975" b="1">
                <a:solidFill>
                  <a:srgbClr val="075E54"/>
                </a:solidFill>
              </a:rPr>
              <a:t>PROOF + ROADMAP</a:t>
            </a:r>
          </a:p>
        </p:txBody>
      </p:sp>
      <p:sp>
        <p:nvSpPr>
          <p:cNvPr id="2" name="title">
            <a:extLst xmlns:a="http://schemas.openxmlformats.org/drawingml/2006/main">
              <a:ext uri="{FF2B5EF4-FFF2-40B4-BE49-F238E27FC236}">
                <a16:creationId xmlns:a16="http://schemas.microsoft.com/office/drawing/2014/main" id="{FAD37191-ECED-4805-99FF-D4C0BFB30399}"/>
              </a:ext>
            </a:extLst>
          </p:cNvPr>
          <p:cNvSpPr>
            <a:spLocks xmlns:a="http://schemas.openxmlformats.org/drawingml/2006/main" noGrp="1"/>
          </p:cNvSpPr>
          <p:nvPr/>
        </p:nvSpPr>
        <p:spPr>
          <a:xfrm xmlns:a="http://schemas.openxmlformats.org/drawingml/2006/main">
            <a:off x="685800" y="6667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7211C"/>
                </a:solidFill>
              </a:defRPr>
            </a:pPr>
            <a:r>
              <a:rPr sz="2850" b="1">
                <a:solidFill>
                  <a:srgbClr val="17211C"/>
                </a:solidFill>
              </a:rPr>
              <a:t>Technical validation is strong. Market validation comes next.</a:t>
            </a:r>
          </a:p>
        </p:txBody>
      </p:sp>
      <p:sp>
        <p:nvSpPr>
          <p:cNvPr id="3" name="">
            <a:extLst xmlns:a="http://schemas.openxmlformats.org/drawingml/2006/main">
              <a:ext uri="{FF2B5EF4-FFF2-40B4-BE49-F238E27FC236}">
                <a16:creationId xmlns:a16="http://schemas.microsoft.com/office/drawing/2014/main" id="{89B9FA3D-9F36-434E-981C-A5F33FBA4D3A}"/>
              </a:ext>
            </a:extLst>
          </p:cNvPr>
          <p:cNvSpPr>
            <a:spLocks xmlns:a="http://schemas.openxmlformats.org/drawingml/2006/main" noGrp="1"/>
          </p:cNvSpPr>
          <p:nvPr/>
        </p:nvSpPr>
        <p:spPr>
          <a:xfrm xmlns:a="http://schemas.openxmlformats.org/drawingml/2006/main">
            <a:off x="11144250" y="4286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5F6B64"/>
                </a:solidFill>
              </a:defRPr>
            </a:pPr>
            <a:r>
              <a:rPr sz="975" b="1">
                <a:solidFill>
                  <a:srgbClr val="5F6B64"/>
                </a:solidFill>
              </a:rPr>
              <a:t>11</a:t>
            </a:r>
          </a:p>
        </p:txBody>
      </p:sp>
      <p:sp>
        <p:nvSpPr>
          <p:cNvPr id="4" name="">
            <a:extLst xmlns:a="http://schemas.openxmlformats.org/drawingml/2006/main">
              <a:ext uri="{FF2B5EF4-FFF2-40B4-BE49-F238E27FC236}">
                <a16:creationId xmlns:a16="http://schemas.microsoft.com/office/drawing/2014/main" id="{467405CD-1D10-4031-8DD0-38758C55EFB8}"/>
              </a:ext>
            </a:extLst>
          </p:cNvPr>
          <p:cNvSpPr>
            <a:spLocks xmlns:a="http://schemas.openxmlformats.org/drawingml/2006/main" noGrp="1"/>
          </p:cNvSpPr>
          <p:nvPr/>
        </p:nvSpPr>
        <p:spPr>
          <a:xfrm xmlns:a="http://schemas.openxmlformats.org/drawingml/2006/main">
            <a:off x="685800" y="1304925"/>
            <a:ext cx="10820400" cy="19050"/>
          </a:xfrm>
          <a:prstGeom xmlns:a="http://schemas.openxmlformats.org/drawingml/2006/main" prst="rect">
            <a:avLst/>
          </a:prstGeom>
          <a:solidFill xmlns:a="http://schemas.openxmlformats.org/drawingml/2006/main">
            <a:srgbClr val="D9E0DB"/>
          </a:solidFill>
          <a:ln xmlns:a="http://schemas.openxmlformats.org/drawingml/2006/main" w="0">
            <a:solidFill>
              <a:srgbClr val="D9E0DB"/>
            </a:solidFill>
            <a:prstDash val="solid"/>
          </a:ln>
        </p:spPr>
      </p:sp>
      <p:sp>
        <p:nvSpPr>
          <p:cNvPr id="5" name="">
            <a:extLst xmlns:a="http://schemas.openxmlformats.org/drawingml/2006/main">
              <a:ext uri="{FF2B5EF4-FFF2-40B4-BE49-F238E27FC236}">
                <a16:creationId xmlns:a16="http://schemas.microsoft.com/office/drawing/2014/main" id="{3A172D1D-BD61-4313-A492-829D823AC11E}"/>
              </a:ext>
            </a:extLst>
          </p:cNvPr>
          <p:cNvSpPr>
            <a:spLocks xmlns:a="http://schemas.openxmlformats.org/drawingml/2006/main" noGrp="1"/>
          </p:cNvSpPr>
          <p:nvPr/>
        </p:nvSpPr>
        <p:spPr>
          <a:xfrm xmlns:a="http://schemas.openxmlformats.org/drawingml/2006/main">
            <a:off x="685800" y="16192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5D366"/>
                </a:solidFill>
              </a:defRPr>
            </a:pPr>
            <a:r>
              <a:rPr sz="1125" b="1">
                <a:solidFill>
                  <a:srgbClr val="25D366"/>
                </a:solidFill>
              </a:rPr>
              <a:t>PROOF TODAY</a:t>
            </a:r>
          </a:p>
        </p:txBody>
      </p:sp>
      <p:sp>
        <p:nvSpPr>
          <p:cNvPr id="6" name="">
            <a:extLst xmlns:a="http://schemas.openxmlformats.org/drawingml/2006/main">
              <a:ext uri="{FF2B5EF4-FFF2-40B4-BE49-F238E27FC236}">
                <a16:creationId xmlns:a16="http://schemas.microsoft.com/office/drawing/2014/main" id="{92DC055D-BBC4-4ACE-9838-9A4D7B473303}"/>
              </a:ext>
            </a:extLst>
          </p:cNvPr>
          <p:cNvSpPr>
            <a:spLocks xmlns:a="http://schemas.openxmlformats.org/drawingml/2006/main" noGrp="1"/>
          </p:cNvSpPr>
          <p:nvPr/>
        </p:nvSpPr>
        <p:spPr>
          <a:xfrm xmlns:a="http://schemas.openxmlformats.org/drawingml/2006/main">
            <a:off x="685800" y="2057400"/>
            <a:ext cx="142875" cy="142875"/>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7" name="">
            <a:extLst xmlns:a="http://schemas.openxmlformats.org/drawingml/2006/main">
              <a:ext uri="{FF2B5EF4-FFF2-40B4-BE49-F238E27FC236}">
                <a16:creationId xmlns:a16="http://schemas.microsoft.com/office/drawing/2014/main" id="{314D9091-1E74-499D-933A-1CCC9EC17226}"/>
              </a:ext>
            </a:extLst>
          </p:cNvPr>
          <p:cNvSpPr>
            <a:spLocks xmlns:a="http://schemas.openxmlformats.org/drawingml/2006/main" noGrp="1"/>
          </p:cNvSpPr>
          <p:nvPr/>
        </p:nvSpPr>
        <p:spPr>
          <a:xfrm xmlns:a="http://schemas.openxmlformats.org/drawingml/2006/main">
            <a:off x="933450" y="19716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Dashboard + catalog + order views</a:t>
            </a:r>
          </a:p>
        </p:txBody>
      </p:sp>
      <p:sp>
        <p:nvSpPr>
          <p:cNvPr id="8" name="">
            <a:extLst xmlns:a="http://schemas.openxmlformats.org/drawingml/2006/main">
              <a:ext uri="{FF2B5EF4-FFF2-40B4-BE49-F238E27FC236}">
                <a16:creationId xmlns:a16="http://schemas.microsoft.com/office/drawing/2014/main" id="{0C14E22A-01BD-4AA8-B37E-F72DE705C155}"/>
              </a:ext>
            </a:extLst>
          </p:cNvPr>
          <p:cNvSpPr>
            <a:spLocks xmlns:a="http://schemas.openxmlformats.org/drawingml/2006/main" noGrp="1"/>
          </p:cNvSpPr>
          <p:nvPr/>
        </p:nvSpPr>
        <p:spPr>
          <a:xfrm xmlns:a="http://schemas.openxmlformats.org/drawingml/2006/main">
            <a:off x="685800" y="2514600"/>
            <a:ext cx="142875" cy="142875"/>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9" name="">
            <a:extLst xmlns:a="http://schemas.openxmlformats.org/drawingml/2006/main">
              <a:ext uri="{FF2B5EF4-FFF2-40B4-BE49-F238E27FC236}">
                <a16:creationId xmlns:a16="http://schemas.microsoft.com/office/drawing/2014/main" id="{BD0365E9-A230-470B-8614-6A628C3BD55F}"/>
              </a:ext>
            </a:extLst>
          </p:cNvPr>
          <p:cNvSpPr>
            <a:spLocks xmlns:a="http://schemas.openxmlformats.org/drawingml/2006/main" noGrp="1"/>
          </p:cNvSpPr>
          <p:nvPr/>
        </p:nvSpPr>
        <p:spPr>
          <a:xfrm xmlns:a="http://schemas.openxmlformats.org/drawingml/2006/main">
            <a:off x="933450" y="24288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Conversation-aware grounded replies</a:t>
            </a:r>
          </a:p>
        </p:txBody>
      </p:sp>
      <p:sp>
        <p:nvSpPr>
          <p:cNvPr id="10" name="">
            <a:extLst xmlns:a="http://schemas.openxmlformats.org/drawingml/2006/main">
              <a:ext uri="{FF2B5EF4-FFF2-40B4-BE49-F238E27FC236}">
                <a16:creationId xmlns:a16="http://schemas.microsoft.com/office/drawing/2014/main" id="{AF3F378D-EC58-4222-AAFB-8A508F374B8E}"/>
              </a:ext>
            </a:extLst>
          </p:cNvPr>
          <p:cNvSpPr>
            <a:spLocks xmlns:a="http://schemas.openxmlformats.org/drawingml/2006/main" noGrp="1"/>
          </p:cNvSpPr>
          <p:nvPr/>
        </p:nvSpPr>
        <p:spPr>
          <a:xfrm xmlns:a="http://schemas.openxmlformats.org/drawingml/2006/main">
            <a:off x="685800" y="2971800"/>
            <a:ext cx="142875" cy="142875"/>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1" name="">
            <a:extLst xmlns:a="http://schemas.openxmlformats.org/drawingml/2006/main">
              <a:ext uri="{FF2B5EF4-FFF2-40B4-BE49-F238E27FC236}">
                <a16:creationId xmlns:a16="http://schemas.microsoft.com/office/drawing/2014/main" id="{E45CC274-9C08-4CDC-A5E2-BF69FDBD3449}"/>
              </a:ext>
            </a:extLst>
          </p:cNvPr>
          <p:cNvSpPr>
            <a:spLocks xmlns:a="http://schemas.openxmlformats.org/drawingml/2006/main" noGrp="1"/>
          </p:cNvSpPr>
          <p:nvPr/>
        </p:nvSpPr>
        <p:spPr>
          <a:xfrm xmlns:a="http://schemas.openxmlformats.org/drawingml/2006/main">
            <a:off x="933450" y="28860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Order creation, correction, cancellation, status</a:t>
            </a:r>
          </a:p>
        </p:txBody>
      </p:sp>
      <p:sp>
        <p:nvSpPr>
          <p:cNvPr id="12" name="">
            <a:extLst xmlns:a="http://schemas.openxmlformats.org/drawingml/2006/main">
              <a:ext uri="{FF2B5EF4-FFF2-40B4-BE49-F238E27FC236}">
                <a16:creationId xmlns:a16="http://schemas.microsoft.com/office/drawing/2014/main" id="{1D8C2DA8-6689-4245-828C-625C8D4F0FDD}"/>
              </a:ext>
            </a:extLst>
          </p:cNvPr>
          <p:cNvSpPr>
            <a:spLocks xmlns:a="http://schemas.openxmlformats.org/drawingml/2006/main" noGrp="1"/>
          </p:cNvSpPr>
          <p:nvPr/>
        </p:nvSpPr>
        <p:spPr>
          <a:xfrm xmlns:a="http://schemas.openxmlformats.org/drawingml/2006/main">
            <a:off x="685800" y="3429000"/>
            <a:ext cx="142875" cy="142875"/>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3" name="">
            <a:extLst xmlns:a="http://schemas.openxmlformats.org/drawingml/2006/main">
              <a:ext uri="{FF2B5EF4-FFF2-40B4-BE49-F238E27FC236}">
                <a16:creationId xmlns:a16="http://schemas.microsoft.com/office/drawing/2014/main" id="{4E92EF77-7271-41F3-BBD1-0F4F62022671}"/>
              </a:ext>
            </a:extLst>
          </p:cNvPr>
          <p:cNvSpPr>
            <a:spLocks xmlns:a="http://schemas.openxmlformats.org/drawingml/2006/main" noGrp="1"/>
          </p:cNvSpPr>
          <p:nvPr/>
        </p:nvSpPr>
        <p:spPr>
          <a:xfrm xmlns:a="http://schemas.openxmlformats.org/drawingml/2006/main">
            <a:off x="933450" y="33432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Multi-store architecture and isolation</a:t>
            </a:r>
          </a:p>
        </p:txBody>
      </p:sp>
      <p:sp>
        <p:nvSpPr>
          <p:cNvPr id="14" name="">
            <a:extLst xmlns:a="http://schemas.openxmlformats.org/drawingml/2006/main">
              <a:ext uri="{FF2B5EF4-FFF2-40B4-BE49-F238E27FC236}">
                <a16:creationId xmlns:a16="http://schemas.microsoft.com/office/drawing/2014/main" id="{2F693C17-29DB-49F0-8734-3C39B8901DD2}"/>
              </a:ext>
            </a:extLst>
          </p:cNvPr>
          <p:cNvSpPr>
            <a:spLocks xmlns:a="http://schemas.openxmlformats.org/drawingml/2006/main" noGrp="1"/>
          </p:cNvSpPr>
          <p:nvPr/>
        </p:nvSpPr>
        <p:spPr>
          <a:xfrm xmlns:a="http://schemas.openxmlformats.org/drawingml/2006/main">
            <a:off x="685800" y="3886200"/>
            <a:ext cx="142875" cy="142875"/>
          </a:xfrm>
          <a:prstGeom xmlns:a="http://schemas.openxmlformats.org/drawingml/2006/main" prst="ellipse">
            <a:avLst/>
          </a:prstGeom>
          <a:solidFill xmlns:a="http://schemas.openxmlformats.org/drawingml/2006/main">
            <a:srgbClr val="25D366"/>
          </a:solidFill>
          <a:ln xmlns:a="http://schemas.openxmlformats.org/drawingml/2006/main" w="9525">
            <a:solidFill>
              <a:srgbClr val="25D366"/>
            </a:solidFill>
            <a:prstDash val="solid"/>
          </a:ln>
        </p:spPr>
      </p:sp>
      <p:sp>
        <p:nvSpPr>
          <p:cNvPr id="15" name="">
            <a:extLst xmlns:a="http://schemas.openxmlformats.org/drawingml/2006/main">
              <a:ext uri="{FF2B5EF4-FFF2-40B4-BE49-F238E27FC236}">
                <a16:creationId xmlns:a16="http://schemas.microsoft.com/office/drawing/2014/main" id="{47052D2E-4128-48A3-A386-8A51C9571FDF}"/>
              </a:ext>
            </a:extLst>
          </p:cNvPr>
          <p:cNvSpPr>
            <a:spLocks xmlns:a="http://schemas.openxmlformats.org/drawingml/2006/main" noGrp="1"/>
          </p:cNvSpPr>
          <p:nvPr/>
        </p:nvSpPr>
        <p:spPr>
          <a:xfrm xmlns:a="http://schemas.openxmlformats.org/drawingml/2006/main">
            <a:off x="933450" y="38004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7211C"/>
                </a:solidFill>
              </a:defRPr>
            </a:pPr>
            <a:r>
              <a:rPr sz="1275" b="1">
                <a:solidFill>
                  <a:srgbClr val="17211C"/>
                </a:solidFill>
              </a:rPr>
              <a:t>294 backend + 85 gateway tests passing</a:t>
            </a:r>
          </a:p>
        </p:txBody>
      </p:sp>
      <p:sp>
        <p:nvSpPr>
          <p:cNvPr id="16" name="">
            <a:extLst xmlns:a="http://schemas.openxmlformats.org/drawingml/2006/main">
              <a:ext uri="{FF2B5EF4-FFF2-40B4-BE49-F238E27FC236}">
                <a16:creationId xmlns:a16="http://schemas.microsoft.com/office/drawing/2014/main" id="{01B85E31-BE06-422E-A6AC-4F7493BBCEAE}"/>
              </a:ext>
            </a:extLst>
          </p:cNvPr>
          <p:cNvSpPr>
            <a:spLocks xmlns:a="http://schemas.openxmlformats.org/drawingml/2006/main" noGrp="1"/>
          </p:cNvSpPr>
          <p:nvPr/>
        </p:nvSpPr>
        <p:spPr>
          <a:xfrm xmlns:a="http://schemas.openxmlformats.org/drawingml/2006/main">
            <a:off x="5905500" y="16192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6C4CF1"/>
                </a:solidFill>
              </a:defRPr>
            </a:pPr>
            <a:r>
              <a:rPr sz="1125" b="1">
                <a:solidFill>
                  <a:srgbClr val="6C4CF1"/>
                </a:solidFill>
              </a:rPr>
              <a:t>NEXT 90–180 DAYS</a:t>
            </a:r>
          </a:p>
        </p:txBody>
      </p:sp>
      <p:sp>
        <p:nvSpPr>
          <p:cNvPr id="17" name="">
            <a:extLst xmlns:a="http://schemas.openxmlformats.org/drawingml/2006/main">
              <a:ext uri="{FF2B5EF4-FFF2-40B4-BE49-F238E27FC236}">
                <a16:creationId xmlns:a16="http://schemas.microsoft.com/office/drawing/2014/main" id="{5A68DA75-8640-45A4-B00F-7C2D8CF66D24}"/>
              </a:ext>
            </a:extLst>
          </p:cNvPr>
          <p:cNvSpPr>
            <a:spLocks xmlns:a="http://schemas.openxmlformats.org/drawingml/2006/main" noGrp="1"/>
          </p:cNvSpPr>
          <p:nvPr/>
        </p:nvSpPr>
        <p:spPr>
          <a:xfrm xmlns:a="http://schemas.openxmlformats.org/drawingml/2006/main">
            <a:off x="5905500" y="2057400"/>
            <a:ext cx="142875" cy="142875"/>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18" name="">
            <a:extLst xmlns:a="http://schemas.openxmlformats.org/drawingml/2006/main">
              <a:ext uri="{FF2B5EF4-FFF2-40B4-BE49-F238E27FC236}">
                <a16:creationId xmlns:a16="http://schemas.microsoft.com/office/drawing/2014/main" id="{E6B4061A-4596-45C0-A87F-0716412552BA}"/>
              </a:ext>
            </a:extLst>
          </p:cNvPr>
          <p:cNvSpPr>
            <a:spLocks xmlns:a="http://schemas.openxmlformats.org/drawingml/2006/main" noGrp="1"/>
          </p:cNvSpPr>
          <p:nvPr/>
        </p:nvSpPr>
        <p:spPr>
          <a:xfrm xmlns:a="http://schemas.openxmlformats.org/drawingml/2006/main">
            <a:off x="6153150" y="19716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Harden pairing and session lifecycle</a:t>
            </a:r>
          </a:p>
        </p:txBody>
      </p:sp>
      <p:sp>
        <p:nvSpPr>
          <p:cNvPr id="19" name="">
            <a:extLst xmlns:a="http://schemas.openxmlformats.org/drawingml/2006/main">
              <a:ext uri="{FF2B5EF4-FFF2-40B4-BE49-F238E27FC236}">
                <a16:creationId xmlns:a16="http://schemas.microsoft.com/office/drawing/2014/main" id="{F0E9B673-E21B-4D16-B22B-DD0ABC46245F}"/>
              </a:ext>
            </a:extLst>
          </p:cNvPr>
          <p:cNvSpPr>
            <a:spLocks xmlns:a="http://schemas.openxmlformats.org/drawingml/2006/main" noGrp="1"/>
          </p:cNvSpPr>
          <p:nvPr/>
        </p:nvSpPr>
        <p:spPr>
          <a:xfrm xmlns:a="http://schemas.openxmlformats.org/drawingml/2006/main">
            <a:off x="5905500" y="2514600"/>
            <a:ext cx="142875" cy="142875"/>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20" name="">
            <a:extLst xmlns:a="http://schemas.openxmlformats.org/drawingml/2006/main">
              <a:ext uri="{FF2B5EF4-FFF2-40B4-BE49-F238E27FC236}">
                <a16:creationId xmlns:a16="http://schemas.microsoft.com/office/drawing/2014/main" id="{2A225A17-4D13-4F3D-87BD-537E9C99D02C}"/>
              </a:ext>
            </a:extLst>
          </p:cNvPr>
          <p:cNvSpPr>
            <a:spLocks xmlns:a="http://schemas.openxmlformats.org/drawingml/2006/main" noGrp="1"/>
          </p:cNvSpPr>
          <p:nvPr/>
        </p:nvSpPr>
        <p:spPr>
          <a:xfrm xmlns:a="http://schemas.openxmlformats.org/drawingml/2006/main">
            <a:off x="6153150" y="24288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Measure latency, cost and failure recovery</a:t>
            </a:r>
          </a:p>
        </p:txBody>
      </p:sp>
      <p:sp>
        <p:nvSpPr>
          <p:cNvPr id="21" name="">
            <a:extLst xmlns:a="http://schemas.openxmlformats.org/drawingml/2006/main">
              <a:ext uri="{FF2B5EF4-FFF2-40B4-BE49-F238E27FC236}">
                <a16:creationId xmlns:a16="http://schemas.microsoft.com/office/drawing/2014/main" id="{79A85BC5-7C7D-4FD2-A3D2-E737371D440A}"/>
              </a:ext>
            </a:extLst>
          </p:cNvPr>
          <p:cNvSpPr>
            <a:spLocks xmlns:a="http://schemas.openxmlformats.org/drawingml/2006/main" noGrp="1"/>
          </p:cNvSpPr>
          <p:nvPr/>
        </p:nvSpPr>
        <p:spPr>
          <a:xfrm xmlns:a="http://schemas.openxmlformats.org/drawingml/2006/main">
            <a:off x="5905500" y="2971800"/>
            <a:ext cx="142875" cy="142875"/>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22" name="">
            <a:extLst xmlns:a="http://schemas.openxmlformats.org/drawingml/2006/main">
              <a:ext uri="{FF2B5EF4-FFF2-40B4-BE49-F238E27FC236}">
                <a16:creationId xmlns:a16="http://schemas.microsoft.com/office/drawing/2014/main" id="{8B7DD515-BC7C-40A1-B529-E206EF37360D}"/>
              </a:ext>
            </a:extLst>
          </p:cNvPr>
          <p:cNvSpPr>
            <a:spLocks xmlns:a="http://schemas.openxmlformats.org/drawingml/2006/main" noGrp="1"/>
          </p:cNvSpPr>
          <p:nvPr/>
        </p:nvSpPr>
        <p:spPr>
          <a:xfrm xmlns:a="http://schemas.openxmlformats.org/drawingml/2006/main">
            <a:off x="6153150" y="28860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Pilot with real merchant catalogs</a:t>
            </a:r>
          </a:p>
        </p:txBody>
      </p:sp>
      <p:sp>
        <p:nvSpPr>
          <p:cNvPr id="23" name="">
            <a:extLst xmlns:a="http://schemas.openxmlformats.org/drawingml/2006/main">
              <a:ext uri="{FF2B5EF4-FFF2-40B4-BE49-F238E27FC236}">
                <a16:creationId xmlns:a16="http://schemas.microsoft.com/office/drawing/2014/main" id="{2F45440C-34D0-4215-B8F4-E91817582BAB}"/>
              </a:ext>
            </a:extLst>
          </p:cNvPr>
          <p:cNvSpPr>
            <a:spLocks xmlns:a="http://schemas.openxmlformats.org/drawingml/2006/main" noGrp="1"/>
          </p:cNvSpPr>
          <p:nvPr/>
        </p:nvSpPr>
        <p:spPr>
          <a:xfrm xmlns:a="http://schemas.openxmlformats.org/drawingml/2006/main">
            <a:off x="5905500" y="3429000"/>
            <a:ext cx="142875" cy="142875"/>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24" name="">
            <a:extLst xmlns:a="http://schemas.openxmlformats.org/drawingml/2006/main">
              <a:ext uri="{FF2B5EF4-FFF2-40B4-BE49-F238E27FC236}">
                <a16:creationId xmlns:a16="http://schemas.microsoft.com/office/drawing/2014/main" id="{DF6BB2EC-9F79-4FF5-BA92-557E99619410}"/>
              </a:ext>
            </a:extLst>
          </p:cNvPr>
          <p:cNvSpPr>
            <a:spLocks xmlns:a="http://schemas.openxmlformats.org/drawingml/2006/main" noGrp="1"/>
          </p:cNvSpPr>
          <p:nvPr/>
        </p:nvSpPr>
        <p:spPr>
          <a:xfrm xmlns:a="http://schemas.openxmlformats.org/drawingml/2006/main">
            <a:off x="6153150" y="33432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Add onboarding, analytics and production auth</a:t>
            </a:r>
          </a:p>
        </p:txBody>
      </p:sp>
      <p:sp>
        <p:nvSpPr>
          <p:cNvPr id="25" name="">
            <a:extLst xmlns:a="http://schemas.openxmlformats.org/drawingml/2006/main">
              <a:ext uri="{FF2B5EF4-FFF2-40B4-BE49-F238E27FC236}">
                <a16:creationId xmlns:a16="http://schemas.microsoft.com/office/drawing/2014/main" id="{01EE31EB-90FF-4ACA-B9A2-BB48723D3179}"/>
              </a:ext>
            </a:extLst>
          </p:cNvPr>
          <p:cNvSpPr>
            <a:spLocks xmlns:a="http://schemas.openxmlformats.org/drawingml/2006/main" noGrp="1"/>
          </p:cNvSpPr>
          <p:nvPr/>
        </p:nvSpPr>
        <p:spPr>
          <a:xfrm xmlns:a="http://schemas.openxmlformats.org/drawingml/2006/main">
            <a:off x="5905500" y="3886200"/>
            <a:ext cx="142875" cy="142875"/>
          </a:xfrm>
          <a:prstGeom xmlns:a="http://schemas.openxmlformats.org/drawingml/2006/main" prst="ellipse">
            <a:avLst/>
          </a:prstGeom>
          <a:solidFill xmlns:a="http://schemas.openxmlformats.org/drawingml/2006/main">
            <a:srgbClr val="6C4CF1"/>
          </a:solidFill>
          <a:ln xmlns:a="http://schemas.openxmlformats.org/drawingml/2006/main" w="9525">
            <a:solidFill>
              <a:srgbClr val="6C4CF1"/>
            </a:solidFill>
            <a:prstDash val="solid"/>
          </a:ln>
        </p:spPr>
      </p:sp>
      <p:sp>
        <p:nvSpPr>
          <p:cNvPr id="26" name="">
            <a:extLst xmlns:a="http://schemas.openxmlformats.org/drawingml/2006/main">
              <a:ext uri="{FF2B5EF4-FFF2-40B4-BE49-F238E27FC236}">
                <a16:creationId xmlns:a16="http://schemas.microsoft.com/office/drawing/2014/main" id="{13368874-8366-4CF3-93E7-0F85F6316E4C}"/>
              </a:ext>
            </a:extLst>
          </p:cNvPr>
          <p:cNvSpPr>
            <a:spLocks xmlns:a="http://schemas.openxmlformats.org/drawingml/2006/main" noGrp="1"/>
          </p:cNvSpPr>
          <p:nvPr/>
        </p:nvSpPr>
        <p:spPr>
          <a:xfrm xmlns:a="http://schemas.openxmlformats.org/drawingml/2006/main">
            <a:off x="6153150" y="38004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11C"/>
                </a:solidFill>
              </a:defRPr>
            </a:pPr>
            <a:r>
              <a:rPr sz="1275" b="0">
                <a:solidFill>
                  <a:srgbClr val="17211C"/>
                </a:solidFill>
              </a:rPr>
              <a:t>Plan official WhatsApp Business migration path</a:t>
            </a:r>
          </a:p>
        </p:txBody>
      </p:sp>
      <p:sp>
        <p:nvSpPr>
          <p:cNvPr id="27" name="">
            <a:extLst xmlns:a="http://schemas.openxmlformats.org/drawingml/2006/main">
              <a:ext uri="{FF2B5EF4-FFF2-40B4-BE49-F238E27FC236}">
                <a16:creationId xmlns:a16="http://schemas.microsoft.com/office/drawing/2014/main" id="{79789086-F721-4FBB-B3D2-EE8D9C140A79}"/>
              </a:ext>
            </a:extLst>
          </p:cNvPr>
          <p:cNvSpPr>
            <a:spLocks xmlns:a="http://schemas.openxmlformats.org/drawingml/2006/main" noGrp="1"/>
          </p:cNvSpPr>
          <p:nvPr/>
        </p:nvSpPr>
        <p:spPr>
          <a:xfrm xmlns:a="http://schemas.openxmlformats.org/drawingml/2006/main">
            <a:off x="685800" y="4686300"/>
            <a:ext cx="108204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E0DB"/>
            </a:solidFill>
            <a:prstDash val="solid"/>
          </a:ln>
        </p:spPr>
      </p:sp>
      <p:sp>
        <p:nvSpPr>
          <p:cNvPr id="28" name="">
            <a:extLst xmlns:a="http://schemas.openxmlformats.org/drawingml/2006/main">
              <a:ext uri="{FF2B5EF4-FFF2-40B4-BE49-F238E27FC236}">
                <a16:creationId xmlns:a16="http://schemas.microsoft.com/office/drawing/2014/main" id="{A77C21BC-D9D0-461C-9A0E-C6DA0105A640}"/>
              </a:ext>
            </a:extLst>
          </p:cNvPr>
          <p:cNvSpPr>
            <a:spLocks xmlns:a="http://schemas.openxmlformats.org/drawingml/2006/main" noGrp="1"/>
          </p:cNvSpPr>
          <p:nvPr/>
        </p:nvSpPr>
        <p:spPr>
          <a:xfrm xmlns:a="http://schemas.openxmlformats.org/drawingml/2006/main">
            <a:off x="914400" y="48577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D65C5C"/>
                </a:solidFill>
              </a:defRPr>
            </a:pPr>
            <a:r>
              <a:rPr sz="1050" b="1">
                <a:solidFill>
                  <a:srgbClr val="D65C5C"/>
                </a:solidFill>
              </a:rPr>
              <a:t>RISKS WE DESIGN FOR</a:t>
            </a:r>
          </a:p>
        </p:txBody>
      </p:sp>
      <p:sp>
        <p:nvSpPr>
          <p:cNvPr id="29" name="">
            <a:extLst xmlns:a="http://schemas.openxmlformats.org/drawingml/2006/main">
              <a:ext uri="{FF2B5EF4-FFF2-40B4-BE49-F238E27FC236}">
                <a16:creationId xmlns:a16="http://schemas.microsoft.com/office/drawing/2014/main" id="{F9DBF441-FEEA-413E-8B7C-5011D1A00404}"/>
              </a:ext>
            </a:extLst>
          </p:cNvPr>
          <p:cNvSpPr>
            <a:spLocks xmlns:a="http://schemas.openxmlformats.org/drawingml/2006/main" noGrp="1"/>
          </p:cNvSpPr>
          <p:nvPr/>
        </p:nvSpPr>
        <p:spPr>
          <a:xfrm xmlns:a="http://schemas.openxmlformats.org/drawingml/2006/main">
            <a:off x="914400" y="52197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7211C"/>
                </a:solidFill>
              </a:defRPr>
            </a:pPr>
            <a:r>
              <a:rPr sz="1125" b="1">
                <a:solidFill>
                  <a:srgbClr val="17211C"/>
                </a:solidFill>
              </a:rPr>
              <a:t>Unofficial transport</a:t>
            </a:r>
          </a:p>
        </p:txBody>
      </p:sp>
      <p:sp>
        <p:nvSpPr>
          <p:cNvPr id="30" name="">
            <a:extLst xmlns:a="http://schemas.openxmlformats.org/drawingml/2006/main">
              <a:ext uri="{FF2B5EF4-FFF2-40B4-BE49-F238E27FC236}">
                <a16:creationId xmlns:a16="http://schemas.microsoft.com/office/drawing/2014/main" id="{74377C82-B5CF-4820-AE7D-CC9B45AEF6FD}"/>
              </a:ext>
            </a:extLst>
          </p:cNvPr>
          <p:cNvSpPr>
            <a:spLocks xmlns:a="http://schemas.openxmlformats.org/drawingml/2006/main" noGrp="1"/>
          </p:cNvSpPr>
          <p:nvPr/>
        </p:nvSpPr>
        <p:spPr>
          <a:xfrm xmlns:a="http://schemas.openxmlformats.org/drawingml/2006/main">
            <a:off x="2343150" y="521970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B64"/>
                </a:solidFill>
              </a:defRPr>
            </a:pPr>
            <a:r>
              <a:rPr sz="1050" b="0">
                <a:solidFill>
                  <a:srgbClr val="5F6B64"/>
                </a:solidFill>
              </a:rPr>
              <a:t>→ isolate gateway; migrate to official API</a:t>
            </a:r>
          </a:p>
        </p:txBody>
      </p:sp>
      <p:sp>
        <p:nvSpPr>
          <p:cNvPr id="31" name="">
            <a:extLst xmlns:a="http://schemas.openxmlformats.org/drawingml/2006/main">
              <a:ext uri="{FF2B5EF4-FFF2-40B4-BE49-F238E27FC236}">
                <a16:creationId xmlns:a16="http://schemas.microsoft.com/office/drawing/2014/main" id="{75E5CE01-D079-4CB1-8207-26868123E130}"/>
              </a:ext>
            </a:extLst>
          </p:cNvPr>
          <p:cNvSpPr>
            <a:spLocks xmlns:a="http://schemas.openxmlformats.org/drawingml/2006/main" noGrp="1"/>
          </p:cNvSpPr>
          <p:nvPr/>
        </p:nvSpPr>
        <p:spPr>
          <a:xfrm xmlns:a="http://schemas.openxmlformats.org/drawingml/2006/main">
            <a:off x="4343400" y="52197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7211C"/>
                </a:solidFill>
              </a:defRPr>
            </a:pPr>
            <a:r>
              <a:rPr sz="1125" b="1">
                <a:solidFill>
                  <a:srgbClr val="17211C"/>
                </a:solidFill>
              </a:rPr>
              <a:t>AI latency / cost</a:t>
            </a:r>
          </a:p>
        </p:txBody>
      </p:sp>
      <p:sp>
        <p:nvSpPr>
          <p:cNvPr id="32" name="">
            <a:extLst xmlns:a="http://schemas.openxmlformats.org/drawingml/2006/main">
              <a:ext uri="{FF2B5EF4-FFF2-40B4-BE49-F238E27FC236}">
                <a16:creationId xmlns:a16="http://schemas.microsoft.com/office/drawing/2014/main" id="{3EC880E4-34B9-49F3-A9D8-54BDB8E4CE3E}"/>
              </a:ext>
            </a:extLst>
          </p:cNvPr>
          <p:cNvSpPr>
            <a:spLocks xmlns:a="http://schemas.openxmlformats.org/drawingml/2006/main" noGrp="1"/>
          </p:cNvSpPr>
          <p:nvPr/>
        </p:nvSpPr>
        <p:spPr>
          <a:xfrm xmlns:a="http://schemas.openxmlformats.org/drawingml/2006/main">
            <a:off x="5772150" y="521970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B64"/>
                </a:solidFill>
              </a:defRPr>
            </a:pPr>
            <a:r>
              <a:rPr sz="1050" b="0">
                <a:solidFill>
                  <a:srgbClr val="5F6B64"/>
                </a:solidFill>
              </a:rPr>
              <a:t>→ rule-first path; quotas; observability</a:t>
            </a:r>
          </a:p>
        </p:txBody>
      </p:sp>
      <p:sp>
        <p:nvSpPr>
          <p:cNvPr id="33" name="">
            <a:extLst xmlns:a="http://schemas.openxmlformats.org/drawingml/2006/main">
              <a:ext uri="{FF2B5EF4-FFF2-40B4-BE49-F238E27FC236}">
                <a16:creationId xmlns:a16="http://schemas.microsoft.com/office/drawing/2014/main" id="{A22DAC42-F5D4-4E66-B7FC-01B336D62DCB}"/>
              </a:ext>
            </a:extLst>
          </p:cNvPr>
          <p:cNvSpPr>
            <a:spLocks xmlns:a="http://schemas.openxmlformats.org/drawingml/2006/main" noGrp="1"/>
          </p:cNvSpPr>
          <p:nvPr/>
        </p:nvSpPr>
        <p:spPr>
          <a:xfrm xmlns:a="http://schemas.openxmlformats.org/drawingml/2006/main">
            <a:off x="7772400" y="52197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7211C"/>
                </a:solidFill>
              </a:defRPr>
            </a:pPr>
            <a:r>
              <a:rPr sz="1125" b="1">
                <a:solidFill>
                  <a:srgbClr val="17211C"/>
                </a:solidFill>
              </a:rPr>
              <a:t>Image ambiguity</a:t>
            </a:r>
          </a:p>
        </p:txBody>
      </p:sp>
      <p:sp>
        <p:nvSpPr>
          <p:cNvPr id="34" name="">
            <a:extLst xmlns:a="http://schemas.openxmlformats.org/drawingml/2006/main">
              <a:ext uri="{FF2B5EF4-FFF2-40B4-BE49-F238E27FC236}">
                <a16:creationId xmlns:a16="http://schemas.microsoft.com/office/drawing/2014/main" id="{D7866F96-1F97-4194-9129-0A3661E058B1}"/>
              </a:ext>
            </a:extLst>
          </p:cNvPr>
          <p:cNvSpPr>
            <a:spLocks xmlns:a="http://schemas.openxmlformats.org/drawingml/2006/main" noGrp="1"/>
          </p:cNvSpPr>
          <p:nvPr/>
        </p:nvSpPr>
        <p:spPr>
          <a:xfrm xmlns:a="http://schemas.openxmlformats.org/drawingml/2006/main">
            <a:off x="9201150" y="5219700"/>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B64"/>
                </a:solidFill>
              </a:defRPr>
            </a:pPr>
            <a:r>
              <a:rPr sz="1050" b="0">
                <a:solidFill>
                  <a:srgbClr val="5F6B64"/>
                </a:solidFill>
              </a:rPr>
              <a:t>→ closed catalog + clarify / handoff</a:t>
            </a:r>
          </a:p>
        </p:txBody>
      </p:sp>
      <p:sp>
        <p:nvSpPr>
          <p:cNvPr id="35" name="">
            <a:extLst xmlns:a="http://schemas.openxmlformats.org/drawingml/2006/main">
              <a:ext uri="{FF2B5EF4-FFF2-40B4-BE49-F238E27FC236}">
                <a16:creationId xmlns:a16="http://schemas.microsoft.com/office/drawing/2014/main" id="{7AA80111-4F0E-46F9-B97F-D368DBB6F891}"/>
              </a:ext>
            </a:extLst>
          </p:cNvPr>
          <p:cNvSpPr>
            <a:spLocks xmlns:a="http://schemas.openxmlformats.org/drawingml/2006/main" noGrp="1"/>
          </p:cNvSpPr>
          <p:nvPr/>
        </p:nvSpPr>
        <p:spPr>
          <a:xfrm xmlns:a="http://schemas.openxmlformats.org/drawingml/2006/main">
            <a:off x="914400" y="56292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7211C"/>
                </a:solidFill>
              </a:defRPr>
            </a:pPr>
            <a:r>
              <a:rPr sz="1125" b="1">
                <a:solidFill>
                  <a:srgbClr val="17211C"/>
                </a:solidFill>
              </a:rPr>
              <a:t>Catalog quality</a:t>
            </a:r>
          </a:p>
        </p:txBody>
      </p:sp>
      <p:sp>
        <p:nvSpPr>
          <p:cNvPr id="36" name="">
            <a:extLst xmlns:a="http://schemas.openxmlformats.org/drawingml/2006/main">
              <a:ext uri="{FF2B5EF4-FFF2-40B4-BE49-F238E27FC236}">
                <a16:creationId xmlns:a16="http://schemas.microsoft.com/office/drawing/2014/main" id="{E0BB341F-2E47-4A57-9DC5-3A35DB940F2F}"/>
              </a:ext>
            </a:extLst>
          </p:cNvPr>
          <p:cNvSpPr>
            <a:spLocks xmlns:a="http://schemas.openxmlformats.org/drawingml/2006/main" noGrp="1"/>
          </p:cNvSpPr>
          <p:nvPr/>
        </p:nvSpPr>
        <p:spPr>
          <a:xfrm xmlns:a="http://schemas.openxmlformats.org/drawingml/2006/main">
            <a:off x="2343150" y="56292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B64"/>
                </a:solidFill>
              </a:defRPr>
            </a:pPr>
            <a:r>
              <a:rPr sz="1050" b="0">
                <a:solidFill>
                  <a:srgbClr val="5F6B64"/>
                </a:solidFill>
              </a:rPr>
              <a:t>→ onboarding checks and freshness controls</a:t>
            </a:r>
          </a:p>
        </p:txBody>
      </p:sp>
      <p:sp>
        <p:nvSpPr>
          <p:cNvPr id="37" name="">
            <a:extLst xmlns:a="http://schemas.openxmlformats.org/drawingml/2006/main">
              <a:ext uri="{FF2B5EF4-FFF2-40B4-BE49-F238E27FC236}">
                <a16:creationId xmlns:a16="http://schemas.microsoft.com/office/drawing/2014/main" id="{B75BD9DC-4143-4B5E-B61D-A19CAAF50C74}"/>
              </a:ext>
            </a:extLst>
          </p:cNvPr>
          <p:cNvSpPr>
            <a:spLocks xmlns:a="http://schemas.openxmlformats.org/drawingml/2006/main" noGrp="1"/>
          </p:cNvSpPr>
          <p:nvPr/>
        </p:nvSpPr>
        <p:spPr>
          <a:xfrm xmlns:a="http://schemas.openxmlformats.org/drawingml/2006/main">
            <a:off x="4343400" y="56292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7211C"/>
                </a:solidFill>
              </a:defRPr>
            </a:pPr>
            <a:r>
              <a:rPr sz="1125" b="1">
                <a:solidFill>
                  <a:srgbClr val="17211C"/>
                </a:solidFill>
              </a:rPr>
              <a:t>Security hardening</a:t>
            </a:r>
          </a:p>
        </p:txBody>
      </p:sp>
      <p:sp>
        <p:nvSpPr>
          <p:cNvPr id="38" name="">
            <a:extLst xmlns:a="http://schemas.openxmlformats.org/drawingml/2006/main">
              <a:ext uri="{FF2B5EF4-FFF2-40B4-BE49-F238E27FC236}">
                <a16:creationId xmlns:a16="http://schemas.microsoft.com/office/drawing/2014/main" id="{B061F486-5ED1-4797-8598-2F0B84DD582D}"/>
              </a:ext>
            </a:extLst>
          </p:cNvPr>
          <p:cNvSpPr>
            <a:spLocks xmlns:a="http://schemas.openxmlformats.org/drawingml/2006/main" noGrp="1"/>
          </p:cNvSpPr>
          <p:nvPr/>
        </p:nvSpPr>
        <p:spPr>
          <a:xfrm xmlns:a="http://schemas.openxmlformats.org/drawingml/2006/main">
            <a:off x="5772150" y="5629275"/>
            <a:ext cx="185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F6B64"/>
                </a:solidFill>
              </a:defRPr>
            </a:pPr>
            <a:r>
              <a:rPr sz="1050" b="0">
                <a:solidFill>
                  <a:srgbClr val="5F6B64"/>
                </a:solidFill>
              </a:rPr>
              <a:t>→ auth, audit, secrets and threat testing</a:t>
            </a:r>
          </a:p>
        </p:txBody>
      </p:sp>
      <p:sp>
        <p:nvSpPr>
          <p:cNvPr id="39" name="">
            <a:extLst xmlns:a="http://schemas.openxmlformats.org/drawingml/2006/main">
              <a:ext uri="{FF2B5EF4-FFF2-40B4-BE49-F238E27FC236}">
                <a16:creationId xmlns:a16="http://schemas.microsoft.com/office/drawing/2014/main" id="{C2317A37-64B9-4C23-961E-9A05CB3A3787}"/>
              </a:ext>
            </a:extLst>
          </p:cNvPr>
          <p:cNvSpPr>
            <a:spLocks xmlns:a="http://schemas.openxmlformats.org/drawingml/2006/main" noGrp="1"/>
          </p:cNvSpPr>
          <p:nvPr/>
        </p:nvSpPr>
        <p:spPr>
          <a:xfrm xmlns:a="http://schemas.openxmlformats.org/drawingml/2006/main">
            <a:off x="685800" y="647700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6B64"/>
                </a:solidFill>
              </a:defRPr>
            </a:pPr>
            <a:r>
              <a:rPr sz="825" b="1">
                <a:solidFill>
                  <a:srgbClr val="5F6B64"/>
                </a:solidFill>
              </a:rPr>
              <a:t>WHATSAPP COMMERCE COPILOT</a:t>
            </a:r>
          </a:p>
        </p:txBody>
      </p:sp>
    </p:spTree>
    <p:extLst>
      <p:ext uri="{BB962C8B-B14F-4D97-AF65-F5344CB8AC3E}">
        <p14:creationId xmlns:p14="http://schemas.microsoft.com/office/powerpoint/2010/main" val="1926236154"/>
      </p:ext>
    </p:extLst>
  </p:cSld>
</p:sld>
</file>

<file path=ppt/slides/slide12.xml><?xml version="1.0" encoding="utf-8"?>
<p:sld xmlns:p="http://schemas.openxmlformats.org/presentationml/2006/main">
  <p:cSld>
    <p:bg>
      <p:bgPr>
        <a:solidFill xmlns:a="http://schemas.openxmlformats.org/drawingml/2006/main">
          <a:srgbClr val="101A1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14EBAAB-C799-490C-892D-4232AF83A578}"/>
              </a:ext>
            </a:extLst>
          </p:cNvPr>
          <p:cNvSpPr>
            <a:spLocks xmlns:a="http://schemas.openxmlformats.org/drawingml/2006/main" noGrp="1"/>
          </p:cNvSpPr>
          <p:nvPr/>
        </p:nvSpPr>
        <p:spPr>
          <a:xfrm xmlns:a="http://schemas.openxmlformats.org/drawingml/2006/main">
            <a:off x="685800" y="590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25D366"/>
                </a:solidFill>
              </a:defRPr>
            </a:pPr>
            <a:r>
              <a:rPr sz="1050" b="1">
                <a:solidFill>
                  <a:srgbClr val="25D366"/>
                </a:solidFill>
              </a:rPr>
              <a:t>THE VISION</a:t>
            </a:r>
          </a:p>
        </p:txBody>
      </p:sp>
      <p:sp>
        <p:nvSpPr>
          <p:cNvPr id="2" name="">
            <a:extLst xmlns:a="http://schemas.openxmlformats.org/drawingml/2006/main">
              <a:ext uri="{FF2B5EF4-FFF2-40B4-BE49-F238E27FC236}">
                <a16:creationId xmlns:a16="http://schemas.microsoft.com/office/drawing/2014/main" id="{3B740706-613F-41D3-BF4C-DAC03D991884}"/>
              </a:ext>
            </a:extLst>
          </p:cNvPr>
          <p:cNvSpPr>
            <a:spLocks xmlns:a="http://schemas.openxmlformats.org/drawingml/2006/main" noGrp="1"/>
          </p:cNvSpPr>
          <p:nvPr/>
        </p:nvSpPr>
        <p:spPr>
          <a:xfrm xmlns:a="http://schemas.openxmlformats.org/drawingml/2006/main">
            <a:off x="685800" y="1143000"/>
            <a:ext cx="857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FFFFFF"/>
                </a:solidFill>
              </a:defRPr>
            </a:pPr>
            <a:r>
              <a:rPr sz="3600" b="1">
                <a:solidFill>
                  <a:srgbClr val="FFFFFF"/>
                </a:solidFill>
              </a:rPr>
              <a:t>Make conversational commerce</a:t>
            </a:r>
          </a:p>
          <a:p xmlns:a="http://schemas.openxmlformats.org/drawingml/2006/main">
            <a:pPr algn="l">
              <a:defRPr sz="3600" b="1">
                <a:solidFill>
                  <a:srgbClr val="FFFFFF"/>
                </a:solidFill>
              </a:defRPr>
            </a:pPr>
            <a:r>
              <a:rPr sz="3600" b="1">
                <a:solidFill>
                  <a:srgbClr val="FFFFFF"/>
                </a:solidFill>
              </a:rPr>
              <a:t>accessible to every local merchant.</a:t>
            </a:r>
          </a:p>
        </p:txBody>
      </p:sp>
      <p:sp>
        <p:nvSpPr>
          <p:cNvPr id="3" name="">
            <a:extLst xmlns:a="http://schemas.openxmlformats.org/drawingml/2006/main">
              <a:ext uri="{FF2B5EF4-FFF2-40B4-BE49-F238E27FC236}">
                <a16:creationId xmlns:a16="http://schemas.microsoft.com/office/drawing/2014/main" id="{A1214E70-3E19-4895-80FC-25CF6AE55590}"/>
              </a:ext>
            </a:extLst>
          </p:cNvPr>
          <p:cNvSpPr>
            <a:spLocks xmlns:a="http://schemas.openxmlformats.org/drawingml/2006/main" noGrp="1"/>
          </p:cNvSpPr>
          <p:nvPr/>
        </p:nvSpPr>
        <p:spPr>
          <a:xfrm xmlns:a="http://schemas.openxmlformats.org/drawingml/2006/main">
            <a:off x="685800" y="30289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5D366"/>
                </a:solidFill>
              </a:defRPr>
            </a:pPr>
            <a:r>
              <a:rPr sz="1950" b="1">
                <a:solidFill>
                  <a:srgbClr val="25D366"/>
                </a:solidFill>
              </a:rPr>
              <a:t>What we need now</a:t>
            </a:r>
          </a:p>
        </p:txBody>
      </p:sp>
      <p:sp>
        <p:nvSpPr>
          <p:cNvPr id="4" name="">
            <a:extLst xmlns:a="http://schemas.openxmlformats.org/drawingml/2006/main">
              <a:ext uri="{FF2B5EF4-FFF2-40B4-BE49-F238E27FC236}">
                <a16:creationId xmlns:a16="http://schemas.microsoft.com/office/drawing/2014/main" id="{12C1AECE-292E-4312-B249-BB6CB37EDD6A}"/>
              </a:ext>
            </a:extLst>
          </p:cNvPr>
          <p:cNvSpPr>
            <a:spLocks xmlns:a="http://schemas.openxmlformats.org/drawingml/2006/main" noGrp="1"/>
          </p:cNvSpPr>
          <p:nvPr/>
        </p:nvSpPr>
        <p:spPr>
          <a:xfrm xmlns:a="http://schemas.openxmlformats.org/drawingml/2006/main">
            <a:off x="685800" y="360045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5D366"/>
                </a:solidFill>
              </a:defRPr>
            </a:pPr>
            <a:r>
              <a:rPr sz="1350" b="1">
                <a:solidFill>
                  <a:srgbClr val="25D366"/>
                </a:solidFill>
              </a:rPr>
              <a:t>01</a:t>
            </a:r>
          </a:p>
        </p:txBody>
      </p:sp>
      <p:sp>
        <p:nvSpPr>
          <p:cNvPr id="5" name="">
            <a:extLst xmlns:a="http://schemas.openxmlformats.org/drawingml/2006/main">
              <a:ext uri="{FF2B5EF4-FFF2-40B4-BE49-F238E27FC236}">
                <a16:creationId xmlns:a16="http://schemas.microsoft.com/office/drawing/2014/main" id="{16408283-8ECA-45FC-A59C-56CB5CCE92B7}"/>
              </a:ext>
            </a:extLst>
          </p:cNvPr>
          <p:cNvSpPr>
            <a:spLocks xmlns:a="http://schemas.openxmlformats.org/drawingml/2006/main" noGrp="1"/>
          </p:cNvSpPr>
          <p:nvPr/>
        </p:nvSpPr>
        <p:spPr>
          <a:xfrm xmlns:a="http://schemas.openxmlformats.org/drawingml/2006/main">
            <a:off x="1238250" y="35528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Pilot merchants</a:t>
            </a:r>
          </a:p>
        </p:txBody>
      </p:sp>
      <p:sp>
        <p:nvSpPr>
          <p:cNvPr id="6" name="">
            <a:extLst xmlns:a="http://schemas.openxmlformats.org/drawingml/2006/main">
              <a:ext uri="{FF2B5EF4-FFF2-40B4-BE49-F238E27FC236}">
                <a16:creationId xmlns:a16="http://schemas.microsoft.com/office/drawing/2014/main" id="{0734FA0C-C75E-4391-AD40-1E10B3EF3538}"/>
              </a:ext>
            </a:extLst>
          </p:cNvPr>
          <p:cNvSpPr>
            <a:spLocks xmlns:a="http://schemas.openxmlformats.org/drawingml/2006/main" noGrp="1"/>
          </p:cNvSpPr>
          <p:nvPr/>
        </p:nvSpPr>
        <p:spPr>
          <a:xfrm xmlns:a="http://schemas.openxmlformats.org/drawingml/2006/main">
            <a:off x="1238250" y="39243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C8D2CC"/>
                </a:solidFill>
              </a:defRPr>
            </a:pPr>
            <a:r>
              <a:rPr sz="1200" b="0">
                <a:solidFill>
                  <a:srgbClr val="C8D2CC"/>
                </a:solidFill>
              </a:rPr>
              <a:t>Real catalogs. Real conversations. Honest learning.</a:t>
            </a:r>
          </a:p>
        </p:txBody>
      </p:sp>
      <p:sp>
        <p:nvSpPr>
          <p:cNvPr id="7" name="">
            <a:extLst xmlns:a="http://schemas.openxmlformats.org/drawingml/2006/main">
              <a:ext uri="{FF2B5EF4-FFF2-40B4-BE49-F238E27FC236}">
                <a16:creationId xmlns:a16="http://schemas.microsoft.com/office/drawing/2014/main" id="{BFAF26D4-990E-49BE-99D0-B44ADB359AFB}"/>
              </a:ext>
            </a:extLst>
          </p:cNvPr>
          <p:cNvSpPr>
            <a:spLocks xmlns:a="http://schemas.openxmlformats.org/drawingml/2006/main" noGrp="1"/>
          </p:cNvSpPr>
          <p:nvPr/>
        </p:nvSpPr>
        <p:spPr>
          <a:xfrm xmlns:a="http://schemas.openxmlformats.org/drawingml/2006/main">
            <a:off x="6238875" y="360045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5D366"/>
                </a:solidFill>
              </a:defRPr>
            </a:pPr>
            <a:r>
              <a:rPr sz="1350" b="1">
                <a:solidFill>
                  <a:srgbClr val="25D366"/>
                </a:solidFill>
              </a:rPr>
              <a:t>02</a:t>
            </a:r>
          </a:p>
        </p:txBody>
      </p:sp>
      <p:sp>
        <p:nvSpPr>
          <p:cNvPr id="8" name="">
            <a:extLst xmlns:a="http://schemas.openxmlformats.org/drawingml/2006/main">
              <a:ext uri="{FF2B5EF4-FFF2-40B4-BE49-F238E27FC236}">
                <a16:creationId xmlns:a16="http://schemas.microsoft.com/office/drawing/2014/main" id="{34C99F0E-9937-4E96-9594-DCA6EC01A010}"/>
              </a:ext>
            </a:extLst>
          </p:cNvPr>
          <p:cNvSpPr>
            <a:spLocks xmlns:a="http://schemas.openxmlformats.org/drawingml/2006/main" noGrp="1"/>
          </p:cNvSpPr>
          <p:nvPr/>
        </p:nvSpPr>
        <p:spPr>
          <a:xfrm xmlns:a="http://schemas.openxmlformats.org/drawingml/2006/main">
            <a:off x="6791325" y="35528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Product + distribution mentors</a:t>
            </a:r>
          </a:p>
        </p:txBody>
      </p:sp>
      <p:sp>
        <p:nvSpPr>
          <p:cNvPr id="9" name="">
            <a:extLst xmlns:a="http://schemas.openxmlformats.org/drawingml/2006/main">
              <a:ext uri="{FF2B5EF4-FFF2-40B4-BE49-F238E27FC236}">
                <a16:creationId xmlns:a16="http://schemas.microsoft.com/office/drawing/2014/main" id="{BC2A3CF8-5DF3-439D-A357-725F80802F67}"/>
              </a:ext>
            </a:extLst>
          </p:cNvPr>
          <p:cNvSpPr>
            <a:spLocks xmlns:a="http://schemas.openxmlformats.org/drawingml/2006/main" noGrp="1"/>
          </p:cNvSpPr>
          <p:nvPr/>
        </p:nvSpPr>
        <p:spPr>
          <a:xfrm xmlns:a="http://schemas.openxmlformats.org/drawingml/2006/main">
            <a:off x="6791325" y="39243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C8D2CC"/>
                </a:solidFill>
              </a:defRPr>
            </a:pPr>
            <a:r>
              <a:rPr sz="1200" b="0">
                <a:solidFill>
                  <a:srgbClr val="C8D2CC"/>
                </a:solidFill>
              </a:rPr>
              <a:t>Pricing, onboarding and go-to-market pressure tests.</a:t>
            </a:r>
          </a:p>
        </p:txBody>
      </p:sp>
      <p:sp>
        <p:nvSpPr>
          <p:cNvPr id="10" name="">
            <a:extLst xmlns:a="http://schemas.openxmlformats.org/drawingml/2006/main">
              <a:ext uri="{FF2B5EF4-FFF2-40B4-BE49-F238E27FC236}">
                <a16:creationId xmlns:a16="http://schemas.microsoft.com/office/drawing/2014/main" id="{D3CCC2D0-78EB-4771-9368-20D178B56F1F}"/>
              </a:ext>
            </a:extLst>
          </p:cNvPr>
          <p:cNvSpPr>
            <a:spLocks xmlns:a="http://schemas.openxmlformats.org/drawingml/2006/main" noGrp="1"/>
          </p:cNvSpPr>
          <p:nvPr/>
        </p:nvSpPr>
        <p:spPr>
          <a:xfrm xmlns:a="http://schemas.openxmlformats.org/drawingml/2006/main">
            <a:off x="685800" y="485775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5D366"/>
                </a:solidFill>
              </a:defRPr>
            </a:pPr>
            <a:r>
              <a:rPr sz="1350" b="1">
                <a:solidFill>
                  <a:srgbClr val="25D366"/>
                </a:solidFill>
              </a:rPr>
              <a:t>03</a:t>
            </a:r>
          </a:p>
        </p:txBody>
      </p:sp>
      <p:sp>
        <p:nvSpPr>
          <p:cNvPr id="11" name="">
            <a:extLst xmlns:a="http://schemas.openxmlformats.org/drawingml/2006/main">
              <a:ext uri="{FF2B5EF4-FFF2-40B4-BE49-F238E27FC236}">
                <a16:creationId xmlns:a16="http://schemas.microsoft.com/office/drawing/2014/main" id="{DA5E0D1F-2CFE-499F-8501-A878BFF54E69}"/>
              </a:ext>
            </a:extLst>
          </p:cNvPr>
          <p:cNvSpPr>
            <a:spLocks xmlns:a="http://schemas.openxmlformats.org/drawingml/2006/main" noGrp="1"/>
          </p:cNvSpPr>
          <p:nvPr/>
        </p:nvSpPr>
        <p:spPr>
          <a:xfrm xmlns:a="http://schemas.openxmlformats.org/drawingml/2006/main">
            <a:off x="1238250" y="4810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Technical / cloud support</a:t>
            </a:r>
          </a:p>
        </p:txBody>
      </p:sp>
      <p:sp>
        <p:nvSpPr>
          <p:cNvPr id="12" name="">
            <a:extLst xmlns:a="http://schemas.openxmlformats.org/drawingml/2006/main">
              <a:ext uri="{FF2B5EF4-FFF2-40B4-BE49-F238E27FC236}">
                <a16:creationId xmlns:a16="http://schemas.microsoft.com/office/drawing/2014/main" id="{E4E5FE00-D2FC-4B69-BE62-5F7779D19AA7}"/>
              </a:ext>
            </a:extLst>
          </p:cNvPr>
          <p:cNvSpPr>
            <a:spLocks xmlns:a="http://schemas.openxmlformats.org/drawingml/2006/main" noGrp="1"/>
          </p:cNvSpPr>
          <p:nvPr/>
        </p:nvSpPr>
        <p:spPr>
          <a:xfrm xmlns:a="http://schemas.openxmlformats.org/drawingml/2006/main">
            <a:off x="1238250" y="51816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C8D2CC"/>
                </a:solidFill>
              </a:defRPr>
            </a:pPr>
            <a:r>
              <a:rPr sz="1200" b="0">
                <a:solidFill>
                  <a:srgbClr val="C8D2CC"/>
                </a:solidFill>
              </a:rPr>
              <a:t>Reliability, observability and official API migration.</a:t>
            </a:r>
          </a:p>
        </p:txBody>
      </p:sp>
      <p:sp>
        <p:nvSpPr>
          <p:cNvPr id="13" name="">
            <a:extLst xmlns:a="http://schemas.openxmlformats.org/drawingml/2006/main">
              <a:ext uri="{FF2B5EF4-FFF2-40B4-BE49-F238E27FC236}">
                <a16:creationId xmlns:a16="http://schemas.microsoft.com/office/drawing/2014/main" id="{64C5B79E-01C1-432A-B02A-2D3BCA44098B}"/>
              </a:ext>
            </a:extLst>
          </p:cNvPr>
          <p:cNvSpPr>
            <a:spLocks xmlns:a="http://schemas.openxmlformats.org/drawingml/2006/main" noGrp="1"/>
          </p:cNvSpPr>
          <p:nvPr/>
        </p:nvSpPr>
        <p:spPr>
          <a:xfrm xmlns:a="http://schemas.openxmlformats.org/drawingml/2006/main">
            <a:off x="6238875" y="4857750"/>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5D366"/>
                </a:solidFill>
              </a:defRPr>
            </a:pPr>
            <a:r>
              <a:rPr sz="1350" b="1">
                <a:solidFill>
                  <a:srgbClr val="25D366"/>
                </a:solidFill>
              </a:rPr>
              <a:t>04</a:t>
            </a:r>
          </a:p>
        </p:txBody>
      </p:sp>
      <p:sp>
        <p:nvSpPr>
          <p:cNvPr id="14" name="">
            <a:extLst xmlns:a="http://schemas.openxmlformats.org/drawingml/2006/main">
              <a:ext uri="{FF2B5EF4-FFF2-40B4-BE49-F238E27FC236}">
                <a16:creationId xmlns:a16="http://schemas.microsoft.com/office/drawing/2014/main" id="{E482714A-B9F4-4CEE-8FFA-1426BF243064}"/>
              </a:ext>
            </a:extLst>
          </p:cNvPr>
          <p:cNvSpPr>
            <a:spLocks xmlns:a="http://schemas.openxmlformats.org/drawingml/2006/main" noGrp="1"/>
          </p:cNvSpPr>
          <p:nvPr/>
        </p:nvSpPr>
        <p:spPr>
          <a:xfrm xmlns:a="http://schemas.openxmlformats.org/drawingml/2006/main">
            <a:off x="6791325" y="48101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Early-stage conversations</a:t>
            </a:r>
          </a:p>
        </p:txBody>
      </p:sp>
      <p:sp>
        <p:nvSpPr>
          <p:cNvPr id="15" name="">
            <a:extLst xmlns:a="http://schemas.openxmlformats.org/drawingml/2006/main">
              <a:ext uri="{FF2B5EF4-FFF2-40B4-BE49-F238E27FC236}">
                <a16:creationId xmlns:a16="http://schemas.microsoft.com/office/drawing/2014/main" id="{775D0714-EF94-434A-938E-EA752A84B20C}"/>
              </a:ext>
            </a:extLst>
          </p:cNvPr>
          <p:cNvSpPr>
            <a:spLocks xmlns:a="http://schemas.openxmlformats.org/drawingml/2006/main" noGrp="1"/>
          </p:cNvSpPr>
          <p:nvPr/>
        </p:nvSpPr>
        <p:spPr>
          <a:xfrm xmlns:a="http://schemas.openxmlformats.org/drawingml/2006/main">
            <a:off x="6791325" y="51816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C8D2CC"/>
                </a:solidFill>
              </a:defRPr>
            </a:pPr>
            <a:r>
              <a:rPr sz="1200" b="0">
                <a:solidFill>
                  <a:srgbClr val="C8D2CC"/>
                </a:solidFill>
              </a:rPr>
              <a:t>Partners and investors aligned with pilot-first validation.</a:t>
            </a:r>
          </a:p>
        </p:txBody>
      </p:sp>
      <p:sp>
        <p:nvSpPr>
          <p:cNvPr id="16" name="">
            <a:extLst xmlns:a="http://schemas.openxmlformats.org/drawingml/2006/main">
              <a:ext uri="{FF2B5EF4-FFF2-40B4-BE49-F238E27FC236}">
                <a16:creationId xmlns:a16="http://schemas.microsoft.com/office/drawing/2014/main" id="{1BFB53A4-7A1A-4BEE-AE82-0C8E35104BDA}"/>
              </a:ext>
            </a:extLst>
          </p:cNvPr>
          <p:cNvSpPr>
            <a:spLocks xmlns:a="http://schemas.openxmlformats.org/drawingml/2006/main" noGrp="1"/>
          </p:cNvSpPr>
          <p:nvPr/>
        </p:nvSpPr>
        <p:spPr>
          <a:xfrm xmlns:a="http://schemas.openxmlformats.org/drawingml/2006/main">
            <a:off x="685800" y="6115050"/>
            <a:ext cx="10820400" cy="19050"/>
          </a:xfrm>
          <a:prstGeom xmlns:a="http://schemas.openxmlformats.org/drawingml/2006/main" prst="rect">
            <a:avLst/>
          </a:prstGeom>
          <a:solidFill xmlns:a="http://schemas.openxmlformats.org/drawingml/2006/main">
            <a:srgbClr val="335047"/>
          </a:solidFill>
          <a:ln xmlns:a="http://schemas.openxmlformats.org/drawingml/2006/main" w="0">
            <a:solidFill>
              <a:srgbClr val="335047"/>
            </a:solidFill>
            <a:prstDash val="solid"/>
          </a:ln>
        </p:spPr>
      </p:sp>
      <p:sp>
        <p:nvSpPr>
          <p:cNvPr id="17" name="">
            <a:extLst xmlns:a="http://schemas.openxmlformats.org/drawingml/2006/main">
              <a:ext uri="{FF2B5EF4-FFF2-40B4-BE49-F238E27FC236}">
                <a16:creationId xmlns:a16="http://schemas.microsoft.com/office/drawing/2014/main" id="{49439386-72B8-4DF0-BF05-C7D7FA233CB3}"/>
              </a:ext>
            </a:extLst>
          </p:cNvPr>
          <p:cNvSpPr>
            <a:spLocks xmlns:a="http://schemas.openxmlformats.org/drawingml/2006/main" noGrp="1"/>
          </p:cNvSpPr>
          <p:nvPr/>
        </p:nvSpPr>
        <p:spPr>
          <a:xfrm xmlns:a="http://schemas.openxmlformats.org/drawingml/2006/main">
            <a:off x="685800" y="628650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defRPr>
            </a:pPr>
            <a:r>
              <a:rPr sz="1500" b="1">
                <a:solidFill>
                  <a:srgbClr val="FFFFFF"/>
                </a:solidFill>
              </a:rPr>
              <a:t>Let’s turn the next customer message into a measurable pilot.</a:t>
            </a:r>
          </a:p>
        </p:txBody>
      </p:sp>
    </p:spTree>
    <p:extLst>
      <p:ext uri="{BB962C8B-B14F-4D97-AF65-F5344CB8AC3E}">
        <p14:creationId xmlns:p14="http://schemas.microsoft.com/office/powerpoint/2010/main" val="1812004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2026-08-20T17:50:03.2760000Z</dcterms:created>
  <dcterms:modified xsi:type="dcterms:W3CDTF">2026-08-20T17:50:03.2760000Z</dcterms:modified>
</coreProperties>
</file>